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ekayə" id="{31829d40-8500-e8c5-f24e-9d101d444a00}">
          <p14:sldIdLst>
            <p14:sldId id="256"/>
            <p14:sldId id="257"/>
          </p14:sldIdLst>
        </p14:section>
        <p14:section name="Problem" id="{1a30740f-1fe0-90e7-b56e-732a2f6b2467}">
          <p14:sldIdLst>
            <p14:sldId id="258"/>
          </p14:sldIdLst>
        </p14:section>
        <p14:section name="Həll" id="{8a2969e3-b180-52cc-bfd1-a34dfdb89711}">
          <p14:sldIdLst>
            <p14:sldId id="259"/>
            <p14:sldId id="260"/>
          </p14:sldIdLst>
        </p14:section>
        <p14:section name="Sübut" id="{e8a31cba-d3d1-2d79-6deb-0a8c31cac3ee}">
          <p14:sldIdLst>
            <p14:sldId id="261"/>
            <p14:sldId id="262"/>
          </p14:sldIdLst>
        </p14:section>
        <p14:section name="İcra" id="{ff79ec42-efbd-7f33-f713-f74a47451737}">
          <p14:sldIdLst>
            <p14:sldId id="263"/>
            <p14:sldId id="264"/>
          </p14:sldIdLst>
        </p14:section>
        <p14:section name="Bağlanış" id="{998281a3-3bea-afbe-1fde-ae91ea5fc3f3}">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8EEF0"/>
                </a:solidFill>
                <a:latin typeface="+mn-lt"/>
              </a:defRPr>
            </a:pPr>
            <a:r>
              <a:rPr sz="1400" b="0" i="0" u="none" strike="noStrike">
                <a:solidFill>
                  <a:srgbClr val="E8EEF0"/>
                </a:solidFill>
                <a:latin typeface="+mn-lt"/>
              </a:rPr>
              <a:t>Avtovağzalların gəliş balı (0–5)</a:t>
            </a:r>
          </a:p>
        </c:rich>
      </c:tx>
      <c:layout/>
      <c:overlay val="0"/>
    </c:title>
    <c:autoTitleDeleted val="0"/>
    <c:plotArea>
      <c:layout/>
      <c:barChart>
        <c:barDir val="bar"/>
        <c:grouping val="clustered"/>
        <c:varyColors val="0"/>
        <c:ser>
          <c:idx val="0"/>
          <c:order val="0"/>
          <c:tx>
            <c:strRef>
              <c:f>Sheet1!$B$1</c:f>
              <c:strCache>
                <c:ptCount val="1"/>
                <c:pt idx="0">
                  <c:v>Arrival score chart</c:v>
                </c:pt>
              </c:strCache>
            </c:strRef>
          </c:tx>
          <c:spPr>
            <a:solidFill>
              <a:srgbClr val="F2A93B"/>
            </a:solidFill>
            <a:effectLst/>
          </c:spPr>
          <c:invertIfNegative val="0"/>
          <c:dLbls>
            <c:numFmt formatCode="0.0" sourceLinked="0"/>
            <c:txPr>
              <a:bodyPr/>
              <a:lstStyle/>
              <a:p>
                <a:pPr>
                  <a:defRPr b="0" i="0" strike="noStrike" sz="1400" u="none">
                    <a:solidFill>
                      <a:srgbClr val="E8EEF0"/>
                    </a:solidFill>
                    <a:latin typeface="+mn-lt"/>
                  </a:defRPr>
                </a:pPr>
              </a:p>
            </c:txPr>
            <c:showLegendKey val="0"/>
            <c:showVal val="1"/>
            <c:showCatName val="0"/>
            <c:showSerName val="0"/>
            <c:showPercent val="0"/>
            <c:showBubbleSize val="0"/>
            <c:showLeaderLines val="0"/>
          </c:dLbls>
          <c:cat>
            <c:multiLvlStrRef>
              <c:f>Sheet1!$A$2:$A$4</c:f>
              <c:multiLvlStrCache>
                <c:ptCount val="3"/>
                <c:lvl>
                  <c:pt idx="0">
                    <c:v>Beynəlxalq</c:v>
                  </c:pt>
                  <c:pt idx="1">
                    <c:v>Cənub st.</c:v>
                  </c:pt>
                  <c:pt idx="2">
                    <c:v>Abşeron TM</c:v>
                  </c:pt>
                </c:lvl>
              </c:multiLvlStrCache>
            </c:multiLvlStrRef>
          </c:cat>
          <c:val>
            <c:numRef>
              <c:f>Sheet1!$B$2:$B$4</c:f>
              <c:numCache>
                <c:formatCode>General</c:formatCode>
                <c:ptCount val="3"/>
                <c:pt idx="0">
                  <c:v>2.9</c:v>
                </c:pt>
                <c:pt idx="1">
                  <c:v>0.4</c:v>
                </c:pt>
                <c:pt idx="2">
                  <c:v>0.2</c:v>
                </c:pt>
              </c:numCache>
            </c:numRef>
          </c:val>
        </c:ser>
        <c:dLbls>
          <c:numFmt formatCode="0.0" sourceLinked="0"/>
          <c:txPr>
            <a:bodyPr/>
            <a:lstStyle/>
            <a:p>
              <a:pPr>
                <a:defRPr b="0" i="0" strike="noStrike" sz="1400" u="none">
                  <a:solidFill>
                    <a:srgbClr val="E8EEF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E8EEF0"/>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8EEF0"/>
                </a:solidFill>
                <a:latin typeface="+mn-lt"/>
              </a:defRPr>
            </a:pPr>
            <a:r>
              <a:rPr sz="1400" b="0" i="0" u="none" strike="noStrike">
                <a:solidFill>
                  <a:srgbClr val="E8EEF0"/>
                </a:solidFill>
                <a:latin typeface="+mn-lt"/>
              </a:rPr>
              <a:t>10 hub: gündə əlavə velo/scooter səfəri</a:t>
            </a:r>
          </a:p>
        </c:rich>
      </c:tx>
      <c:layout/>
      <c:overlay val="0"/>
    </c:title>
    <c:autoTitleDeleted val="0"/>
    <c:plotArea>
      <c:layout/>
      <c:barChart>
        <c:barDir val="bar"/>
        <c:grouping val="clustered"/>
        <c:varyColors val="0"/>
        <c:ser>
          <c:idx val="0"/>
          <c:order val="0"/>
          <c:tx>
            <c:strRef>
              <c:f>Sheet1!$B$1</c:f>
              <c:strCache>
                <c:ptCount val="1"/>
                <c:pt idx="0">
                  <c:v>Equal budget chart</c:v>
                </c:pt>
              </c:strCache>
            </c:strRef>
          </c:tx>
          <c:spPr>
            <a:solidFill>
              <a:srgbClr val="F2A93B"/>
            </a:solidFill>
            <a:effectLst/>
          </c:spPr>
          <c:invertIfNegative val="0"/>
          <c:dLbls>
            <c:numFmt formatCode="0" sourceLinked="0"/>
            <c:txPr>
              <a:bodyPr/>
              <a:lstStyle/>
              <a:p>
                <a:pPr>
                  <a:defRPr b="0" i="0" strike="noStrike" sz="1400" u="none">
                    <a:solidFill>
                      <a:srgbClr val="E8EEF0"/>
                    </a:solidFill>
                    <a:latin typeface="+mn-lt"/>
                  </a:defRPr>
                </a:pPr>
              </a:p>
            </c:txPr>
            <c:showLegendKey val="0"/>
            <c:showVal val="1"/>
            <c:showCatName val="0"/>
            <c:showSerName val="0"/>
            <c:showPercent val="0"/>
            <c:showBubbleSize val="0"/>
            <c:showLeaderLines val="0"/>
          </c:dLbls>
          <c:dPt>
            <c:idx val="0"/>
            <c:invertIfNegative val="0"/>
            <c:bubble3D val="0"/>
            <c:spPr>
              <a:solidFill>
                <a:srgbClr val="F2A93B"/>
              </a:solidFill>
              <a:effectLst/>
            </c:spPr>
          </c:dPt>
          <c:dPt>
            <c:idx val="1"/>
            <c:invertIfNegative val="0"/>
            <c:bubble3D val="0"/>
            <c:spPr>
              <a:solidFill>
                <a:srgbClr val="8FA6B2"/>
              </a:solidFill>
              <a:effectLst/>
            </c:spPr>
          </c:dPt>
          <c:dPt>
            <c:idx val="2"/>
            <c:invertIfNegative val="0"/>
            <c:bubble3D val="0"/>
            <c:spPr>
              <a:solidFill>
                <a:srgbClr val="8FA6B2"/>
              </a:solidFill>
              <a:effectLst/>
            </c:spPr>
          </c:dPt>
          <c:dPt>
            <c:idx val="3"/>
            <c:invertIfNegative val="0"/>
            <c:bubble3D val="0"/>
            <c:spPr>
              <a:solidFill>
                <a:srgbClr val="8FA6B2"/>
              </a:solidFill>
              <a:effectLst/>
            </c:spPr>
          </c:dPt>
          <c:cat>
            <c:multiLvlStrRef>
              <c:f>Sheet1!$A$2:$A$5</c:f>
              <c:multiLvlStrCache>
                <c:ptCount val="4"/>
                <c:lvl>
                  <c:pt idx="0">
                    <c:v>AYAN (MCLP)</c:v>
                  </c:pt>
                  <c:pt idx="1">
                    <c:v>Ən yüksək tələbat</c:v>
                  </c:pt>
                  <c:pt idx="2">
                    <c:v>Təsadüfi seçim</c:v>
                  </c:pt>
                  <c:pt idx="3">
                    <c:v>Mərkəzə ən yaxın</c:v>
                  </c:pt>
                </c:lvl>
              </c:multiLvlStrCache>
            </c:multiLvlStrRef>
          </c:cat>
          <c:val>
            <c:numRef>
              <c:f>Sheet1!$B$2:$B$5</c:f>
              <c:numCache>
                <c:formatCode>General</c:formatCode>
                <c:ptCount val="4"/>
                <c:pt idx="0">
                  <c:v>223</c:v>
                </c:pt>
                <c:pt idx="1">
                  <c:v>150</c:v>
                </c:pt>
                <c:pt idx="2">
                  <c:v>30</c:v>
                </c:pt>
                <c:pt idx="3">
                  <c:v>11</c:v>
                </c:pt>
              </c:numCache>
            </c:numRef>
          </c:val>
        </c:ser>
        <c:dLbls>
          <c:numFmt formatCode="0" sourceLinked="0"/>
          <c:txPr>
            <a:bodyPr/>
            <a:lstStyle/>
            <a:p>
              <a:pPr>
                <a:defRPr b="0" i="0" strike="noStrike" sz="1400" u="none">
                  <a:solidFill>
                    <a:srgbClr val="E8EEF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E8EEF0"/>
                </a:solidFill>
                <a:latin typeface="+mn-lt"/>
              </a:defRPr>
            </a:pPr>
            <a:endParaRPr lang="en-US"/>
          </a:p>
        </c:txPr>
        <c:crossAx val="2094734552"/>
        <c:crosses val="autoZero"/>
        <c:auto val="1"/>
        <c:lblAlgn val="ctr"/>
        <c:noMultiLvlLbl val="1"/>
      </c:catAx>
      <c:valAx>
        <c:axId val="2094734552"/>
        <c:scaling>
          <c:orientation val="minMax"/>
          <c:max val="2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Salam. Mən AYAN-ı təqdim edirəm: Bakı üçün mobility hub planlayıcısı. Bir sualla başlayım.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Gəncədən Beynəlxalq Avtovağzala gəldiniz. Metro 320 metrdədir, amma ən yaxın velosiped və ya scooter parkinqi 878 metr uzaqdadır. Bu, ən yaxşı avtovağzalımızdır: 5 baldan 2,9. Qalan ikisi 0,4 və 0,2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tək avtovağzalın problemi deyil. Bakı sakinlərinin 72 faizinin, yəni təxminən 2 milyon nəfərin, 5 dəqiqəlik məsafəsində parkinq yoxdur. 98 metro çıxışının 12-sinin yanında parkinq yoxdur. Ən maraqlısı: yeni qurulan MPV məntəqələrinin 98 faizi artıq parkinq olan yerlərdədir. Şəbəkə sıxlaşır, amma boşluq bağlanmır. Planlaşdırma aləti yoxdur.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AYAN xəritə deyil, qərar alətidir. Hub-ların harada olduğunu göstərmirik, harada qurulmalı olduğunu sübut edirik: hansı ardıcıllıqla, neçə nəfərə xidmət edəcəyini, nə qədər CO₂ qənaət edəcəyini. Gəlin canlı göstərim.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(1:30). 1) Xəritə: tünd çəhrayı yerlərdə insan çoxdur, parkinq yoxdur. 2) Beynəlxalq Avtovağzala klik: 2,9 bal, metro 320 m, parkinq 878 m. 3) Aşağıdakı tikinti ardıcıllığı: 1 nömrə 20 Yanvar metrosu, 20 hub boşluğun 12%-ni bağlayır. 4) Öz hub-unuzu yoxlayın: boş yerə klik, rəqəmlər dərhal yenilənir. 5) Rəhbərlik paneli, Eyni büdcə cədvəli. İnternet kəsilsə: ekran videosu.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rəqəmlərə necə inanaq? Eyni 10 hub büdcəsi ilə müxtəlif seçim qaydalarını müqayisə etdik. AYAN gündə 223 əlavə səfər verir, təsadüfi seçim 30, mərkəzə ən yaxın yerlər 11. Yəni eyni pulla 7,5 dəfə çox istifadə. Model AYNA-nın öz seçimlərini də tanıyır: mərkəz effektini çıxanda belə AUC 0,76-dır, müstəqil Apar datası ilə 0,69.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tapıntı da göstərim. AYNA-nın rəsmi velo-parkinq faylında Eyfel qülləsi, Titanik və Fuji dağı var: bu, Google Earth-ün nümunə turudur. 222 dayanacaq adında kiril hərfi, 55 köhnə marşrut. AYAN-ın keyfiyyət mərkəzi bunları avtomatik tapır, düzəldir və insana təsdiqə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Altında nə var: 4 hakaton datası və 10-dan çox əlavə mənbə. 750 min düyünlü real piyada qrafı, bütün məsafələr metrlə, UTM-də. Engine yeni hub-u 0,2 saniyəyə qiymətləndirir. Stek açarsız və lisenziyasızdır, AYNA serverində on-prem işləyə bilər.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Növbəti addım: 3 aylıq pilot. Rəsmi data feed-ləri qoşuruq və top-10 hub-un sahə auditini edirik. Sonra on-prem quraşdırma, ilk hub-lar və nəticənin ölçülməsi. Sonra eyni pipeline ilə Gəncə və Sumqayıt. Model B2G-dir: on-prem lisenziya və dəstək.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Yekun: təxminən 2 milyon sakinin yaxınlığında parkinq yoxdur, AYAN eyni büdcə ilə 7,5 dəfə çox yeni səfər verir və hər ssenarini saniyənin beşdə birində real şəbəkədə yoxlayır. Hub-u qurmazdan əvvəl sınayın. Təşəkkürlər.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YAN Content">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457200" y="4754880"/>
            <a:ext cx="4572000" cy="228600"/>
          </a:xfrm>
          <a:prstGeom prst="rect">
            <a:avLst/>
          </a:prstGeom>
          <a:noFill/>
          <a:ln/>
        </p:spPr>
        <p:txBody>
          <a:bodyPr wrap="square" lIns="0" tIns="0" rIns="0" bIns="0" rtlCol="0" anchor="ctr"/>
          <a:lstStyle/>
          <a:p>
            <a:pPr indent="0" marL="0">
              <a:buNone/>
            </a:pPr>
            <a:r>
              <a:rPr lang="en-US" sz="1000" dirty="0">
                <a:solidFill>
                  <a:schemeClr val="bg2"/>
                </a:solidFill>
              </a:rPr>
              <a:t>AYAN · TransportTech hakatonu 2026</a:t>
            </a:r>
            <a:endParaRPr lang="en-US" sz="1000" dirty="0"/>
          </a:p>
        </p:txBody>
      </p:sp>
      <p:sp>
        <p:nvSpPr>
          <p:cNvPr id="3" name="Text 1"/>
          <p:cNvSpPr/>
          <p:nvPr>
            <p:ph idx="101"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bg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YAN Blan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ap screenshot" descr="shot_map.png">    </p:cNvPr>
          <p:cNvPicPr>
            <a:picLocks noChangeAspect="1"/>
          </p:cNvPicPr>
          <p:nvPr/>
        </p:nvPicPr>
        <p:blipFill>
          <a:blip r:embed="rId1"/>
          <a:stretch>
            <a:fillRect/>
          </a:stretch>
        </p:blipFill>
        <p:spPr>
          <a:xfrm>
            <a:off x="0" y="0"/>
            <a:ext cx="9144000" cy="5143500"/>
          </a:xfrm>
          <a:prstGeom prst="rect">
            <a:avLst/>
          </a:prstGeom>
        </p:spPr>
      </p:pic>
      <p:sp>
        <p:nvSpPr>
          <p:cNvPr id="3" name="Scrim"/>
          <p:cNvSpPr/>
          <p:nvPr/>
        </p:nvSpPr>
        <p:spPr>
          <a:xfrm>
            <a:off x="0" y="0"/>
            <a:ext cx="9144000" cy="5143500"/>
          </a:xfrm>
          <a:prstGeom prst="rect">
            <a:avLst/>
          </a:prstGeom>
          <a:solidFill>
            <a:schemeClr val="tx1">
              <a:alpha val="90000"/>
            </a:schemeClr>
          </a:solidFill>
          <a:ln/>
        </p:spPr>
      </p:sp>
      <p:sp>
        <p:nvSpPr>
          <p:cNvPr id="4" name="Brand"/>
          <p:cNvSpPr txBox="1"/>
          <p:nvPr/>
        </p:nvSpPr>
        <p:spPr>
          <a:xfrm>
            <a:off x="548640" y="1234440"/>
            <a:ext cx="5486400" cy="1005840"/>
          </a:xfrm>
          <a:prstGeom prst="rect">
            <a:avLst/>
          </a:prstGeom>
          <a:noFill/>
          <a:ln/>
        </p:spPr>
        <p:txBody>
          <a:bodyPr wrap="square" lIns="0" tIns="0" rIns="0" bIns="0" rtlCol="0" anchor="t"/>
          <a:lstStyle/>
          <a:p>
            <a:pPr indent="0" marL="0">
              <a:buNone/>
            </a:pPr>
            <a:r>
              <a:rPr lang="en-US" sz="6600" b="1" dirty="0">
                <a:solidFill>
                  <a:schemeClr val="accent1"/>
                </a:solidFill>
                <a:latin typeface="Arial" pitchFamily="34" charset="0"/>
                <a:ea typeface="Arial" pitchFamily="34" charset="-122"/>
                <a:cs typeface="Arial" pitchFamily="34" charset="-120"/>
              </a:rPr>
              <a:t>AYAN</a:t>
            </a:r>
            <a:endParaRPr lang="en-US" sz="6600" dirty="0"/>
          </a:p>
        </p:txBody>
      </p:sp>
      <p:sp>
        <p:nvSpPr>
          <p:cNvPr id="5" name="Tagline"/>
          <p:cNvSpPr txBox="1"/>
          <p:nvPr/>
        </p:nvSpPr>
        <p:spPr>
          <a:xfrm>
            <a:off x="548640" y="2286000"/>
            <a:ext cx="7772400" cy="64008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Hub-u qurmazdan əvvəl sınayın</a:t>
            </a:r>
            <a:endParaRPr lang="en-US" sz="3200" dirty="0"/>
          </a:p>
        </p:txBody>
      </p:sp>
      <p:sp>
        <p:nvSpPr>
          <p:cNvPr id="6" name="Subtitle"/>
          <p:cNvSpPr txBox="1"/>
          <p:nvPr/>
        </p:nvSpPr>
        <p:spPr>
          <a:xfrm>
            <a:off x="548640" y="3017520"/>
            <a:ext cx="7772400" cy="365760"/>
          </a:xfrm>
          <a:prstGeom prst="rect">
            <a:avLst/>
          </a:prstGeom>
          <a:noFill/>
          <a:ln/>
        </p:spPr>
        <p:txBody>
          <a:bodyPr wrap="square" lIns="0" tIns="0" rIns="0" bIns="0" rtlCol="0" anchor="t"/>
          <a:lstStyle/>
          <a:p>
            <a:pPr indent="0" marL="0">
              <a:buNone/>
            </a:pPr>
            <a:r>
              <a:rPr lang="en-US" sz="1600" dirty="0">
                <a:solidFill>
                  <a:schemeClr val="bg1"/>
                </a:solidFill>
              </a:rPr>
              <a:t>Bakı üçün mobility hub planlayıcısı · “AYNA Mobility Hub &amp; Last-Mile”</a:t>
            </a:r>
            <a:endParaRPr lang="en-US" sz="1600" dirty="0"/>
          </a:p>
        </p:txBody>
      </p:sp>
      <p:sp>
        <p:nvSpPr>
          <p:cNvPr id="7" name="Event"/>
          <p:cNvSpPr txBox="1"/>
          <p:nvPr/>
        </p:nvSpPr>
        <p:spPr>
          <a:xfrm>
            <a:off x="548640" y="4343400"/>
            <a:ext cx="7772400" cy="274320"/>
          </a:xfrm>
          <a:prstGeom prst="rect">
            <a:avLst/>
          </a:prstGeom>
          <a:noFill/>
          <a:ln/>
        </p:spPr>
        <p:txBody>
          <a:bodyPr wrap="square" lIns="0" tIns="0" rIns="0" bIns="0" rtlCol="0" anchor="t"/>
          <a:lstStyle/>
          <a:p>
            <a:pPr indent="0" marL="0">
              <a:buNone/>
            </a:pPr>
            <a:r>
              <a:rPr lang="en-US" sz="1200" dirty="0">
                <a:solidFill>
                  <a:schemeClr val="bg2"/>
                </a:solidFill>
              </a:rPr>
              <a:t>TransportTech hakatonu · İRİA × AYNA · 18 oktyabr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t"/>
          <a:lstStyle/>
          <a:p>
            <a:pPr algn="l" indent="0" marL="0">
              <a:buNone/>
            </a:pPr>
            <a:r>
              <a:rPr lang="en-US" sz="2800" b="1" dirty="0">
                <a:solidFill>
                  <a:schemeClr val="bg1"/>
                </a:solidFill>
                <a:latin typeface="Arial" pitchFamily="34" charset="0"/>
                <a:ea typeface="Arial" pitchFamily="34" charset="-122"/>
                <a:cs typeface="Arial" pitchFamily="34" charset="-120"/>
              </a:rPr>
              <a:t>Gəncədən gəldiniz. Evə necə gedəcəksiniz?</a:t>
            </a:r>
            <a:endParaRPr lang="en-US" sz="2800" dirty="0"/>
          </a:p>
        </p:txBody>
      </p:sp>
      <p:sp>
        <p:nvSpPr>
          <p:cNvPr id="3" name="Station name"/>
          <p:cNvSpPr txBox="1"/>
          <p:nvPr/>
        </p:nvSpPr>
        <p:spPr>
          <a:xfrm>
            <a:off x="457200" y="1097280"/>
            <a:ext cx="4206240" cy="320040"/>
          </a:xfrm>
          <a:prstGeom prst="rect">
            <a:avLst/>
          </a:prstGeom>
          <a:noFill/>
          <a:ln/>
        </p:spPr>
        <p:txBody>
          <a:bodyPr wrap="square" lIns="0" tIns="0" rIns="0" bIns="0" rtlCol="0" anchor="t"/>
          <a:lstStyle/>
          <a:p>
            <a:pPr indent="0" marL="0">
              <a:buNone/>
            </a:pPr>
            <a:r>
              <a:rPr lang="en-US" sz="1600" b="1" dirty="0">
                <a:solidFill>
                  <a:schemeClr val="bg2"/>
                </a:solidFill>
              </a:rPr>
              <a:t>Bakı Beynəlxalq Avtovağzalı</a:t>
            </a:r>
            <a:endParaRPr lang="en-US" sz="1600" dirty="0"/>
          </a:p>
        </p:txBody>
      </p:sp>
      <p:sp>
        <p:nvSpPr>
          <p:cNvPr id="4" name="Metro walk value"/>
          <p:cNvSpPr txBox="1"/>
          <p:nvPr/>
        </p:nvSpPr>
        <p:spPr>
          <a:xfrm>
            <a:off x="457200" y="1508760"/>
            <a:ext cx="2011680" cy="68580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320 m</a:t>
            </a:r>
            <a:endParaRPr lang="en-US" sz="3600" dirty="0"/>
          </a:p>
        </p:txBody>
      </p:sp>
      <p:sp>
        <p:nvSpPr>
          <p:cNvPr id="5" name="Metro walk label"/>
          <p:cNvSpPr txBox="1"/>
          <p:nvPr/>
        </p:nvSpPr>
        <p:spPr>
          <a:xfrm>
            <a:off x="457200" y="2240280"/>
            <a:ext cx="2011680" cy="548640"/>
          </a:xfrm>
          <a:prstGeom prst="rect">
            <a:avLst/>
          </a:prstGeom>
          <a:noFill/>
          <a:ln/>
        </p:spPr>
        <p:txBody>
          <a:bodyPr wrap="square" lIns="0" tIns="0" rIns="0" bIns="0" rtlCol="0" anchor="t"/>
          <a:lstStyle/>
          <a:p>
            <a:pPr indent="0" marL="0">
              <a:buNone/>
            </a:pPr>
            <a:r>
              <a:rPr lang="en-US" sz="1400" dirty="0">
                <a:solidFill>
                  <a:schemeClr val="bg1"/>
                </a:solidFill>
              </a:rPr>
              <a:t>metroya piyada</a:t>
            </a:r>
            <a:endParaRPr lang="en-US" sz="1400" dirty="0"/>
          </a:p>
        </p:txBody>
      </p:sp>
      <p:sp>
        <p:nvSpPr>
          <p:cNvPr id="6" name="Parking walk value"/>
          <p:cNvSpPr txBox="1"/>
          <p:nvPr/>
        </p:nvSpPr>
        <p:spPr>
          <a:xfrm>
            <a:off x="2560320" y="1508760"/>
            <a:ext cx="2103120" cy="68580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878 m</a:t>
            </a:r>
            <a:endParaRPr lang="en-US" sz="3600" dirty="0"/>
          </a:p>
        </p:txBody>
      </p:sp>
      <p:sp>
        <p:nvSpPr>
          <p:cNvPr id="7" name="Parking walk label"/>
          <p:cNvSpPr txBox="1"/>
          <p:nvPr/>
        </p:nvSpPr>
        <p:spPr>
          <a:xfrm>
            <a:off x="2560320" y="2240280"/>
            <a:ext cx="2103120" cy="548640"/>
          </a:xfrm>
          <a:prstGeom prst="rect">
            <a:avLst/>
          </a:prstGeom>
          <a:noFill/>
          <a:ln/>
        </p:spPr>
        <p:txBody>
          <a:bodyPr wrap="square" lIns="0" tIns="0" rIns="0" bIns="0" rtlCol="0" anchor="t"/>
          <a:lstStyle/>
          <a:p>
            <a:pPr indent="0" marL="0">
              <a:buNone/>
            </a:pPr>
            <a:r>
              <a:rPr lang="en-US" sz="1400" dirty="0">
                <a:solidFill>
                  <a:schemeClr val="bg1"/>
                </a:solidFill>
              </a:rPr>
              <a:t>ən yaxın velo/scooter parkinqi</a:t>
            </a:r>
            <a:endParaRPr lang="en-US" sz="1400" dirty="0"/>
          </a:p>
        </p:txBody>
      </p:sp>
      <p:sp>
        <p:nvSpPr>
          <p:cNvPr id="8" name="Intercity value"/>
          <p:cNvSpPr txBox="1"/>
          <p:nvPr/>
        </p:nvSpPr>
        <p:spPr>
          <a:xfrm>
            <a:off x="457200" y="3063240"/>
            <a:ext cx="2011680" cy="68580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60</a:t>
            </a:r>
            <a:endParaRPr lang="en-US" sz="3600" dirty="0"/>
          </a:p>
        </p:txBody>
      </p:sp>
      <p:sp>
        <p:nvSpPr>
          <p:cNvPr id="9" name="Intercity label"/>
          <p:cNvSpPr txBox="1"/>
          <p:nvPr/>
        </p:nvSpPr>
        <p:spPr>
          <a:xfrm>
            <a:off x="457200" y="3794760"/>
            <a:ext cx="2011680" cy="548640"/>
          </a:xfrm>
          <a:prstGeom prst="rect">
            <a:avLst/>
          </a:prstGeom>
          <a:noFill/>
          <a:ln/>
        </p:spPr>
        <p:txBody>
          <a:bodyPr wrap="square" lIns="0" tIns="0" rIns="0" bIns="0" rtlCol="0" anchor="t"/>
          <a:lstStyle/>
          <a:p>
            <a:pPr indent="0" marL="0">
              <a:buNone/>
            </a:pPr>
            <a:r>
              <a:rPr lang="en-US" sz="1400" dirty="0">
                <a:solidFill>
                  <a:schemeClr val="bg1"/>
                </a:solidFill>
              </a:rPr>
              <a:t>şəhərlərarası marşrut buraya gəlir</a:t>
            </a:r>
            <a:endParaRPr lang="en-US" sz="1400" dirty="0"/>
          </a:p>
        </p:txBody>
      </p:sp>
      <p:sp>
        <p:nvSpPr>
          <p:cNvPr id="10" name="City routes value"/>
          <p:cNvSpPr txBox="1"/>
          <p:nvPr/>
        </p:nvSpPr>
        <p:spPr>
          <a:xfrm>
            <a:off x="2560320" y="3063240"/>
            <a:ext cx="2103120" cy="68580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29</a:t>
            </a:r>
            <a:endParaRPr lang="en-US" sz="3600" dirty="0"/>
          </a:p>
        </p:txBody>
      </p:sp>
      <p:sp>
        <p:nvSpPr>
          <p:cNvPr id="11" name="City routes label"/>
          <p:cNvSpPr txBox="1"/>
          <p:nvPr/>
        </p:nvSpPr>
        <p:spPr>
          <a:xfrm>
            <a:off x="2560320" y="3794760"/>
            <a:ext cx="2103120" cy="548640"/>
          </a:xfrm>
          <a:prstGeom prst="rect">
            <a:avLst/>
          </a:prstGeom>
          <a:noFill/>
          <a:ln/>
        </p:spPr>
        <p:txBody>
          <a:bodyPr wrap="square" lIns="0" tIns="0" rIns="0" bIns="0" rtlCol="0" anchor="t"/>
          <a:lstStyle/>
          <a:p>
            <a:pPr indent="0" marL="0">
              <a:buNone/>
            </a:pPr>
            <a:r>
              <a:rPr lang="en-US" sz="1400" dirty="0">
                <a:solidFill>
                  <a:schemeClr val="bg1"/>
                </a:solidFill>
              </a:rPr>
              <a:t>şəhər marşrutu 400 m-də</a:t>
            </a:r>
            <a:endParaRPr lang="en-US" sz="1400" dirty="0"/>
          </a:p>
        </p:txBody>
      </p:sp>
      <p:sp>
        <p:nvSpPr>
          <p:cNvPr id="12" name="Arrival chart card"/>
          <p:cNvSpPr/>
          <p:nvPr/>
        </p:nvSpPr>
        <p:spPr>
          <a:xfrm>
            <a:off x="5029200" y="1097280"/>
            <a:ext cx="3657600" cy="3383280"/>
          </a:xfrm>
          <a:prstGeom prst="roundRect">
            <a:avLst>
              <a:gd name="adj" fmla="val 2162"/>
            </a:avLst>
          </a:prstGeom>
          <a:solidFill>
            <a:schemeClr val="tx2"/>
          </a:solidFill>
          <a:ln w="12700">
            <a:solidFill>
              <a:srgbClr val="2A5163"/>
            </a:solidFill>
            <a:prstDash val="solid"/>
          </a:ln>
        </p:spPr>
      </p:sp>
      <p:graphicFrame>
        <p:nvGraphicFramePr>
          <p:cNvPr id="13" name="Arrival score chart" descr=""/>
          <p:cNvGraphicFramePr/>
          <p:nvPr/>
        </p:nvGraphicFramePr>
        <p:xfrm>
          <a:off x="5166360" y="1188720"/>
          <a:ext cx="3383280" cy="32004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t"/>
          <a:lstStyle/>
          <a:p>
            <a:pPr algn="l" indent="0" marL="0">
              <a:buNone/>
            </a:pPr>
            <a:r>
              <a:rPr lang="en-US" sz="2800" b="1" dirty="0">
                <a:solidFill>
                  <a:schemeClr val="bg1"/>
                </a:solidFill>
                <a:latin typeface="Arial" pitchFamily="34" charset="0"/>
                <a:ea typeface="Arial" pitchFamily="34" charset="-122"/>
                <a:cs typeface="Arial" pitchFamily="34" charset="-120"/>
              </a:rPr>
              <a:t>Boşluq böyükdür, şəbəkə isə yerində sıxlaşır</a:t>
            </a:r>
            <a:endParaRPr lang="en-US" sz="2800" dirty="0"/>
          </a:p>
        </p:txBody>
      </p:sp>
      <p:sp>
        <p:nvSpPr>
          <p:cNvPr id="3" name="Gap card"/>
          <p:cNvSpPr/>
          <p:nvPr/>
        </p:nvSpPr>
        <p:spPr>
          <a:xfrm>
            <a:off x="457200" y="1280160"/>
            <a:ext cx="2560320" cy="2651760"/>
          </a:xfrm>
          <a:prstGeom prst="roundRect">
            <a:avLst>
              <a:gd name="adj" fmla="val 2857"/>
            </a:avLst>
          </a:prstGeom>
          <a:solidFill>
            <a:schemeClr val="tx2"/>
          </a:solidFill>
          <a:ln w="12700">
            <a:solidFill>
              <a:srgbClr val="2A5163"/>
            </a:solidFill>
            <a:prstDash val="solid"/>
          </a:ln>
        </p:spPr>
      </p:sp>
      <p:sp>
        <p:nvSpPr>
          <p:cNvPr id="4" name="Gap value"/>
          <p:cNvSpPr txBox="1"/>
          <p:nvPr/>
        </p:nvSpPr>
        <p:spPr>
          <a:xfrm>
            <a:off x="685800" y="1508760"/>
            <a:ext cx="2103120" cy="82296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72%</a:t>
            </a:r>
            <a:endParaRPr lang="en-US" sz="4800" dirty="0"/>
          </a:p>
        </p:txBody>
      </p:sp>
      <p:sp>
        <p:nvSpPr>
          <p:cNvPr id="5" name="Gap label"/>
          <p:cNvSpPr txBox="1"/>
          <p:nvPr/>
        </p:nvSpPr>
        <p:spPr>
          <a:xfrm>
            <a:off x="685800" y="2468880"/>
            <a:ext cx="2103120" cy="1280160"/>
          </a:xfrm>
          <a:prstGeom prst="rect">
            <a:avLst/>
          </a:prstGeom>
          <a:noFill/>
          <a:ln/>
        </p:spPr>
        <p:txBody>
          <a:bodyPr wrap="square" lIns="0" tIns="0" rIns="0" bIns="0" rtlCol="0" anchor="t"/>
          <a:lstStyle/>
          <a:p>
            <a:pPr indent="0" marL="0">
              <a:buNone/>
            </a:pPr>
            <a:r>
              <a:rPr lang="en-US" sz="1500" dirty="0">
                <a:solidFill>
                  <a:schemeClr val="bg1"/>
                </a:solidFill>
              </a:rPr>
              <a:t>sakinin (~2,07 mln) 5 dəqiqəlik piyada məsafəsində velo/scooter parkinqi yoxdur</a:t>
            </a:r>
            <a:endParaRPr lang="en-US" sz="1500" dirty="0"/>
          </a:p>
        </p:txBody>
      </p:sp>
      <p:sp>
        <p:nvSpPr>
          <p:cNvPr id="6" name="Metro card"/>
          <p:cNvSpPr/>
          <p:nvPr/>
        </p:nvSpPr>
        <p:spPr>
          <a:xfrm>
            <a:off x="3291840" y="1280160"/>
            <a:ext cx="2560320" cy="2651760"/>
          </a:xfrm>
          <a:prstGeom prst="roundRect">
            <a:avLst>
              <a:gd name="adj" fmla="val 2857"/>
            </a:avLst>
          </a:prstGeom>
          <a:solidFill>
            <a:schemeClr val="tx2"/>
          </a:solidFill>
          <a:ln w="12700">
            <a:solidFill>
              <a:srgbClr val="2A5163"/>
            </a:solidFill>
            <a:prstDash val="solid"/>
          </a:ln>
        </p:spPr>
      </p:sp>
      <p:sp>
        <p:nvSpPr>
          <p:cNvPr id="7" name="Metro value"/>
          <p:cNvSpPr txBox="1"/>
          <p:nvPr/>
        </p:nvSpPr>
        <p:spPr>
          <a:xfrm>
            <a:off x="3520440" y="1508760"/>
            <a:ext cx="2103120" cy="82296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12 / 98</a:t>
            </a:r>
            <a:endParaRPr lang="en-US" sz="4800" dirty="0"/>
          </a:p>
        </p:txBody>
      </p:sp>
      <p:sp>
        <p:nvSpPr>
          <p:cNvPr id="8" name="Metro label"/>
          <p:cNvSpPr txBox="1"/>
          <p:nvPr/>
        </p:nvSpPr>
        <p:spPr>
          <a:xfrm>
            <a:off x="3520440" y="2468880"/>
            <a:ext cx="2103120" cy="1280160"/>
          </a:xfrm>
          <a:prstGeom prst="rect">
            <a:avLst/>
          </a:prstGeom>
          <a:noFill/>
          <a:ln/>
        </p:spPr>
        <p:txBody>
          <a:bodyPr wrap="square" lIns="0" tIns="0" rIns="0" bIns="0" rtlCol="0" anchor="t"/>
          <a:lstStyle/>
          <a:p>
            <a:pPr indent="0" marL="0">
              <a:buNone/>
            </a:pPr>
            <a:r>
              <a:rPr lang="en-US" sz="1500" dirty="0">
                <a:solidFill>
                  <a:schemeClr val="bg1"/>
                </a:solidFill>
              </a:rPr>
              <a:t>metro çıxışının yanında heç bir parkinq yoxdur</a:t>
            </a:r>
            <a:endParaRPr lang="en-US" sz="1500" dirty="0"/>
          </a:p>
        </p:txBody>
      </p:sp>
      <p:sp>
        <p:nvSpPr>
          <p:cNvPr id="9" name="Densify card"/>
          <p:cNvSpPr/>
          <p:nvPr/>
        </p:nvSpPr>
        <p:spPr>
          <a:xfrm>
            <a:off x="6126480" y="1280160"/>
            <a:ext cx="2560320" cy="2651760"/>
          </a:xfrm>
          <a:prstGeom prst="roundRect">
            <a:avLst>
              <a:gd name="adj" fmla="val 2857"/>
            </a:avLst>
          </a:prstGeom>
          <a:solidFill>
            <a:schemeClr val="tx2"/>
          </a:solidFill>
          <a:ln w="12700">
            <a:solidFill>
              <a:srgbClr val="2A5163"/>
            </a:solidFill>
            <a:prstDash val="solid"/>
          </a:ln>
        </p:spPr>
      </p:sp>
      <p:sp>
        <p:nvSpPr>
          <p:cNvPr id="10" name="Densify value"/>
          <p:cNvSpPr txBox="1"/>
          <p:nvPr/>
        </p:nvSpPr>
        <p:spPr>
          <a:xfrm>
            <a:off x="6355080" y="1508760"/>
            <a:ext cx="2103120" cy="82296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98%</a:t>
            </a:r>
            <a:endParaRPr lang="en-US" sz="4800" dirty="0"/>
          </a:p>
        </p:txBody>
      </p:sp>
      <p:sp>
        <p:nvSpPr>
          <p:cNvPr id="11" name="Densify label"/>
          <p:cNvSpPr txBox="1"/>
          <p:nvPr/>
        </p:nvSpPr>
        <p:spPr>
          <a:xfrm>
            <a:off x="6355080" y="2468880"/>
            <a:ext cx="2103120" cy="1280160"/>
          </a:xfrm>
          <a:prstGeom prst="rect">
            <a:avLst/>
          </a:prstGeom>
          <a:noFill/>
          <a:ln/>
        </p:spPr>
        <p:txBody>
          <a:bodyPr wrap="square" lIns="0" tIns="0" rIns="0" bIns="0" rtlCol="0" anchor="t"/>
          <a:lstStyle/>
          <a:p>
            <a:pPr indent="0" marL="0">
              <a:buNone/>
            </a:pPr>
            <a:r>
              <a:rPr lang="en-US" sz="1500" dirty="0">
                <a:solidFill>
                  <a:schemeClr val="bg1"/>
                </a:solidFill>
              </a:rPr>
              <a:t>yeni MPV məntəqələri artıq MPS olan yerlərdədir (təsadüfi sakin üçün 40%)</a:t>
            </a:r>
            <a:endParaRPr lang="en-US" sz="1500" dirty="0"/>
          </a:p>
        </p:txBody>
      </p:sp>
      <p:sp>
        <p:nvSpPr>
          <p:cNvPr id="12" name="Source"/>
          <p:cNvSpPr txBox="1"/>
          <p:nvPr/>
        </p:nvSpPr>
        <p:spPr>
          <a:xfrm>
            <a:off x="457200" y="4160520"/>
            <a:ext cx="8229600" cy="274320"/>
          </a:xfrm>
          <a:prstGeom prst="rect">
            <a:avLst/>
          </a:prstGeom>
          <a:noFill/>
          <a:ln/>
        </p:spPr>
        <p:txBody>
          <a:bodyPr wrap="square" lIns="0" tIns="0" rIns="0" bIns="0" rtlCol="0" anchor="t"/>
          <a:lstStyle/>
          <a:p>
            <a:pPr indent="0" marL="0">
              <a:buNone/>
            </a:pPr>
            <a:r>
              <a:rPr lang="en-US" sz="1100" dirty="0">
                <a:solidFill>
                  <a:schemeClr val="bg2"/>
                </a:solidFill>
              </a:rPr>
              <a:t>Hamısı real piyada şəbəkəsində ölçülüb (400 m). Mənbə: WorldPop 2026, AYNA parkinqləri, Bakı Metropoliteni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t"/>
          <a:lstStyle/>
          <a:p>
            <a:pPr algn="l" indent="0" marL="0">
              <a:buNone/>
            </a:pPr>
            <a:r>
              <a:rPr lang="en-US" sz="2800" b="1" dirty="0">
                <a:solidFill>
                  <a:schemeClr val="bg1"/>
                </a:solidFill>
                <a:latin typeface="Arial" pitchFamily="34" charset="0"/>
                <a:ea typeface="Arial" pitchFamily="34" charset="-122"/>
                <a:cs typeface="Arial" pitchFamily="34" charset="-120"/>
              </a:rPr>
              <a:t>AYAN: xəritə yox, qərar aləti</a:t>
            </a:r>
            <a:endParaRPr lang="en-US" sz="2800" dirty="0"/>
          </a:p>
        </p:txBody>
      </p:sp>
      <p:pic>
        <p:nvPicPr>
          <p:cNvPr id="3" name="App screenshot" descr="shot_map.png">    </p:cNvPr>
          <p:cNvPicPr>
            <a:picLocks noChangeAspect="1"/>
          </p:cNvPicPr>
          <p:nvPr/>
        </p:nvPicPr>
        <p:blipFill>
          <a:blip r:embed="rId1"/>
          <a:stretch>
            <a:fillRect/>
          </a:stretch>
        </p:blipFill>
        <p:spPr>
          <a:xfrm>
            <a:off x="457200" y="1143000"/>
            <a:ext cx="4754880" cy="2674620"/>
          </a:xfrm>
          <a:prstGeom prst="rect">
            <a:avLst/>
          </a:prstGeom>
        </p:spPr>
      </p:pic>
      <p:sp>
        <p:nvSpPr>
          <p:cNvPr id="4" name="Module 1"/>
          <p:cNvSpPr/>
          <p:nvPr/>
        </p:nvSpPr>
        <p:spPr>
          <a:xfrm>
            <a:off x="5486400" y="1188720"/>
            <a:ext cx="411480" cy="411480"/>
          </a:xfrm>
          <a:prstGeom prst="ellipse">
            <a:avLst/>
          </a:prstGeom>
          <a:solidFill>
            <a:schemeClr val="tx2"/>
          </a:solidFill>
          <a:ln w="25400">
            <a:solidFill>
              <a:schemeClr val="accent1"/>
            </a:solidFill>
            <a:prstDash val="solid"/>
          </a:ln>
        </p:spPr>
      </p:sp>
      <p:sp>
        <p:nvSpPr>
          <p:cNvPr id="5" name="Module 1 label"/>
          <p:cNvSpPr txBox="1"/>
          <p:nvPr/>
        </p:nvSpPr>
        <p:spPr>
          <a:xfrm>
            <a:off x="5486400" y="1188720"/>
            <a:ext cx="411480" cy="411480"/>
          </a:xfrm>
          <a:prstGeom prst="rect">
            <a:avLst/>
          </a:prstGeom>
          <a:noFill/>
          <a:ln/>
        </p:spPr>
        <p:txBody>
          <a:bodyPr wrap="square" lIns="0" tIns="0" rIns="0" bIns="0" rtlCol="0" anchor="ctr"/>
          <a:lstStyle/>
          <a:p>
            <a:pPr algn="ctr" indent="0" marL="0">
              <a:buNone/>
            </a:pPr>
            <a:r>
              <a:rPr lang="en-US" sz="1200" b="1" dirty="0">
                <a:solidFill>
                  <a:schemeClr val="accent1"/>
                </a:solidFill>
              </a:rPr>
              <a:t>1</a:t>
            </a:r>
            <a:endParaRPr lang="en-US" sz="1200" dirty="0"/>
          </a:p>
        </p:txBody>
      </p:sp>
      <p:sp>
        <p:nvSpPr>
          <p:cNvPr id="6" name="Module 1 title"/>
          <p:cNvSpPr txBox="1"/>
          <p:nvPr/>
        </p:nvSpPr>
        <p:spPr>
          <a:xfrm>
            <a:off x="6035040" y="1143000"/>
            <a:ext cx="2651760" cy="274320"/>
          </a:xfrm>
          <a:prstGeom prst="rect">
            <a:avLst/>
          </a:prstGeom>
          <a:noFill/>
          <a:ln/>
        </p:spPr>
        <p:txBody>
          <a:bodyPr wrap="square" lIns="0" tIns="0" rIns="0" bIns="0" rtlCol="0" anchor="t"/>
          <a:lstStyle/>
          <a:p>
            <a:pPr indent="0" marL="0">
              <a:buNone/>
            </a:pPr>
            <a:r>
              <a:rPr lang="en-US" sz="1500" b="1" dirty="0">
                <a:solidFill>
                  <a:schemeClr val="bg1"/>
                </a:solidFill>
              </a:rPr>
              <a:t>Rəqəmsal əkiz</a:t>
            </a:r>
            <a:endParaRPr lang="en-US" sz="1500" dirty="0"/>
          </a:p>
        </p:txBody>
      </p:sp>
      <p:sp>
        <p:nvSpPr>
          <p:cNvPr id="7" name="Module 1 body"/>
          <p:cNvSpPr txBox="1"/>
          <p:nvPr/>
        </p:nvSpPr>
        <p:spPr>
          <a:xfrm>
            <a:off x="6035040" y="1417320"/>
            <a:ext cx="2651760" cy="411480"/>
          </a:xfrm>
          <a:prstGeom prst="rect">
            <a:avLst/>
          </a:prstGeom>
          <a:noFill/>
          <a:ln/>
        </p:spPr>
        <p:txBody>
          <a:bodyPr wrap="square" lIns="0" tIns="0" rIns="0" bIns="0" rtlCol="0" anchor="t"/>
          <a:lstStyle/>
          <a:p>
            <a:pPr indent="0" marL="0">
              <a:buNone/>
            </a:pPr>
            <a:r>
              <a:rPr lang="en-US" sz="1100" dirty="0">
                <a:solidFill>
                  <a:schemeClr val="bg2"/>
                </a:solidFill>
              </a:rPr>
              <a:t>5 nəqliyyat qatı, xidmətsiz tələbat, canlı avtobuslar</a:t>
            </a:r>
            <a:endParaRPr lang="en-US" sz="1100" dirty="0"/>
          </a:p>
        </p:txBody>
      </p:sp>
      <p:sp>
        <p:nvSpPr>
          <p:cNvPr id="8" name="Module 2"/>
          <p:cNvSpPr/>
          <p:nvPr/>
        </p:nvSpPr>
        <p:spPr>
          <a:xfrm>
            <a:off x="5486400" y="1901952"/>
            <a:ext cx="411480" cy="411480"/>
          </a:xfrm>
          <a:prstGeom prst="ellipse">
            <a:avLst/>
          </a:prstGeom>
          <a:solidFill>
            <a:schemeClr val="tx2"/>
          </a:solidFill>
          <a:ln w="25400">
            <a:solidFill>
              <a:schemeClr val="accent1"/>
            </a:solidFill>
            <a:prstDash val="solid"/>
          </a:ln>
        </p:spPr>
      </p:sp>
      <p:sp>
        <p:nvSpPr>
          <p:cNvPr id="9" name="Module 2 label"/>
          <p:cNvSpPr txBox="1"/>
          <p:nvPr/>
        </p:nvSpPr>
        <p:spPr>
          <a:xfrm>
            <a:off x="5486400" y="1901952"/>
            <a:ext cx="411480" cy="411480"/>
          </a:xfrm>
          <a:prstGeom prst="rect">
            <a:avLst/>
          </a:prstGeom>
          <a:noFill/>
          <a:ln/>
        </p:spPr>
        <p:txBody>
          <a:bodyPr wrap="square" lIns="0" tIns="0" rIns="0" bIns="0" rtlCol="0" anchor="ctr"/>
          <a:lstStyle/>
          <a:p>
            <a:pPr algn="ctr" indent="0" marL="0">
              <a:buNone/>
            </a:pPr>
            <a:r>
              <a:rPr lang="en-US" sz="1200" b="1" dirty="0">
                <a:solidFill>
                  <a:schemeClr val="accent1"/>
                </a:solidFill>
              </a:rPr>
              <a:t>2</a:t>
            </a:r>
            <a:endParaRPr lang="en-US" sz="1200" dirty="0"/>
          </a:p>
        </p:txBody>
      </p:sp>
      <p:sp>
        <p:nvSpPr>
          <p:cNvPr id="10" name="Module 2 title"/>
          <p:cNvSpPr txBox="1"/>
          <p:nvPr/>
        </p:nvSpPr>
        <p:spPr>
          <a:xfrm>
            <a:off x="6035040" y="1856232"/>
            <a:ext cx="2651760" cy="274320"/>
          </a:xfrm>
          <a:prstGeom prst="rect">
            <a:avLst/>
          </a:prstGeom>
          <a:noFill/>
          <a:ln/>
        </p:spPr>
        <p:txBody>
          <a:bodyPr wrap="square" lIns="0" tIns="0" rIns="0" bIns="0" rtlCol="0" anchor="t"/>
          <a:lstStyle/>
          <a:p>
            <a:pPr indent="0" marL="0">
              <a:buNone/>
            </a:pPr>
            <a:r>
              <a:rPr lang="en-US" sz="1500" b="1" dirty="0">
                <a:solidFill>
                  <a:schemeClr val="bg1"/>
                </a:solidFill>
              </a:rPr>
              <a:t>Hub planlayıcı</a:t>
            </a:r>
            <a:endParaRPr lang="en-US" sz="1500" dirty="0"/>
          </a:p>
        </p:txBody>
      </p:sp>
      <p:sp>
        <p:nvSpPr>
          <p:cNvPr id="11" name="Module 2 body"/>
          <p:cNvSpPr txBox="1"/>
          <p:nvPr/>
        </p:nvSpPr>
        <p:spPr>
          <a:xfrm>
            <a:off x="6035040" y="2130552"/>
            <a:ext cx="2651760" cy="411480"/>
          </a:xfrm>
          <a:prstGeom prst="rect">
            <a:avLst/>
          </a:prstGeom>
          <a:noFill/>
          <a:ln/>
        </p:spPr>
        <p:txBody>
          <a:bodyPr wrap="square" lIns="0" tIns="0" rIns="0" bIns="0" rtlCol="0" anchor="t"/>
          <a:lstStyle/>
          <a:p>
            <a:pPr indent="0" marL="0">
              <a:buNone/>
            </a:pPr>
            <a:r>
              <a:rPr lang="en-US" sz="1100" dirty="0">
                <a:solidFill>
                  <a:schemeClr val="bg2"/>
                </a:solidFill>
              </a:rPr>
              <a:t>MCLP sıralaması və what-if: klik et, rəqəmlər dərhal yenilənir</a:t>
            </a:r>
            <a:endParaRPr lang="en-US" sz="1100" dirty="0"/>
          </a:p>
        </p:txBody>
      </p:sp>
      <p:sp>
        <p:nvSpPr>
          <p:cNvPr id="12" name="Module 3"/>
          <p:cNvSpPr/>
          <p:nvPr/>
        </p:nvSpPr>
        <p:spPr>
          <a:xfrm>
            <a:off x="5486400" y="2615184"/>
            <a:ext cx="411480" cy="411480"/>
          </a:xfrm>
          <a:prstGeom prst="ellipse">
            <a:avLst/>
          </a:prstGeom>
          <a:solidFill>
            <a:schemeClr val="tx2"/>
          </a:solidFill>
          <a:ln w="25400">
            <a:solidFill>
              <a:schemeClr val="accent1"/>
            </a:solidFill>
            <a:prstDash val="solid"/>
          </a:ln>
        </p:spPr>
      </p:sp>
      <p:sp>
        <p:nvSpPr>
          <p:cNvPr id="13" name="Module 3 label"/>
          <p:cNvSpPr txBox="1"/>
          <p:nvPr/>
        </p:nvSpPr>
        <p:spPr>
          <a:xfrm>
            <a:off x="5486400" y="2615184"/>
            <a:ext cx="411480" cy="411480"/>
          </a:xfrm>
          <a:prstGeom prst="rect">
            <a:avLst/>
          </a:prstGeom>
          <a:noFill/>
          <a:ln/>
        </p:spPr>
        <p:txBody>
          <a:bodyPr wrap="square" lIns="0" tIns="0" rIns="0" bIns="0" rtlCol="0" anchor="ctr"/>
          <a:lstStyle/>
          <a:p>
            <a:pPr algn="ctr" indent="0" marL="0">
              <a:buNone/>
            </a:pPr>
            <a:r>
              <a:rPr lang="en-US" sz="1200" b="1" dirty="0">
                <a:solidFill>
                  <a:schemeClr val="accent1"/>
                </a:solidFill>
              </a:rPr>
              <a:t>3</a:t>
            </a:r>
            <a:endParaRPr lang="en-US" sz="1200" dirty="0"/>
          </a:p>
        </p:txBody>
      </p:sp>
      <p:sp>
        <p:nvSpPr>
          <p:cNvPr id="14" name="Module 3 title"/>
          <p:cNvSpPr txBox="1"/>
          <p:nvPr/>
        </p:nvSpPr>
        <p:spPr>
          <a:xfrm>
            <a:off x="6035040" y="2569464"/>
            <a:ext cx="2651760" cy="274320"/>
          </a:xfrm>
          <a:prstGeom prst="rect">
            <a:avLst/>
          </a:prstGeom>
          <a:noFill/>
          <a:ln/>
        </p:spPr>
        <p:txBody>
          <a:bodyPr wrap="square" lIns="0" tIns="0" rIns="0" bIns="0" rtlCol="0" anchor="t"/>
          <a:lstStyle/>
          <a:p>
            <a:pPr indent="0" marL="0">
              <a:buNone/>
            </a:pPr>
            <a:r>
              <a:rPr lang="en-US" sz="1500" b="1" dirty="0">
                <a:solidFill>
                  <a:schemeClr val="bg1"/>
                </a:solidFill>
              </a:rPr>
              <a:t>Rəhbərlik paneli</a:t>
            </a:r>
            <a:endParaRPr lang="en-US" sz="1500" dirty="0"/>
          </a:p>
        </p:txBody>
      </p:sp>
      <p:sp>
        <p:nvSpPr>
          <p:cNvPr id="15" name="Module 3 body"/>
          <p:cNvSpPr txBox="1"/>
          <p:nvPr/>
        </p:nvSpPr>
        <p:spPr>
          <a:xfrm>
            <a:off x="6035040" y="2843784"/>
            <a:ext cx="2651760" cy="411480"/>
          </a:xfrm>
          <a:prstGeom prst="rect">
            <a:avLst/>
          </a:prstGeom>
          <a:noFill/>
          <a:ln/>
        </p:spPr>
        <p:txBody>
          <a:bodyPr wrap="square" lIns="0" tIns="0" rIns="0" bIns="0" rtlCol="0" anchor="t"/>
          <a:lstStyle/>
          <a:p>
            <a:pPr indent="0" marL="0">
              <a:buNone/>
            </a:pPr>
            <a:r>
              <a:rPr lang="en-US" sz="1100" dirty="0">
                <a:solidFill>
                  <a:schemeClr val="bg2"/>
                </a:solidFill>
              </a:rPr>
              <a:t>CO₂ ssenarisi, gəliş balı, təsdiq axını, GeoJSON eksportu</a:t>
            </a:r>
            <a:endParaRPr lang="en-US" sz="1100" dirty="0"/>
          </a:p>
        </p:txBody>
      </p:sp>
      <p:sp>
        <p:nvSpPr>
          <p:cNvPr id="16" name="Module 4"/>
          <p:cNvSpPr/>
          <p:nvPr/>
        </p:nvSpPr>
        <p:spPr>
          <a:xfrm>
            <a:off x="5486400" y="3328416"/>
            <a:ext cx="411480" cy="411480"/>
          </a:xfrm>
          <a:prstGeom prst="ellipse">
            <a:avLst/>
          </a:prstGeom>
          <a:solidFill>
            <a:schemeClr val="tx2"/>
          </a:solidFill>
          <a:ln w="25400">
            <a:solidFill>
              <a:schemeClr val="accent1"/>
            </a:solidFill>
            <a:prstDash val="solid"/>
          </a:ln>
        </p:spPr>
      </p:sp>
      <p:sp>
        <p:nvSpPr>
          <p:cNvPr id="17" name="Module 4 label"/>
          <p:cNvSpPr txBox="1"/>
          <p:nvPr/>
        </p:nvSpPr>
        <p:spPr>
          <a:xfrm>
            <a:off x="5486400" y="3328416"/>
            <a:ext cx="411480" cy="411480"/>
          </a:xfrm>
          <a:prstGeom prst="rect">
            <a:avLst/>
          </a:prstGeom>
          <a:noFill/>
          <a:ln/>
        </p:spPr>
        <p:txBody>
          <a:bodyPr wrap="square" lIns="0" tIns="0" rIns="0" bIns="0" rtlCol="0" anchor="ctr"/>
          <a:lstStyle/>
          <a:p>
            <a:pPr algn="ctr" indent="0" marL="0">
              <a:buNone/>
            </a:pPr>
            <a:r>
              <a:rPr lang="en-US" sz="1200" b="1" dirty="0">
                <a:solidFill>
                  <a:schemeClr val="accent1"/>
                </a:solidFill>
              </a:rPr>
              <a:t>4</a:t>
            </a:r>
            <a:endParaRPr lang="en-US" sz="1200" dirty="0"/>
          </a:p>
        </p:txBody>
      </p:sp>
      <p:sp>
        <p:nvSpPr>
          <p:cNvPr id="18" name="Module 4 title"/>
          <p:cNvSpPr txBox="1"/>
          <p:nvPr/>
        </p:nvSpPr>
        <p:spPr>
          <a:xfrm>
            <a:off x="6035040" y="3282696"/>
            <a:ext cx="2651760" cy="274320"/>
          </a:xfrm>
          <a:prstGeom prst="rect">
            <a:avLst/>
          </a:prstGeom>
          <a:noFill/>
          <a:ln/>
        </p:spPr>
        <p:txBody>
          <a:bodyPr wrap="square" lIns="0" tIns="0" rIns="0" bIns="0" rtlCol="0" anchor="t"/>
          <a:lstStyle/>
          <a:p>
            <a:pPr indent="0" marL="0">
              <a:buNone/>
            </a:pPr>
            <a:r>
              <a:rPr lang="en-US" sz="1500" b="1" dirty="0">
                <a:solidFill>
                  <a:schemeClr val="bg1"/>
                </a:solidFill>
              </a:rPr>
              <a:t>Data keyfiyyəti</a:t>
            </a:r>
            <a:endParaRPr lang="en-US" sz="1500" dirty="0"/>
          </a:p>
        </p:txBody>
      </p:sp>
      <p:sp>
        <p:nvSpPr>
          <p:cNvPr id="19" name="Module 4 body"/>
          <p:cNvSpPr txBox="1"/>
          <p:nvPr/>
        </p:nvSpPr>
        <p:spPr>
          <a:xfrm>
            <a:off x="6035040" y="3557016"/>
            <a:ext cx="2651760" cy="411480"/>
          </a:xfrm>
          <a:prstGeom prst="rect">
            <a:avLst/>
          </a:prstGeom>
          <a:noFill/>
          <a:ln/>
        </p:spPr>
        <p:txBody>
          <a:bodyPr wrap="square" lIns="0" tIns="0" rIns="0" bIns="0" rtlCol="0" anchor="t"/>
          <a:lstStyle/>
          <a:p>
            <a:pPr indent="0" marL="0">
              <a:buNone/>
            </a:pPr>
            <a:r>
              <a:rPr lang="en-US" sz="1100" dirty="0">
                <a:solidFill>
                  <a:schemeClr val="bg2"/>
                </a:solidFill>
              </a:rPr>
              <a:t>Çirkli fayl → avtomatik düzəliş → insan yoxlaması → təmiz GeoJSON</a:t>
            </a:r>
            <a:endParaRPr lang="en-US" sz="1100" dirty="0"/>
          </a:p>
        </p:txBody>
      </p:sp>
      <p:sp>
        <p:nvSpPr>
          <p:cNvPr id="20" name="Pitch line"/>
          <p:cNvSpPr txBox="1"/>
          <p:nvPr/>
        </p:nvSpPr>
        <p:spPr>
          <a:xfrm>
            <a:off x="457200" y="4023360"/>
            <a:ext cx="8229600" cy="502920"/>
          </a:xfrm>
          <a:prstGeom prst="rect">
            <a:avLst/>
          </a:prstGeom>
          <a:noFill/>
          <a:ln/>
        </p:spPr>
        <p:txBody>
          <a:bodyPr wrap="square" lIns="0" tIns="0" rIns="0" bIns="0" rtlCol="0" anchor="t"/>
          <a:lstStyle/>
          <a:p>
            <a:pPr indent="0" marL="0">
              <a:buNone/>
            </a:pPr>
            <a:r>
              <a:rPr lang="en-US" sz="1500" i="1" dirty="0">
                <a:solidFill>
                  <a:schemeClr val="accent1"/>
                </a:solidFill>
              </a:rPr>
              <a:t>Hub-ların harada olduğunu yox, harada qurulmalı olduğunu göstəririk: hansı ardıcıllıqla və nə qədər fayda ilə</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t"/>
          <a:lstStyle/>
          <a:p>
            <a:pPr algn="l" indent="0" marL="0">
              <a:buNone/>
            </a:pPr>
            <a:r>
              <a:rPr lang="en-US" sz="2800" b="1" dirty="0">
                <a:solidFill>
                  <a:schemeClr val="bg1"/>
                </a:solidFill>
                <a:latin typeface="Arial" pitchFamily="34" charset="0"/>
                <a:ea typeface="Arial" pitchFamily="34" charset="-122"/>
                <a:cs typeface="Arial" pitchFamily="34" charset="-120"/>
              </a:rPr>
              <a:t>Canlı demo</a:t>
            </a:r>
            <a:endParaRPr lang="en-US" sz="2800" dirty="0"/>
          </a:p>
        </p:txBody>
      </p:sp>
      <p:sp>
        <p:nvSpPr>
          <p:cNvPr id="3" name="Sequence line"/>
          <p:cNvSpPr/>
          <p:nvPr/>
        </p:nvSpPr>
        <p:spPr>
          <a:xfrm>
            <a:off x="1051560" y="1874520"/>
            <a:ext cx="7040880" cy="0"/>
          </a:xfrm>
          <a:prstGeom prst="line">
            <a:avLst/>
          </a:prstGeom>
          <a:noFill/>
          <a:ln w="38100">
            <a:solidFill>
              <a:schemeClr val="accent1"/>
            </a:solidFill>
            <a:prstDash val="solid"/>
          </a:ln>
        </p:spPr>
      </p:sp>
      <p:sp>
        <p:nvSpPr>
          <p:cNvPr id="4" name="Step 1"/>
          <p:cNvSpPr/>
          <p:nvPr/>
        </p:nvSpPr>
        <p:spPr>
          <a:xfrm>
            <a:off x="731520" y="1554480"/>
            <a:ext cx="640080" cy="640080"/>
          </a:xfrm>
          <a:prstGeom prst="ellipse">
            <a:avLst/>
          </a:prstGeom>
          <a:solidFill>
            <a:schemeClr val="tx2"/>
          </a:solidFill>
          <a:ln w="25400">
            <a:solidFill>
              <a:schemeClr val="accent1"/>
            </a:solidFill>
            <a:prstDash val="solid"/>
          </a:ln>
        </p:spPr>
      </p:sp>
      <p:sp>
        <p:nvSpPr>
          <p:cNvPr id="5" name="Step 1 label"/>
          <p:cNvSpPr txBox="1"/>
          <p:nvPr/>
        </p:nvSpPr>
        <p:spPr>
          <a:xfrm>
            <a:off x="731520" y="1554480"/>
            <a:ext cx="640080" cy="64008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6" name="Step 1 title"/>
          <p:cNvSpPr txBox="1"/>
          <p:nvPr/>
        </p:nvSpPr>
        <p:spPr>
          <a:xfrm>
            <a:off x="228600" y="2377440"/>
            <a:ext cx="1645920" cy="548640"/>
          </a:xfrm>
          <a:prstGeom prst="rect">
            <a:avLst/>
          </a:prstGeom>
          <a:noFill/>
          <a:ln/>
        </p:spPr>
        <p:txBody>
          <a:bodyPr wrap="square" lIns="0" tIns="0" rIns="0" bIns="0" rtlCol="0" anchor="t"/>
          <a:lstStyle/>
          <a:p>
            <a:pPr algn="ctr" indent="0" marL="0">
              <a:buNone/>
            </a:pPr>
            <a:r>
              <a:rPr lang="en-US" sz="1400" b="1" dirty="0">
                <a:solidFill>
                  <a:schemeClr val="bg1"/>
                </a:solidFill>
              </a:rPr>
              <a:t>Xidmətsiz tələbat</a:t>
            </a:r>
            <a:endParaRPr lang="en-US" sz="1400" dirty="0"/>
          </a:p>
        </p:txBody>
      </p:sp>
      <p:sp>
        <p:nvSpPr>
          <p:cNvPr id="7" name="Step 1 body"/>
          <p:cNvSpPr txBox="1"/>
          <p:nvPr/>
        </p:nvSpPr>
        <p:spPr>
          <a:xfrm>
            <a:off x="228600" y="2926080"/>
            <a:ext cx="1645920" cy="548640"/>
          </a:xfrm>
          <a:prstGeom prst="rect">
            <a:avLst/>
          </a:prstGeom>
          <a:noFill/>
          <a:ln/>
        </p:spPr>
        <p:txBody>
          <a:bodyPr wrap="square" lIns="0" tIns="0" rIns="0" bIns="0" rtlCol="0" anchor="t"/>
          <a:lstStyle/>
          <a:p>
            <a:pPr algn="ctr" indent="0" marL="0">
              <a:buNone/>
            </a:pPr>
            <a:r>
              <a:rPr lang="en-US" sz="1200" dirty="0">
                <a:solidFill>
                  <a:schemeClr val="bg2"/>
                </a:solidFill>
              </a:rPr>
              <a:t>istilik xəritəsi</a:t>
            </a:r>
            <a:endParaRPr lang="en-US" sz="1200" dirty="0"/>
          </a:p>
        </p:txBody>
      </p:sp>
      <p:sp>
        <p:nvSpPr>
          <p:cNvPr id="8" name="Step 2"/>
          <p:cNvSpPr/>
          <p:nvPr/>
        </p:nvSpPr>
        <p:spPr>
          <a:xfrm>
            <a:off x="2491740" y="1554480"/>
            <a:ext cx="640080" cy="640080"/>
          </a:xfrm>
          <a:prstGeom prst="ellipse">
            <a:avLst/>
          </a:prstGeom>
          <a:solidFill>
            <a:schemeClr val="tx2"/>
          </a:solidFill>
          <a:ln w="25400">
            <a:solidFill>
              <a:schemeClr val="accent1"/>
            </a:solidFill>
            <a:prstDash val="solid"/>
          </a:ln>
        </p:spPr>
      </p:sp>
      <p:sp>
        <p:nvSpPr>
          <p:cNvPr id="9" name="Step 2 label"/>
          <p:cNvSpPr txBox="1"/>
          <p:nvPr/>
        </p:nvSpPr>
        <p:spPr>
          <a:xfrm>
            <a:off x="2491740" y="1554480"/>
            <a:ext cx="640080" cy="64008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0" name="Step 2 title"/>
          <p:cNvSpPr txBox="1"/>
          <p:nvPr/>
        </p:nvSpPr>
        <p:spPr>
          <a:xfrm>
            <a:off x="1988820" y="2377440"/>
            <a:ext cx="1645920" cy="548640"/>
          </a:xfrm>
          <a:prstGeom prst="rect">
            <a:avLst/>
          </a:prstGeom>
          <a:noFill/>
          <a:ln/>
        </p:spPr>
        <p:txBody>
          <a:bodyPr wrap="square" lIns="0" tIns="0" rIns="0" bIns="0" rtlCol="0" anchor="t"/>
          <a:lstStyle/>
          <a:p>
            <a:pPr algn="ctr" indent="0" marL="0">
              <a:buNone/>
            </a:pPr>
            <a:r>
              <a:rPr lang="en-US" sz="1400" b="1" dirty="0">
                <a:solidFill>
                  <a:schemeClr val="bg1"/>
                </a:solidFill>
              </a:rPr>
              <a:t>Beynəlxalq Avtovağzal</a:t>
            </a:r>
            <a:endParaRPr lang="en-US" sz="1400" dirty="0"/>
          </a:p>
        </p:txBody>
      </p:sp>
      <p:sp>
        <p:nvSpPr>
          <p:cNvPr id="11" name="Step 2 body"/>
          <p:cNvSpPr txBox="1"/>
          <p:nvPr/>
        </p:nvSpPr>
        <p:spPr>
          <a:xfrm>
            <a:off x="1988820" y="2926080"/>
            <a:ext cx="1645920" cy="548640"/>
          </a:xfrm>
          <a:prstGeom prst="rect">
            <a:avLst/>
          </a:prstGeom>
          <a:noFill/>
          <a:ln/>
        </p:spPr>
        <p:txBody>
          <a:bodyPr wrap="square" lIns="0" tIns="0" rIns="0" bIns="0" rtlCol="0" anchor="t"/>
          <a:lstStyle/>
          <a:p>
            <a:pPr algn="ctr" indent="0" marL="0">
              <a:buNone/>
            </a:pPr>
            <a:r>
              <a:rPr lang="en-US" sz="1200" dirty="0">
                <a:solidFill>
                  <a:schemeClr val="bg2"/>
                </a:solidFill>
              </a:rPr>
              <a:t>gəliş balı 2,9/5</a:t>
            </a:r>
            <a:endParaRPr lang="en-US" sz="1200" dirty="0"/>
          </a:p>
        </p:txBody>
      </p:sp>
      <p:sp>
        <p:nvSpPr>
          <p:cNvPr id="12" name="Step 3"/>
          <p:cNvSpPr/>
          <p:nvPr/>
        </p:nvSpPr>
        <p:spPr>
          <a:xfrm>
            <a:off x="4251960" y="1554480"/>
            <a:ext cx="640080" cy="640080"/>
          </a:xfrm>
          <a:prstGeom prst="ellipse">
            <a:avLst/>
          </a:prstGeom>
          <a:solidFill>
            <a:schemeClr val="tx2"/>
          </a:solidFill>
          <a:ln w="25400">
            <a:solidFill>
              <a:schemeClr val="accent1"/>
            </a:solidFill>
            <a:prstDash val="solid"/>
          </a:ln>
        </p:spPr>
      </p:sp>
      <p:sp>
        <p:nvSpPr>
          <p:cNvPr id="13" name="Step 3 label"/>
          <p:cNvSpPr txBox="1"/>
          <p:nvPr/>
        </p:nvSpPr>
        <p:spPr>
          <a:xfrm>
            <a:off x="4251960" y="1554480"/>
            <a:ext cx="640080" cy="64008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4" name="Step 3 title"/>
          <p:cNvSpPr txBox="1"/>
          <p:nvPr/>
        </p:nvSpPr>
        <p:spPr>
          <a:xfrm>
            <a:off x="3749040" y="2377440"/>
            <a:ext cx="1645920" cy="548640"/>
          </a:xfrm>
          <a:prstGeom prst="rect">
            <a:avLst/>
          </a:prstGeom>
          <a:noFill/>
          <a:ln/>
        </p:spPr>
        <p:txBody>
          <a:bodyPr wrap="square" lIns="0" tIns="0" rIns="0" bIns="0" rtlCol="0" anchor="t"/>
          <a:lstStyle/>
          <a:p>
            <a:pPr algn="ctr" indent="0" marL="0">
              <a:buNone/>
            </a:pPr>
            <a:r>
              <a:rPr lang="en-US" sz="1400" b="1" dirty="0">
                <a:solidFill>
                  <a:schemeClr val="bg1"/>
                </a:solidFill>
              </a:rPr>
              <a:t>Tikinti ardıcıllığı</a:t>
            </a:r>
            <a:endParaRPr lang="en-US" sz="1400" dirty="0"/>
          </a:p>
        </p:txBody>
      </p:sp>
      <p:sp>
        <p:nvSpPr>
          <p:cNvPr id="15" name="Step 3 body"/>
          <p:cNvSpPr txBox="1"/>
          <p:nvPr/>
        </p:nvSpPr>
        <p:spPr>
          <a:xfrm>
            <a:off x="3749040" y="2926080"/>
            <a:ext cx="1645920" cy="548640"/>
          </a:xfrm>
          <a:prstGeom prst="rect">
            <a:avLst/>
          </a:prstGeom>
          <a:noFill/>
          <a:ln/>
        </p:spPr>
        <p:txBody>
          <a:bodyPr wrap="square" lIns="0" tIns="0" rIns="0" bIns="0" rtlCol="0" anchor="t"/>
          <a:lstStyle/>
          <a:p>
            <a:pPr algn="ctr" indent="0" marL="0">
              <a:buNone/>
            </a:pPr>
            <a:r>
              <a:rPr lang="en-US" sz="1200" dirty="0">
                <a:solidFill>
                  <a:schemeClr val="bg2"/>
                </a:solidFill>
              </a:rPr>
              <a:t>20 hub → boşluğun 12%-i</a:t>
            </a:r>
            <a:endParaRPr lang="en-US" sz="1200" dirty="0"/>
          </a:p>
        </p:txBody>
      </p:sp>
      <p:sp>
        <p:nvSpPr>
          <p:cNvPr id="16" name="Step 4"/>
          <p:cNvSpPr/>
          <p:nvPr/>
        </p:nvSpPr>
        <p:spPr>
          <a:xfrm>
            <a:off x="6012180" y="1554480"/>
            <a:ext cx="640080" cy="640080"/>
          </a:xfrm>
          <a:prstGeom prst="ellipse">
            <a:avLst/>
          </a:prstGeom>
          <a:solidFill>
            <a:schemeClr val="accent1"/>
          </a:solidFill>
          <a:ln w="25400">
            <a:solidFill>
              <a:schemeClr val="accent1"/>
            </a:solidFill>
            <a:prstDash val="solid"/>
          </a:ln>
        </p:spPr>
      </p:sp>
      <p:sp>
        <p:nvSpPr>
          <p:cNvPr id="17" name="Step 4 label"/>
          <p:cNvSpPr txBox="1"/>
          <p:nvPr/>
        </p:nvSpPr>
        <p:spPr>
          <a:xfrm>
            <a:off x="6012180" y="155448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8" name="Step 4 title"/>
          <p:cNvSpPr txBox="1"/>
          <p:nvPr/>
        </p:nvSpPr>
        <p:spPr>
          <a:xfrm>
            <a:off x="5509260" y="2377440"/>
            <a:ext cx="1645920" cy="548640"/>
          </a:xfrm>
          <a:prstGeom prst="rect">
            <a:avLst/>
          </a:prstGeom>
          <a:noFill/>
          <a:ln/>
        </p:spPr>
        <p:txBody>
          <a:bodyPr wrap="square" lIns="0" tIns="0" rIns="0" bIns="0" rtlCol="0" anchor="t"/>
          <a:lstStyle/>
          <a:p>
            <a:pPr algn="ctr" indent="0" marL="0">
              <a:buNone/>
            </a:pPr>
            <a:r>
              <a:rPr lang="en-US" sz="1400" b="1" dirty="0">
                <a:solidFill>
                  <a:schemeClr val="bg1"/>
                </a:solidFill>
              </a:rPr>
              <a:t>What-if</a:t>
            </a:r>
            <a:endParaRPr lang="en-US" sz="1400" dirty="0"/>
          </a:p>
        </p:txBody>
      </p:sp>
      <p:sp>
        <p:nvSpPr>
          <p:cNvPr id="19" name="Step 4 body"/>
          <p:cNvSpPr txBox="1"/>
          <p:nvPr/>
        </p:nvSpPr>
        <p:spPr>
          <a:xfrm>
            <a:off x="5509260" y="2926080"/>
            <a:ext cx="1645920" cy="548640"/>
          </a:xfrm>
          <a:prstGeom prst="rect">
            <a:avLst/>
          </a:prstGeom>
          <a:noFill/>
          <a:ln/>
        </p:spPr>
        <p:txBody>
          <a:bodyPr wrap="square" lIns="0" tIns="0" rIns="0" bIns="0" rtlCol="0" anchor="t"/>
          <a:lstStyle/>
          <a:p>
            <a:pPr algn="ctr" indent="0" marL="0">
              <a:buNone/>
            </a:pPr>
            <a:r>
              <a:rPr lang="en-US" sz="1200" dirty="0">
                <a:solidFill>
                  <a:schemeClr val="bg2"/>
                </a:solidFill>
              </a:rPr>
              <a:t>öz hub-unu yoxla</a:t>
            </a:r>
            <a:endParaRPr lang="en-US" sz="1200" dirty="0"/>
          </a:p>
        </p:txBody>
      </p:sp>
      <p:sp>
        <p:nvSpPr>
          <p:cNvPr id="20" name="Step 5"/>
          <p:cNvSpPr/>
          <p:nvPr/>
        </p:nvSpPr>
        <p:spPr>
          <a:xfrm>
            <a:off x="7772400" y="1554480"/>
            <a:ext cx="640080" cy="640080"/>
          </a:xfrm>
          <a:prstGeom prst="ellipse">
            <a:avLst/>
          </a:prstGeom>
          <a:solidFill>
            <a:schemeClr val="tx2"/>
          </a:solidFill>
          <a:ln w="25400">
            <a:solidFill>
              <a:schemeClr val="accent1"/>
            </a:solidFill>
            <a:prstDash val="solid"/>
          </a:ln>
        </p:spPr>
      </p:sp>
      <p:sp>
        <p:nvSpPr>
          <p:cNvPr id="21" name="Step 5 label"/>
          <p:cNvSpPr txBox="1"/>
          <p:nvPr/>
        </p:nvSpPr>
        <p:spPr>
          <a:xfrm>
            <a:off x="7772400" y="1554480"/>
            <a:ext cx="640080" cy="640080"/>
          </a:xfrm>
          <a:prstGeom prst="rect">
            <a:avLst/>
          </a:prstGeom>
          <a:noFill/>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22" name="Step 5 title"/>
          <p:cNvSpPr txBox="1"/>
          <p:nvPr/>
        </p:nvSpPr>
        <p:spPr>
          <a:xfrm>
            <a:off x="7269480" y="2377440"/>
            <a:ext cx="1645920" cy="548640"/>
          </a:xfrm>
          <a:prstGeom prst="rect">
            <a:avLst/>
          </a:prstGeom>
          <a:noFill/>
          <a:ln/>
        </p:spPr>
        <p:txBody>
          <a:bodyPr wrap="square" lIns="0" tIns="0" rIns="0" bIns="0" rtlCol="0" anchor="t"/>
          <a:lstStyle/>
          <a:p>
            <a:pPr algn="ctr" indent="0" marL="0">
              <a:buNone/>
            </a:pPr>
            <a:r>
              <a:rPr lang="en-US" sz="1400" b="1" dirty="0">
                <a:solidFill>
                  <a:schemeClr val="bg1"/>
                </a:solidFill>
              </a:rPr>
              <a:t>Eyni büdcə</a:t>
            </a:r>
            <a:endParaRPr lang="en-US" sz="1400" dirty="0"/>
          </a:p>
        </p:txBody>
      </p:sp>
      <p:sp>
        <p:nvSpPr>
          <p:cNvPr id="23" name="Step 5 body"/>
          <p:cNvSpPr txBox="1"/>
          <p:nvPr/>
        </p:nvSpPr>
        <p:spPr>
          <a:xfrm>
            <a:off x="7269480" y="2926080"/>
            <a:ext cx="1645920" cy="548640"/>
          </a:xfrm>
          <a:prstGeom prst="rect">
            <a:avLst/>
          </a:prstGeom>
          <a:noFill/>
          <a:ln/>
        </p:spPr>
        <p:txBody>
          <a:bodyPr wrap="square" lIns="0" tIns="0" rIns="0" bIns="0" rtlCol="0" anchor="t"/>
          <a:lstStyle/>
          <a:p>
            <a:pPr algn="ctr" indent="0" marL="0">
              <a:buNone/>
            </a:pPr>
            <a:r>
              <a:rPr lang="en-US" sz="1200" dirty="0">
                <a:solidFill>
                  <a:schemeClr val="bg2"/>
                </a:solidFill>
              </a:rPr>
              <a:t>seçim qaydalarının müqayisəsi</a:t>
            </a:r>
            <a:endParaRPr lang="en-US" sz="1200" dirty="0"/>
          </a:p>
        </p:txBody>
      </p:sp>
      <p:sp>
        <p:nvSpPr>
          <p:cNvPr id="24" name="Demo note"/>
          <p:cNvSpPr txBox="1"/>
          <p:nvPr/>
        </p:nvSpPr>
        <p:spPr>
          <a:xfrm>
            <a:off x="457200" y="4023360"/>
            <a:ext cx="8229600" cy="365760"/>
          </a:xfrm>
          <a:prstGeom prst="rect">
            <a:avLst/>
          </a:prstGeom>
          <a:noFill/>
          <a:ln/>
        </p:spPr>
        <p:txBody>
          <a:bodyPr wrap="square" lIns="0" tIns="0" rIns="0" bIns="0" rtlCol="0" anchor="t"/>
          <a:lstStyle/>
          <a:p>
            <a:pPr algn="ctr" indent="0" marL="0">
              <a:buNone/>
            </a:pPr>
            <a:r>
              <a:rPr lang="en-US" sz="1400" i="1" dirty="0">
                <a:solidFill>
                  <a:schemeClr val="accent1"/>
                </a:solidFill>
              </a:rPr>
              <a:t>Hamısı real piyada şəbəkəsində hesablanır: yeni hub-un qiymətləndirilməsi ~0,2 saniyə çəkir</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t"/>
          <a:lstStyle/>
          <a:p>
            <a:pPr algn="l" indent="0" marL="0">
              <a:buNone/>
            </a:pPr>
            <a:r>
              <a:rPr lang="en-US" sz="2800" b="1" dirty="0">
                <a:solidFill>
                  <a:schemeClr val="bg1"/>
                </a:solidFill>
                <a:latin typeface="Arial" pitchFamily="34" charset="0"/>
                <a:ea typeface="Arial" pitchFamily="34" charset="-122"/>
                <a:cs typeface="Arial" pitchFamily="34" charset="-120"/>
              </a:rPr>
              <a:t>Eyni büdcə ilə ×7,5 çox yeni səfər</a:t>
            </a:r>
            <a:endParaRPr lang="en-US" sz="2800" dirty="0"/>
          </a:p>
        </p:txBody>
      </p:sp>
      <p:sp>
        <p:nvSpPr>
          <p:cNvPr id="3" name="Budget chart card"/>
          <p:cNvSpPr/>
          <p:nvPr/>
        </p:nvSpPr>
        <p:spPr>
          <a:xfrm>
            <a:off x="457200" y="1097280"/>
            <a:ext cx="4846320" cy="3383280"/>
          </a:xfrm>
          <a:prstGeom prst="roundRect">
            <a:avLst>
              <a:gd name="adj" fmla="val 2162"/>
            </a:avLst>
          </a:prstGeom>
          <a:solidFill>
            <a:schemeClr val="tx2"/>
          </a:solidFill>
          <a:ln w="12700">
            <a:solidFill>
              <a:srgbClr val="2A5163"/>
            </a:solidFill>
            <a:prstDash val="solid"/>
          </a:ln>
        </p:spPr>
      </p:sp>
      <p:graphicFrame>
        <p:nvGraphicFramePr>
          <p:cNvPr id="4" name="Equal budget chart" descr=""/>
          <p:cNvGraphicFramePr/>
          <p:nvPr/>
        </p:nvGraphicFramePr>
        <p:xfrm>
          <a:off x="594360" y="1188720"/>
          <a:ext cx="4572000" cy="3200400"/>
        </p:xfrm>
        <a:graphic xmlns:a="http://schemas.openxmlformats.org/drawingml/2006/main">
          <a:graphicData uri="http://schemas.openxmlformats.org/drawingml/2006/chart">
            <c:chart xmlns:c="http://schemas.openxmlformats.org/drawingml/2006/chart" r:id="rId1"/>
          </a:graphicData>
        </a:graphic>
      </p:graphicFrame>
      <p:sp>
        <p:nvSpPr>
          <p:cNvPr id="5" name="Vs random value"/>
          <p:cNvSpPr txBox="1"/>
          <p:nvPr/>
        </p:nvSpPr>
        <p:spPr>
          <a:xfrm>
            <a:off x="5669280" y="1097280"/>
            <a:ext cx="3017520" cy="68580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×7,5</a:t>
            </a:r>
            <a:endParaRPr lang="en-US" sz="4400" dirty="0"/>
          </a:p>
        </p:txBody>
      </p:sp>
      <p:sp>
        <p:nvSpPr>
          <p:cNvPr id="6" name="Vs random label"/>
          <p:cNvSpPr txBox="1"/>
          <p:nvPr/>
        </p:nvSpPr>
        <p:spPr>
          <a:xfrm>
            <a:off x="5669280" y="1828800"/>
            <a:ext cx="3017520" cy="548640"/>
          </a:xfrm>
          <a:prstGeom prst="rect">
            <a:avLst/>
          </a:prstGeom>
          <a:noFill/>
          <a:ln/>
        </p:spPr>
        <p:txBody>
          <a:bodyPr wrap="square" lIns="0" tIns="0" rIns="0" bIns="0" rtlCol="0" anchor="t"/>
          <a:lstStyle/>
          <a:p>
            <a:pPr indent="0" marL="0">
              <a:buNone/>
            </a:pPr>
            <a:r>
              <a:rPr lang="en-US" sz="1400" dirty="0">
                <a:solidFill>
                  <a:schemeClr val="bg1"/>
                </a:solidFill>
              </a:rPr>
              <a:t>təsadüfi seçimdən çox (200 təkrar)</a:t>
            </a:r>
            <a:endParaRPr lang="en-US" sz="1400" dirty="0"/>
          </a:p>
        </p:txBody>
      </p:sp>
      <p:sp>
        <p:nvSpPr>
          <p:cNvPr id="7" name="Vs center value"/>
          <p:cNvSpPr txBox="1"/>
          <p:nvPr/>
        </p:nvSpPr>
        <p:spPr>
          <a:xfrm>
            <a:off x="5669280" y="2423160"/>
            <a:ext cx="3017520" cy="68580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×20</a:t>
            </a:r>
            <a:endParaRPr lang="en-US" sz="4400" dirty="0"/>
          </a:p>
        </p:txBody>
      </p:sp>
      <p:sp>
        <p:nvSpPr>
          <p:cNvPr id="8" name="Vs center label"/>
          <p:cNvSpPr txBox="1"/>
          <p:nvPr/>
        </p:nvSpPr>
        <p:spPr>
          <a:xfrm>
            <a:off x="5669280" y="3154680"/>
            <a:ext cx="3017520" cy="548640"/>
          </a:xfrm>
          <a:prstGeom prst="rect">
            <a:avLst/>
          </a:prstGeom>
          <a:noFill/>
          <a:ln/>
        </p:spPr>
        <p:txBody>
          <a:bodyPr wrap="square" lIns="0" tIns="0" rIns="0" bIns="0" rtlCol="0" anchor="t"/>
          <a:lstStyle/>
          <a:p>
            <a:pPr indent="0" marL="0">
              <a:buNone/>
            </a:pPr>
            <a:r>
              <a:rPr lang="en-US" sz="1400" dirty="0">
                <a:solidFill>
                  <a:schemeClr val="bg1"/>
                </a:solidFill>
              </a:rPr>
              <a:t>“mərkəzə ən yaxın” qaydasından çox</a:t>
            </a:r>
            <a:endParaRPr lang="en-US" sz="1400" dirty="0"/>
          </a:p>
        </p:txBody>
      </p:sp>
      <p:sp>
        <p:nvSpPr>
          <p:cNvPr id="9" name="Validation"/>
          <p:cNvSpPr txBox="1"/>
          <p:nvPr/>
        </p:nvSpPr>
        <p:spPr>
          <a:xfrm>
            <a:off x="5669280" y="3749040"/>
            <a:ext cx="3017520" cy="731520"/>
          </a:xfrm>
          <a:prstGeom prst="rect">
            <a:avLst/>
          </a:prstGeom>
          <a:noFill/>
          <a:ln/>
        </p:spPr>
        <p:txBody>
          <a:bodyPr wrap="square" lIns="0" tIns="0" rIns="0" bIns="0" rtlCol="0" anchor="t"/>
          <a:lstStyle/>
          <a:p>
            <a:pPr indent="0" marL="0">
              <a:buNone/>
            </a:pPr>
            <a:r>
              <a:rPr lang="en-US" sz="1100" dirty="0">
                <a:solidFill>
                  <a:schemeClr val="bg2"/>
                </a:solidFill>
              </a:rPr>
              <a:t>Doğrulama: mərkəz effekti çıxılanda AUC 0,76 (baza 0,54); müstəqil Apar datası ilə 0,69</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t"/>
          <a:lstStyle/>
          <a:p>
            <a:pPr algn="l" indent="0" marL="0">
              <a:buNone/>
            </a:pPr>
            <a:r>
              <a:rPr lang="en-US" sz="2800" b="1" dirty="0">
                <a:solidFill>
                  <a:schemeClr val="bg1"/>
                </a:solidFill>
                <a:latin typeface="Arial" pitchFamily="34" charset="0"/>
                <a:ea typeface="Arial" pitchFamily="34" charset="-122"/>
                <a:cs typeface="Arial" pitchFamily="34" charset="-120"/>
              </a:rPr>
              <a:t>AYNA-nın parkinq faylında Eyfel qülləsi var</a:t>
            </a:r>
            <a:endParaRPr lang="en-US" sz="2800" dirty="0"/>
          </a:p>
        </p:txBody>
      </p:sp>
      <p:sp>
        <p:nvSpPr>
          <p:cNvPr id="3" name="Tour card"/>
          <p:cNvSpPr/>
          <p:nvPr/>
        </p:nvSpPr>
        <p:spPr>
          <a:xfrm>
            <a:off x="457200" y="1097280"/>
            <a:ext cx="4572000" cy="3383280"/>
          </a:xfrm>
          <a:prstGeom prst="roundRect">
            <a:avLst>
              <a:gd name="adj" fmla="val 2162"/>
            </a:avLst>
          </a:prstGeom>
          <a:solidFill>
            <a:schemeClr val="tx2"/>
          </a:solidFill>
          <a:ln w="12700">
            <a:solidFill>
              <a:srgbClr val="2A5163"/>
            </a:solidFill>
            <a:prstDash val="solid"/>
          </a:ln>
        </p:spPr>
      </p:sp>
      <p:sp>
        <p:nvSpPr>
          <p:cNvPr id="4" name="Tour title"/>
          <p:cNvSpPr txBox="1"/>
          <p:nvPr/>
        </p:nvSpPr>
        <p:spPr>
          <a:xfrm>
            <a:off x="685800" y="1280160"/>
            <a:ext cx="4114800" cy="548640"/>
          </a:xfrm>
          <a:prstGeom prst="rect">
            <a:avLst/>
          </a:prstGeom>
          <a:noFill/>
          <a:ln/>
        </p:spPr>
        <p:txBody>
          <a:bodyPr wrap="square" lIns="0" tIns="0" rIns="0" bIns="0" rtlCol="0" anchor="t"/>
          <a:lstStyle/>
          <a:p>
            <a:pPr indent="0" marL="0">
              <a:buNone/>
            </a:pPr>
            <a:r>
              <a:rPr lang="en-US" sz="1400" b="1" dirty="0">
                <a:solidFill>
                  <a:schemeClr val="accent1"/>
                </a:solidFill>
              </a:rPr>
              <a:t>Rəsmi velo-parkinq KMZ-də Google Earth nümunə turu: 10 nöqtə</a:t>
            </a:r>
            <a:endParaRPr lang="en-US" sz="1400" dirty="0"/>
          </a:p>
        </p:txBody>
      </p:sp>
      <p:sp>
        <p:nvSpPr>
          <p:cNvPr id="5" name="Tour list 1"/>
          <p:cNvSpPr txBox="1"/>
          <p:nvPr/>
        </p:nvSpPr>
        <p:spPr>
          <a:xfrm>
            <a:off x="685800" y="1920240"/>
            <a:ext cx="2057400" cy="2377440"/>
          </a:xfrm>
          <a:prstGeom prst="rect">
            <a:avLst/>
          </a:prstGeom>
          <a:noFill/>
          <a:ln/>
        </p:spPr>
        <p:txBody>
          <a:bodyPr wrap="square" lIns="0" tIns="0" rIns="0" bIns="0" rtlCol="0" anchor="t"/>
          <a:lstStyle/>
          <a:p>
            <a:pPr indent="0" marL="0">
              <a:spcAft>
                <a:spcPts val="600"/>
              </a:spcAft>
              <a:buNone/>
            </a:pPr>
            <a:r>
              <a:rPr lang="en-US" sz="1400" dirty="0">
                <a:solidFill>
                  <a:schemeClr val="bg1"/>
                </a:solidFill>
              </a:rPr>
              <a:t>Eyfel qülləsi</a:t>
            </a:r>
            <a:endParaRPr lang="en-US" sz="1400" dirty="0"/>
          </a:p>
          <a:p>
            <a:pPr indent="0" marL="0">
              <a:spcAft>
                <a:spcPts val="600"/>
              </a:spcAft>
              <a:buNone/>
            </a:pPr>
            <a:r>
              <a:rPr lang="en-US" sz="1400" dirty="0">
                <a:solidFill>
                  <a:schemeClr val="bg1"/>
                </a:solidFill>
              </a:rPr>
              <a:t>Xilaskar İsa, Rio</a:t>
            </a:r>
            <a:endParaRPr lang="en-US" sz="1400" dirty="0"/>
          </a:p>
          <a:p>
            <a:pPr indent="0" marL="0">
              <a:spcAft>
                <a:spcPts val="600"/>
              </a:spcAft>
              <a:buNone/>
            </a:pPr>
            <a:r>
              <a:rPr lang="en-US" sz="1400" dirty="0">
                <a:solidFill>
                  <a:schemeClr val="bg1"/>
                </a:solidFill>
              </a:rPr>
              <a:t>Böyük Kanyon</a:t>
            </a:r>
            <a:endParaRPr lang="en-US" sz="1400" dirty="0"/>
          </a:p>
          <a:p>
            <a:pPr indent="0" marL="0">
              <a:spcAft>
                <a:spcPts val="600"/>
              </a:spcAft>
              <a:buNone/>
            </a:pPr>
            <a:r>
              <a:rPr lang="en-US" sz="1400" dirty="0">
                <a:solidFill>
                  <a:schemeClr val="bg1"/>
                </a:solidFill>
              </a:rPr>
              <a:t>Sidney</a:t>
            </a:r>
            <a:endParaRPr lang="en-US" sz="1400" dirty="0"/>
          </a:p>
          <a:p>
            <a:pPr indent="0" marL="0">
              <a:spcAft>
                <a:spcPts val="600"/>
              </a:spcAft>
              <a:buNone/>
            </a:pPr>
            <a:r>
              <a:rPr lang="en-US" sz="1400" dirty="0">
                <a:solidFill>
                  <a:schemeClr val="bg1"/>
                </a:solidFill>
              </a:rPr>
              <a:t>Vatikan bazilikası</a:t>
            </a:r>
            <a:endParaRPr lang="en-US" sz="1400" dirty="0"/>
          </a:p>
        </p:txBody>
      </p:sp>
      <p:sp>
        <p:nvSpPr>
          <p:cNvPr id="6" name="Tour list 2"/>
          <p:cNvSpPr txBox="1"/>
          <p:nvPr/>
        </p:nvSpPr>
        <p:spPr>
          <a:xfrm>
            <a:off x="2788920" y="1920240"/>
            <a:ext cx="2057400" cy="2377440"/>
          </a:xfrm>
          <a:prstGeom prst="rect">
            <a:avLst/>
          </a:prstGeom>
          <a:noFill/>
          <a:ln/>
        </p:spPr>
        <p:txBody>
          <a:bodyPr wrap="square" lIns="0" tIns="0" rIns="0" bIns="0" rtlCol="0" anchor="t"/>
          <a:lstStyle/>
          <a:p>
            <a:pPr indent="0" marL="0">
              <a:spcAft>
                <a:spcPts val="600"/>
              </a:spcAft>
              <a:buNone/>
            </a:pPr>
            <a:r>
              <a:rPr lang="en-US" sz="1400" dirty="0">
                <a:solidFill>
                  <a:schemeClr val="bg1"/>
                </a:solidFill>
              </a:rPr>
              <a:t>London Eye</a:t>
            </a:r>
            <a:endParaRPr lang="en-US" sz="1400" dirty="0"/>
          </a:p>
          <a:p>
            <a:pPr indent="0" marL="0">
              <a:spcAft>
                <a:spcPts val="600"/>
              </a:spcAft>
              <a:buNone/>
            </a:pPr>
            <a:r>
              <a:rPr lang="en-US" sz="1400" dirty="0">
                <a:solidFill>
                  <a:schemeClr val="bg1"/>
                </a:solidFill>
              </a:rPr>
              <a:t>Titanik</a:t>
            </a:r>
            <a:endParaRPr lang="en-US" sz="1400" dirty="0"/>
          </a:p>
          <a:p>
            <a:pPr indent="0" marL="0">
              <a:spcAft>
                <a:spcPts val="600"/>
              </a:spcAft>
              <a:buNone/>
            </a:pPr>
            <a:r>
              <a:rPr lang="en-US" sz="1400" dirty="0">
                <a:solidFill>
                  <a:schemeClr val="bg1"/>
                </a:solidFill>
              </a:rPr>
              <a:t>Qadağan şəhər</a:t>
            </a:r>
            <a:endParaRPr lang="en-US" sz="1400" dirty="0"/>
          </a:p>
          <a:p>
            <a:pPr indent="0" marL="0">
              <a:spcAft>
                <a:spcPts val="600"/>
              </a:spcAft>
              <a:buNone/>
            </a:pPr>
            <a:r>
              <a:rPr lang="en-US" sz="1400" dirty="0">
                <a:solidFill>
                  <a:schemeClr val="bg1"/>
                </a:solidFill>
              </a:rPr>
              <a:t>Fuji dağı</a:t>
            </a:r>
            <a:endParaRPr lang="en-US" sz="1400" dirty="0"/>
          </a:p>
          <a:p>
            <a:pPr indent="0" marL="0">
              <a:spcAft>
                <a:spcPts val="600"/>
              </a:spcAft>
              <a:buNone/>
            </a:pPr>
            <a:r>
              <a:rPr lang="en-US" sz="1400" dirty="0">
                <a:solidFill>
                  <a:schemeClr val="bg1"/>
                </a:solidFill>
              </a:rPr>
              <a:t>Google qərargahı</a:t>
            </a:r>
            <a:endParaRPr lang="en-US" sz="1400" dirty="0"/>
          </a:p>
        </p:txBody>
      </p:sp>
      <p:sp>
        <p:nvSpPr>
          <p:cNvPr id="7" name="Cyrillic value"/>
          <p:cNvSpPr txBox="1"/>
          <p:nvPr/>
        </p:nvSpPr>
        <p:spPr>
          <a:xfrm>
            <a:off x="5486400" y="1097280"/>
            <a:ext cx="3200400" cy="68580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222</a:t>
            </a:r>
            <a:endParaRPr lang="en-US" sz="4400" dirty="0"/>
          </a:p>
        </p:txBody>
      </p:sp>
      <p:sp>
        <p:nvSpPr>
          <p:cNvPr id="8" name="Cyrillic label"/>
          <p:cNvSpPr txBox="1"/>
          <p:nvPr/>
        </p:nvSpPr>
        <p:spPr>
          <a:xfrm>
            <a:off x="5486400" y="1828800"/>
            <a:ext cx="3200400" cy="548640"/>
          </a:xfrm>
          <a:prstGeom prst="rect">
            <a:avLst/>
          </a:prstGeom>
          <a:noFill/>
          <a:ln/>
        </p:spPr>
        <p:txBody>
          <a:bodyPr wrap="square" lIns="0" tIns="0" rIns="0" bIns="0" rtlCol="0" anchor="t"/>
          <a:lstStyle/>
          <a:p>
            <a:pPr indent="0" marL="0">
              <a:buNone/>
            </a:pPr>
            <a:r>
              <a:rPr lang="en-US" sz="1400" dirty="0">
                <a:solidFill>
                  <a:schemeClr val="bg1"/>
                </a:solidFill>
              </a:rPr>
              <a:t>dayanacaq adında kiril “ә” (latın “ə” əvəzinə)</a:t>
            </a:r>
            <a:endParaRPr lang="en-US" sz="1400" dirty="0"/>
          </a:p>
        </p:txBody>
      </p:sp>
      <p:sp>
        <p:nvSpPr>
          <p:cNvPr id="9" name="Stale routes value"/>
          <p:cNvSpPr txBox="1"/>
          <p:nvPr/>
        </p:nvSpPr>
        <p:spPr>
          <a:xfrm>
            <a:off x="5486400" y="2423160"/>
            <a:ext cx="3200400" cy="68580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55</a:t>
            </a:r>
            <a:endParaRPr lang="en-US" sz="4400" dirty="0"/>
          </a:p>
        </p:txBody>
      </p:sp>
      <p:sp>
        <p:nvSpPr>
          <p:cNvPr id="10" name="Stale routes label"/>
          <p:cNvSpPr txBox="1"/>
          <p:nvPr/>
        </p:nvSpPr>
        <p:spPr>
          <a:xfrm>
            <a:off x="5486400" y="3154680"/>
            <a:ext cx="3200400" cy="548640"/>
          </a:xfrm>
          <a:prstGeom prst="rect">
            <a:avLst/>
          </a:prstGeom>
          <a:noFill/>
          <a:ln/>
        </p:spPr>
        <p:txBody>
          <a:bodyPr wrap="square" lIns="0" tIns="0" rIns="0" bIns="0" rtlCol="0" anchor="t"/>
          <a:lstStyle/>
          <a:p>
            <a:pPr indent="0" marL="0">
              <a:buNone/>
            </a:pPr>
            <a:r>
              <a:rPr lang="en-US" sz="1400" dirty="0">
                <a:solidFill>
                  <a:schemeClr val="bg1"/>
                </a:solidFill>
              </a:rPr>
              <a:t>KMZ marşrutu AYNA-nın cari şəbəkəsində yoxdur</a:t>
            </a:r>
            <a:endParaRPr lang="en-US" sz="1400" dirty="0"/>
          </a:p>
        </p:txBody>
      </p:sp>
      <p:sp>
        <p:nvSpPr>
          <p:cNvPr id="11" name="Quality note"/>
          <p:cNvSpPr txBox="1"/>
          <p:nvPr/>
        </p:nvSpPr>
        <p:spPr>
          <a:xfrm>
            <a:off x="5486400" y="3749040"/>
            <a:ext cx="3200400" cy="731520"/>
          </a:xfrm>
          <a:prstGeom prst="rect">
            <a:avLst/>
          </a:prstGeom>
          <a:noFill/>
          <a:ln/>
        </p:spPr>
        <p:txBody>
          <a:bodyPr wrap="square" lIns="0" tIns="0" rIns="0" bIns="0" rtlCol="0" anchor="t"/>
          <a:lstStyle/>
          <a:p>
            <a:pPr indent="0" marL="0">
              <a:buNone/>
            </a:pPr>
            <a:r>
              <a:rPr lang="en-US" sz="1200" dirty="0">
                <a:solidFill>
                  <a:schemeClr val="bg2"/>
                </a:solidFill>
              </a:rPr>
              <a:t>AYAN bunları avtomatik tapır, düzəldir və insan təsdiqinə verir</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t"/>
          <a:lstStyle/>
          <a:p>
            <a:pPr algn="l" indent="0" marL="0">
              <a:buNone/>
            </a:pPr>
            <a:r>
              <a:rPr lang="en-US" sz="2800" b="1" dirty="0">
                <a:solidFill>
                  <a:schemeClr val="bg1"/>
                </a:solidFill>
                <a:latin typeface="Arial" pitchFamily="34" charset="0"/>
                <a:ea typeface="Arial" pitchFamily="34" charset="-122"/>
                <a:cs typeface="Arial" pitchFamily="34" charset="-120"/>
              </a:rPr>
              <a:t>Real piyada şəbəkəsi, on-prem stek</a:t>
            </a:r>
            <a:endParaRPr lang="en-US" sz="2800" dirty="0"/>
          </a:p>
        </p:txBody>
      </p:sp>
      <p:sp>
        <p:nvSpPr>
          <p:cNvPr id="3" name="Arch 1"/>
          <p:cNvSpPr/>
          <p:nvPr/>
        </p:nvSpPr>
        <p:spPr>
          <a:xfrm>
            <a:off x="457200" y="1188720"/>
            <a:ext cx="1874520" cy="1828800"/>
          </a:xfrm>
          <a:prstGeom prst="roundRect">
            <a:avLst>
              <a:gd name="adj" fmla="val 4000"/>
            </a:avLst>
          </a:prstGeom>
          <a:solidFill>
            <a:schemeClr val="tx2"/>
          </a:solidFill>
          <a:ln w="12700">
            <a:solidFill>
              <a:srgbClr val="2A5163"/>
            </a:solidFill>
            <a:prstDash val="solid"/>
          </a:ln>
        </p:spPr>
      </p:sp>
      <p:sp>
        <p:nvSpPr>
          <p:cNvPr id="4" name="Arch 1 title"/>
          <p:cNvSpPr txBox="1"/>
          <p:nvPr/>
        </p:nvSpPr>
        <p:spPr>
          <a:xfrm>
            <a:off x="640080" y="1325880"/>
            <a:ext cx="1508760" cy="365760"/>
          </a:xfrm>
          <a:prstGeom prst="rect">
            <a:avLst/>
          </a:prstGeom>
          <a:noFill/>
          <a:ln/>
        </p:spPr>
        <p:txBody>
          <a:bodyPr wrap="square" lIns="0" tIns="0" rIns="0" bIns="0" rtlCol="0" anchor="t"/>
          <a:lstStyle/>
          <a:p>
            <a:pPr indent="0" marL="0">
              <a:buNone/>
            </a:pPr>
            <a:r>
              <a:rPr lang="en-US" sz="1600" b="1" dirty="0">
                <a:solidFill>
                  <a:schemeClr val="accent1"/>
                </a:solidFill>
              </a:rPr>
              <a:t>Data</a:t>
            </a:r>
            <a:endParaRPr lang="en-US" sz="1600" dirty="0"/>
          </a:p>
        </p:txBody>
      </p:sp>
      <p:sp>
        <p:nvSpPr>
          <p:cNvPr id="5" name="Arch 1 body"/>
          <p:cNvSpPr txBox="1"/>
          <p:nvPr/>
        </p:nvSpPr>
        <p:spPr>
          <a:xfrm>
            <a:off x="640080" y="1737360"/>
            <a:ext cx="1508760" cy="1234440"/>
          </a:xfrm>
          <a:prstGeom prst="rect">
            <a:avLst/>
          </a:prstGeom>
          <a:noFill/>
          <a:ln/>
        </p:spPr>
        <p:txBody>
          <a:bodyPr wrap="square" lIns="0" tIns="0" rIns="0" bIns="0" rtlCol="0" anchor="t"/>
          <a:lstStyle/>
          <a:p>
            <a:pPr indent="0" marL="0">
              <a:buNone/>
            </a:pPr>
            <a:r>
              <a:rPr lang="en-US" sz="1200" dirty="0">
                <a:solidFill>
                  <a:schemeClr val="bg1"/>
                </a:solidFill>
              </a:rPr>
              <a:t>4 hakaton datası + 10-dan çox əlavə mənbə: AYNA API, opendata.az, WorldPop, OSM, Overture</a:t>
            </a:r>
            <a:endParaRPr lang="en-US" sz="1200" dirty="0"/>
          </a:p>
        </p:txBody>
      </p:sp>
      <p:sp>
        <p:nvSpPr>
          <p:cNvPr id="6" name="Arrow 1"/>
          <p:cNvSpPr txBox="1"/>
          <p:nvPr/>
        </p:nvSpPr>
        <p:spPr>
          <a:xfrm>
            <a:off x="2331720" y="1828800"/>
            <a:ext cx="228600" cy="457200"/>
          </a:xfrm>
          <a:prstGeom prst="rect">
            <a:avLst/>
          </a:prstGeom>
          <a:noFill/>
          <a:ln/>
        </p:spPr>
        <p:txBody>
          <a:bodyPr wrap="square" lIns="0" tIns="0" rIns="0" bIns="0" rtlCol="0" anchor="t"/>
          <a:lstStyle/>
          <a:p>
            <a:pPr algn="ctr" indent="0" marL="0">
              <a:buNone/>
            </a:pPr>
            <a:r>
              <a:rPr lang="en-US" sz="2800" b="1" dirty="0">
                <a:solidFill>
                  <a:schemeClr val="accent1"/>
                </a:solidFill>
              </a:rPr>
              <a:t>›</a:t>
            </a:r>
            <a:endParaRPr lang="en-US" sz="2800" dirty="0"/>
          </a:p>
        </p:txBody>
      </p:sp>
      <p:sp>
        <p:nvSpPr>
          <p:cNvPr id="7" name="Arch 2"/>
          <p:cNvSpPr/>
          <p:nvPr/>
        </p:nvSpPr>
        <p:spPr>
          <a:xfrm>
            <a:off x="2560320" y="1188720"/>
            <a:ext cx="1874520" cy="1828800"/>
          </a:xfrm>
          <a:prstGeom prst="roundRect">
            <a:avLst>
              <a:gd name="adj" fmla="val 4000"/>
            </a:avLst>
          </a:prstGeom>
          <a:solidFill>
            <a:schemeClr val="tx2"/>
          </a:solidFill>
          <a:ln w="12700">
            <a:solidFill>
              <a:srgbClr val="2A5163"/>
            </a:solidFill>
            <a:prstDash val="solid"/>
          </a:ln>
        </p:spPr>
      </p:sp>
      <p:sp>
        <p:nvSpPr>
          <p:cNvPr id="8" name="Arch 2 title"/>
          <p:cNvSpPr txBox="1"/>
          <p:nvPr/>
        </p:nvSpPr>
        <p:spPr>
          <a:xfrm>
            <a:off x="2743200" y="1325880"/>
            <a:ext cx="1508760" cy="365760"/>
          </a:xfrm>
          <a:prstGeom prst="rect">
            <a:avLst/>
          </a:prstGeom>
          <a:noFill/>
          <a:ln/>
        </p:spPr>
        <p:txBody>
          <a:bodyPr wrap="square" lIns="0" tIns="0" rIns="0" bIns="0" rtlCol="0" anchor="t"/>
          <a:lstStyle/>
          <a:p>
            <a:pPr indent="0" marL="0">
              <a:buNone/>
            </a:pPr>
            <a:r>
              <a:rPr lang="en-US" sz="1600" b="1" dirty="0">
                <a:solidFill>
                  <a:schemeClr val="accent1"/>
                </a:solidFill>
              </a:rPr>
              <a:t>Pipeline</a:t>
            </a:r>
            <a:endParaRPr lang="en-US" sz="1600" dirty="0"/>
          </a:p>
        </p:txBody>
      </p:sp>
      <p:sp>
        <p:nvSpPr>
          <p:cNvPr id="9" name="Arch 2 body"/>
          <p:cNvSpPr txBox="1"/>
          <p:nvPr/>
        </p:nvSpPr>
        <p:spPr>
          <a:xfrm>
            <a:off x="2743200" y="1737360"/>
            <a:ext cx="1508760" cy="1234440"/>
          </a:xfrm>
          <a:prstGeom prst="rect">
            <a:avLst/>
          </a:prstGeom>
          <a:noFill/>
          <a:ln/>
        </p:spPr>
        <p:txBody>
          <a:bodyPr wrap="square" lIns="0" tIns="0" rIns="0" bIns="0" rtlCol="0" anchor="t"/>
          <a:lstStyle/>
          <a:p>
            <a:pPr indent="0" marL="0">
              <a:buNone/>
            </a:pPr>
            <a:r>
              <a:rPr lang="en-US" sz="1200" dirty="0">
                <a:solidFill>
                  <a:schemeClr val="bg1"/>
                </a:solidFill>
              </a:rPr>
              <a:t>Python · UTM 39N · piyada qrafı · tələbat modeli · MCLP · doğrulama</a:t>
            </a:r>
            <a:endParaRPr lang="en-US" sz="1200" dirty="0"/>
          </a:p>
        </p:txBody>
      </p:sp>
      <p:sp>
        <p:nvSpPr>
          <p:cNvPr id="10" name="Arrow 2"/>
          <p:cNvSpPr txBox="1"/>
          <p:nvPr/>
        </p:nvSpPr>
        <p:spPr>
          <a:xfrm>
            <a:off x="4434840" y="1828800"/>
            <a:ext cx="228600" cy="457200"/>
          </a:xfrm>
          <a:prstGeom prst="rect">
            <a:avLst/>
          </a:prstGeom>
          <a:noFill/>
          <a:ln/>
        </p:spPr>
        <p:txBody>
          <a:bodyPr wrap="square" lIns="0" tIns="0" rIns="0" bIns="0" rtlCol="0" anchor="t"/>
          <a:lstStyle/>
          <a:p>
            <a:pPr algn="ctr" indent="0" marL="0">
              <a:buNone/>
            </a:pPr>
            <a:r>
              <a:rPr lang="en-US" sz="2800" b="1" dirty="0">
                <a:solidFill>
                  <a:schemeClr val="accent1"/>
                </a:solidFill>
              </a:rPr>
              <a:t>›</a:t>
            </a:r>
            <a:endParaRPr lang="en-US" sz="2800" dirty="0"/>
          </a:p>
        </p:txBody>
      </p:sp>
      <p:sp>
        <p:nvSpPr>
          <p:cNvPr id="11" name="Arch 3"/>
          <p:cNvSpPr/>
          <p:nvPr/>
        </p:nvSpPr>
        <p:spPr>
          <a:xfrm>
            <a:off x="4663440" y="1188720"/>
            <a:ext cx="1874520" cy="1828800"/>
          </a:xfrm>
          <a:prstGeom prst="roundRect">
            <a:avLst>
              <a:gd name="adj" fmla="val 4000"/>
            </a:avLst>
          </a:prstGeom>
          <a:solidFill>
            <a:schemeClr val="tx2"/>
          </a:solidFill>
          <a:ln w="12700">
            <a:solidFill>
              <a:srgbClr val="2A5163"/>
            </a:solidFill>
            <a:prstDash val="solid"/>
          </a:ln>
        </p:spPr>
      </p:sp>
      <p:sp>
        <p:nvSpPr>
          <p:cNvPr id="12" name="Arch 3 title"/>
          <p:cNvSpPr txBox="1"/>
          <p:nvPr/>
        </p:nvSpPr>
        <p:spPr>
          <a:xfrm>
            <a:off x="4846320" y="1325880"/>
            <a:ext cx="1508760" cy="365760"/>
          </a:xfrm>
          <a:prstGeom prst="rect">
            <a:avLst/>
          </a:prstGeom>
          <a:noFill/>
          <a:ln/>
        </p:spPr>
        <p:txBody>
          <a:bodyPr wrap="square" lIns="0" tIns="0" rIns="0" bIns="0" rtlCol="0" anchor="t"/>
          <a:lstStyle/>
          <a:p>
            <a:pPr indent="0" marL="0">
              <a:buNone/>
            </a:pPr>
            <a:r>
              <a:rPr lang="en-US" sz="1600" b="1" dirty="0">
                <a:solidFill>
                  <a:schemeClr val="accent1"/>
                </a:solidFill>
              </a:rPr>
              <a:t>Geo Engine</a:t>
            </a:r>
            <a:endParaRPr lang="en-US" sz="1600" dirty="0"/>
          </a:p>
        </p:txBody>
      </p:sp>
      <p:sp>
        <p:nvSpPr>
          <p:cNvPr id="13" name="Arch 3 body"/>
          <p:cNvSpPr txBox="1"/>
          <p:nvPr/>
        </p:nvSpPr>
        <p:spPr>
          <a:xfrm>
            <a:off x="4846320" y="1737360"/>
            <a:ext cx="1508760" cy="1234440"/>
          </a:xfrm>
          <a:prstGeom prst="rect">
            <a:avLst/>
          </a:prstGeom>
          <a:noFill/>
          <a:ln/>
        </p:spPr>
        <p:txBody>
          <a:bodyPr wrap="square" lIns="0" tIns="0" rIns="0" bIns="0" rtlCol="0" anchor="t"/>
          <a:lstStyle/>
          <a:p>
            <a:pPr indent="0" marL="0">
              <a:buNone/>
            </a:pPr>
            <a:r>
              <a:rPr lang="en-US" sz="1200" dirty="0">
                <a:solidFill>
                  <a:schemeClr val="bg1"/>
                </a:solidFill>
              </a:rPr>
              <a:t>FastAPI · what-if ~0,2 s · optimallaşdırma · təsdiq axını</a:t>
            </a:r>
            <a:endParaRPr lang="en-US" sz="1200" dirty="0"/>
          </a:p>
        </p:txBody>
      </p:sp>
      <p:sp>
        <p:nvSpPr>
          <p:cNvPr id="14" name="Arrow 3"/>
          <p:cNvSpPr txBox="1"/>
          <p:nvPr/>
        </p:nvSpPr>
        <p:spPr>
          <a:xfrm>
            <a:off x="6537960" y="1828800"/>
            <a:ext cx="228600" cy="457200"/>
          </a:xfrm>
          <a:prstGeom prst="rect">
            <a:avLst/>
          </a:prstGeom>
          <a:noFill/>
          <a:ln/>
        </p:spPr>
        <p:txBody>
          <a:bodyPr wrap="square" lIns="0" tIns="0" rIns="0" bIns="0" rtlCol="0" anchor="t"/>
          <a:lstStyle/>
          <a:p>
            <a:pPr algn="ctr" indent="0" marL="0">
              <a:buNone/>
            </a:pPr>
            <a:r>
              <a:rPr lang="en-US" sz="2800" b="1" dirty="0">
                <a:solidFill>
                  <a:schemeClr val="accent1"/>
                </a:solidFill>
              </a:rPr>
              <a:t>›</a:t>
            </a:r>
            <a:endParaRPr lang="en-US" sz="2800" dirty="0"/>
          </a:p>
        </p:txBody>
      </p:sp>
      <p:sp>
        <p:nvSpPr>
          <p:cNvPr id="15" name="Arch 4"/>
          <p:cNvSpPr/>
          <p:nvPr/>
        </p:nvSpPr>
        <p:spPr>
          <a:xfrm>
            <a:off x="6766560" y="1188720"/>
            <a:ext cx="1874520" cy="1828800"/>
          </a:xfrm>
          <a:prstGeom prst="roundRect">
            <a:avLst>
              <a:gd name="adj" fmla="val 4000"/>
            </a:avLst>
          </a:prstGeom>
          <a:solidFill>
            <a:schemeClr val="tx2"/>
          </a:solidFill>
          <a:ln w="12700">
            <a:solidFill>
              <a:srgbClr val="2A5163"/>
            </a:solidFill>
            <a:prstDash val="solid"/>
          </a:ln>
        </p:spPr>
      </p:sp>
      <p:sp>
        <p:nvSpPr>
          <p:cNvPr id="16" name="Arch 4 title"/>
          <p:cNvSpPr txBox="1"/>
          <p:nvPr/>
        </p:nvSpPr>
        <p:spPr>
          <a:xfrm>
            <a:off x="6949440" y="1325880"/>
            <a:ext cx="1508760" cy="365760"/>
          </a:xfrm>
          <a:prstGeom prst="rect">
            <a:avLst/>
          </a:prstGeom>
          <a:noFill/>
          <a:ln/>
        </p:spPr>
        <p:txBody>
          <a:bodyPr wrap="square" lIns="0" tIns="0" rIns="0" bIns="0" rtlCol="0" anchor="t"/>
          <a:lstStyle/>
          <a:p>
            <a:pPr indent="0" marL="0">
              <a:buNone/>
            </a:pPr>
            <a:r>
              <a:rPr lang="en-US" sz="1600" b="1" dirty="0">
                <a:solidFill>
                  <a:schemeClr val="accent1"/>
                </a:solidFill>
              </a:rPr>
              <a:t>Veb</a:t>
            </a:r>
            <a:endParaRPr lang="en-US" sz="1600" dirty="0"/>
          </a:p>
        </p:txBody>
      </p:sp>
      <p:sp>
        <p:nvSpPr>
          <p:cNvPr id="17" name="Arch 4 body"/>
          <p:cNvSpPr txBox="1"/>
          <p:nvPr/>
        </p:nvSpPr>
        <p:spPr>
          <a:xfrm>
            <a:off x="6949440" y="1737360"/>
            <a:ext cx="1508760" cy="1234440"/>
          </a:xfrm>
          <a:prstGeom prst="rect">
            <a:avLst/>
          </a:prstGeom>
          <a:noFill/>
          <a:ln/>
        </p:spPr>
        <p:txBody>
          <a:bodyPr wrap="square" lIns="0" tIns="0" rIns="0" bIns="0" rtlCol="0" anchor="t"/>
          <a:lstStyle/>
          <a:p>
            <a:pPr indent="0" marL="0">
              <a:buNone/>
            </a:pPr>
            <a:r>
              <a:rPr lang="en-US" sz="1200" dirty="0">
                <a:solidFill>
                  <a:schemeClr val="bg1"/>
                </a:solidFill>
              </a:rPr>
              <a:t>Next.js · MapLibre + deck.gl · 2D/3D · açarsız xəritə steki</a:t>
            </a:r>
            <a:endParaRPr lang="en-US" sz="1200" dirty="0"/>
          </a:p>
        </p:txBody>
      </p:sp>
      <p:sp>
        <p:nvSpPr>
          <p:cNvPr id="18" name="Graph value"/>
          <p:cNvSpPr txBox="1"/>
          <p:nvPr/>
        </p:nvSpPr>
        <p:spPr>
          <a:xfrm>
            <a:off x="457200" y="3291840"/>
            <a:ext cx="265176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750 631</a:t>
            </a:r>
            <a:endParaRPr lang="en-US" sz="3000" dirty="0"/>
          </a:p>
        </p:txBody>
      </p:sp>
      <p:sp>
        <p:nvSpPr>
          <p:cNvPr id="19" name="Graph label"/>
          <p:cNvSpPr txBox="1"/>
          <p:nvPr/>
        </p:nvSpPr>
        <p:spPr>
          <a:xfrm>
            <a:off x="457200" y="4023360"/>
            <a:ext cx="2651760" cy="548640"/>
          </a:xfrm>
          <a:prstGeom prst="rect">
            <a:avLst/>
          </a:prstGeom>
          <a:noFill/>
          <a:ln/>
        </p:spPr>
        <p:txBody>
          <a:bodyPr wrap="square" lIns="0" tIns="0" rIns="0" bIns="0" rtlCol="0" anchor="t"/>
          <a:lstStyle/>
          <a:p>
            <a:pPr indent="0" marL="0">
              <a:buNone/>
            </a:pPr>
            <a:r>
              <a:rPr lang="en-US" sz="1400" dirty="0">
                <a:solidFill>
                  <a:schemeClr val="bg1"/>
                </a:solidFill>
              </a:rPr>
              <a:t>düyünlü piyada qrafı (17 187 km)</a:t>
            </a:r>
            <a:endParaRPr lang="en-US" sz="1400" dirty="0"/>
          </a:p>
        </p:txBody>
      </p:sp>
      <p:sp>
        <p:nvSpPr>
          <p:cNvPr id="20" name="CRS value"/>
          <p:cNvSpPr txBox="1"/>
          <p:nvPr/>
        </p:nvSpPr>
        <p:spPr>
          <a:xfrm>
            <a:off x="3246120" y="3291840"/>
            <a:ext cx="265176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UTM 39N</a:t>
            </a:r>
            <a:endParaRPr lang="en-US" sz="3000" dirty="0"/>
          </a:p>
        </p:txBody>
      </p:sp>
      <p:sp>
        <p:nvSpPr>
          <p:cNvPr id="21" name="CRS label"/>
          <p:cNvSpPr txBox="1"/>
          <p:nvPr/>
        </p:nvSpPr>
        <p:spPr>
          <a:xfrm>
            <a:off x="3246120" y="4023360"/>
            <a:ext cx="2651760" cy="548640"/>
          </a:xfrm>
          <a:prstGeom prst="rect">
            <a:avLst/>
          </a:prstGeom>
          <a:noFill/>
          <a:ln/>
        </p:spPr>
        <p:txBody>
          <a:bodyPr wrap="square" lIns="0" tIns="0" rIns="0" bIns="0" rtlCol="0" anchor="t"/>
          <a:lstStyle/>
          <a:p>
            <a:pPr indent="0" marL="0">
              <a:buNone/>
            </a:pPr>
            <a:r>
              <a:rPr lang="en-US" sz="1400" dirty="0">
                <a:solidFill>
                  <a:schemeClr val="bg1"/>
                </a:solidFill>
              </a:rPr>
              <a:t>metrlə ölçmə, Web Mercator təhrifi yoxdur</a:t>
            </a:r>
            <a:endParaRPr lang="en-US" sz="1400" dirty="0"/>
          </a:p>
        </p:txBody>
      </p:sp>
      <p:sp>
        <p:nvSpPr>
          <p:cNvPr id="22" name="Onprem value"/>
          <p:cNvSpPr txBox="1"/>
          <p:nvPr/>
        </p:nvSpPr>
        <p:spPr>
          <a:xfrm>
            <a:off x="6035040" y="3291840"/>
            <a:ext cx="265176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On-prem</a:t>
            </a:r>
            <a:endParaRPr lang="en-US" sz="3000" dirty="0"/>
          </a:p>
        </p:txBody>
      </p:sp>
      <p:sp>
        <p:nvSpPr>
          <p:cNvPr id="23" name="Onprem label"/>
          <p:cNvSpPr txBox="1"/>
          <p:nvPr/>
        </p:nvSpPr>
        <p:spPr>
          <a:xfrm>
            <a:off x="6035040" y="4023360"/>
            <a:ext cx="2651760" cy="548640"/>
          </a:xfrm>
          <a:prstGeom prst="rect">
            <a:avLst/>
          </a:prstGeom>
          <a:noFill/>
          <a:ln/>
        </p:spPr>
        <p:txBody>
          <a:bodyPr wrap="square" lIns="0" tIns="0" rIns="0" bIns="0" rtlCol="0" anchor="t"/>
          <a:lstStyle/>
          <a:p>
            <a:pPr indent="0" marL="0">
              <a:buNone/>
            </a:pPr>
            <a:r>
              <a:rPr lang="en-US" sz="1400" dirty="0">
                <a:solidFill>
                  <a:schemeClr val="bg1"/>
                </a:solidFill>
              </a:rPr>
              <a:t>PostGIS + Docker, AYNA serverində</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t"/>
          <a:lstStyle/>
          <a:p>
            <a:pPr algn="l" indent="0" marL="0">
              <a:buNone/>
            </a:pPr>
            <a:r>
              <a:rPr lang="en-US" sz="2800" b="1" dirty="0">
                <a:solidFill>
                  <a:schemeClr val="bg1"/>
                </a:solidFill>
                <a:latin typeface="Arial" pitchFamily="34" charset="0"/>
                <a:ea typeface="Arial" pitchFamily="34" charset="-122"/>
                <a:cs typeface="Arial" pitchFamily="34" charset="-120"/>
              </a:rPr>
              <a:t>Pilotdan şəhərə</a:t>
            </a:r>
            <a:endParaRPr lang="en-US" sz="2800" dirty="0"/>
          </a:p>
        </p:txBody>
      </p:sp>
      <p:sp>
        <p:nvSpPr>
          <p:cNvPr id="3" name="Roadmap line"/>
          <p:cNvSpPr/>
          <p:nvPr/>
        </p:nvSpPr>
        <p:spPr>
          <a:xfrm>
            <a:off x="777240" y="1600200"/>
            <a:ext cx="5577840" cy="0"/>
          </a:xfrm>
          <a:prstGeom prst="line">
            <a:avLst/>
          </a:prstGeom>
          <a:noFill/>
          <a:ln w="38100">
            <a:solidFill>
              <a:schemeClr val="accent1"/>
            </a:solidFill>
            <a:prstDash val="solid"/>
          </a:ln>
        </p:spPr>
      </p:sp>
      <p:sp>
        <p:nvSpPr>
          <p:cNvPr id="4" name="Phase 1"/>
          <p:cNvSpPr/>
          <p:nvPr/>
        </p:nvSpPr>
        <p:spPr>
          <a:xfrm>
            <a:off x="457200" y="1280160"/>
            <a:ext cx="640080" cy="640080"/>
          </a:xfrm>
          <a:prstGeom prst="ellipse">
            <a:avLst/>
          </a:prstGeom>
          <a:solidFill>
            <a:schemeClr val="accent1"/>
          </a:solidFill>
          <a:ln w="25400">
            <a:solidFill>
              <a:schemeClr val="accent1"/>
            </a:solidFill>
            <a:prstDash val="solid"/>
          </a:ln>
        </p:spPr>
      </p:sp>
      <p:sp>
        <p:nvSpPr>
          <p:cNvPr id="5" name="Phase 1 label"/>
          <p:cNvSpPr txBox="1"/>
          <p:nvPr/>
        </p:nvSpPr>
        <p:spPr>
          <a:xfrm>
            <a:off x="457200" y="1280160"/>
            <a:ext cx="640080" cy="64008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Phase 1 title"/>
          <p:cNvSpPr txBox="1"/>
          <p:nvPr/>
        </p:nvSpPr>
        <p:spPr>
          <a:xfrm>
            <a:off x="457200" y="2103120"/>
            <a:ext cx="2560320" cy="365760"/>
          </a:xfrm>
          <a:prstGeom prst="rect">
            <a:avLst/>
          </a:prstGeom>
          <a:noFill/>
          <a:ln/>
        </p:spPr>
        <p:txBody>
          <a:bodyPr wrap="square" lIns="0" tIns="0" rIns="0" bIns="0" rtlCol="0" anchor="t"/>
          <a:lstStyle/>
          <a:p>
            <a:pPr indent="0" marL="0">
              <a:buNone/>
            </a:pPr>
            <a:r>
              <a:rPr lang="en-US" sz="1600" b="1" dirty="0">
                <a:solidFill>
                  <a:schemeClr val="bg1"/>
                </a:solidFill>
              </a:rPr>
              <a:t>0–3 ay · Pilot</a:t>
            </a:r>
            <a:endParaRPr lang="en-US" sz="1600" dirty="0"/>
          </a:p>
        </p:txBody>
      </p:sp>
      <p:sp>
        <p:nvSpPr>
          <p:cNvPr id="7" name="Phase 1 body"/>
          <p:cNvSpPr txBox="1"/>
          <p:nvPr/>
        </p:nvSpPr>
        <p:spPr>
          <a:xfrm>
            <a:off x="457200" y="2514600"/>
            <a:ext cx="2560320" cy="1188720"/>
          </a:xfrm>
          <a:prstGeom prst="rect">
            <a:avLst/>
          </a:prstGeom>
          <a:noFill/>
          <a:ln/>
        </p:spPr>
        <p:txBody>
          <a:bodyPr wrap="square" lIns="0" tIns="0" rIns="0" bIns="0" rtlCol="0" anchor="t"/>
          <a:lstStyle/>
          <a:p>
            <a:pPr indent="0" marL="0">
              <a:buNone/>
            </a:pPr>
            <a:r>
              <a:rPr lang="en-US" sz="1300" dirty="0">
                <a:solidFill>
                  <a:schemeClr val="bg2"/>
                </a:solidFill>
              </a:rPr>
              <a:t>Rəsmi feed-lər: BakıKart validasiyaları, GPS, scooter operator API-ləri. Top-10 hub-un sahə auditi</a:t>
            </a:r>
            <a:endParaRPr lang="en-US" sz="1300" dirty="0"/>
          </a:p>
        </p:txBody>
      </p:sp>
      <p:sp>
        <p:nvSpPr>
          <p:cNvPr id="8" name="Phase 2"/>
          <p:cNvSpPr/>
          <p:nvPr/>
        </p:nvSpPr>
        <p:spPr>
          <a:xfrm>
            <a:off x="3246120" y="1280160"/>
            <a:ext cx="640080" cy="640080"/>
          </a:xfrm>
          <a:prstGeom prst="ellipse">
            <a:avLst/>
          </a:prstGeom>
          <a:solidFill>
            <a:schemeClr val="tx2"/>
          </a:solidFill>
          <a:ln w="25400">
            <a:solidFill>
              <a:schemeClr val="accent1"/>
            </a:solidFill>
            <a:prstDash val="solid"/>
          </a:ln>
        </p:spPr>
      </p:sp>
      <p:sp>
        <p:nvSpPr>
          <p:cNvPr id="9" name="Phase 2 label"/>
          <p:cNvSpPr txBox="1"/>
          <p:nvPr/>
        </p:nvSpPr>
        <p:spPr>
          <a:xfrm>
            <a:off x="3246120" y="1280160"/>
            <a:ext cx="640080" cy="64008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0" name="Phase 2 title"/>
          <p:cNvSpPr txBox="1"/>
          <p:nvPr/>
        </p:nvSpPr>
        <p:spPr>
          <a:xfrm>
            <a:off x="3246120" y="2103120"/>
            <a:ext cx="2560320" cy="365760"/>
          </a:xfrm>
          <a:prstGeom prst="rect">
            <a:avLst/>
          </a:prstGeom>
          <a:noFill/>
          <a:ln/>
        </p:spPr>
        <p:txBody>
          <a:bodyPr wrap="square" lIns="0" tIns="0" rIns="0" bIns="0" rtlCol="0" anchor="t"/>
          <a:lstStyle/>
          <a:p>
            <a:pPr indent="0" marL="0">
              <a:buNone/>
            </a:pPr>
            <a:r>
              <a:rPr lang="en-US" sz="1600" b="1" dirty="0">
                <a:solidFill>
                  <a:schemeClr val="bg1"/>
                </a:solidFill>
              </a:rPr>
              <a:t>3–6 ay · Tətbiq</a:t>
            </a:r>
            <a:endParaRPr lang="en-US" sz="1600" dirty="0"/>
          </a:p>
        </p:txBody>
      </p:sp>
      <p:sp>
        <p:nvSpPr>
          <p:cNvPr id="11" name="Phase 2 body"/>
          <p:cNvSpPr txBox="1"/>
          <p:nvPr/>
        </p:nvSpPr>
        <p:spPr>
          <a:xfrm>
            <a:off x="3246120" y="2514600"/>
            <a:ext cx="2560320" cy="1188720"/>
          </a:xfrm>
          <a:prstGeom prst="rect">
            <a:avLst/>
          </a:prstGeom>
          <a:noFill/>
          <a:ln/>
        </p:spPr>
        <p:txBody>
          <a:bodyPr wrap="square" lIns="0" tIns="0" rIns="0" bIns="0" rtlCol="0" anchor="t"/>
          <a:lstStyle/>
          <a:p>
            <a:pPr indent="0" marL="0">
              <a:buNone/>
            </a:pPr>
            <a:r>
              <a:rPr lang="en-US" sz="1300" dirty="0">
                <a:solidFill>
                  <a:schemeClr val="bg2"/>
                </a:solidFill>
              </a:rPr>
              <a:t>AYNA serverində on-prem. İlk hub-lar qurulur, nəticə əvvəl/sonra ölçülür</a:t>
            </a:r>
            <a:endParaRPr lang="en-US" sz="1300" dirty="0"/>
          </a:p>
        </p:txBody>
      </p:sp>
      <p:sp>
        <p:nvSpPr>
          <p:cNvPr id="12" name="Phase 3"/>
          <p:cNvSpPr/>
          <p:nvPr/>
        </p:nvSpPr>
        <p:spPr>
          <a:xfrm>
            <a:off x="6035040" y="1280160"/>
            <a:ext cx="640080" cy="640080"/>
          </a:xfrm>
          <a:prstGeom prst="ellipse">
            <a:avLst/>
          </a:prstGeom>
          <a:solidFill>
            <a:schemeClr val="tx2"/>
          </a:solidFill>
          <a:ln w="25400">
            <a:solidFill>
              <a:schemeClr val="accent1"/>
            </a:solidFill>
            <a:prstDash val="solid"/>
          </a:ln>
        </p:spPr>
      </p:sp>
      <p:sp>
        <p:nvSpPr>
          <p:cNvPr id="13" name="Phase 3 label"/>
          <p:cNvSpPr txBox="1"/>
          <p:nvPr/>
        </p:nvSpPr>
        <p:spPr>
          <a:xfrm>
            <a:off x="6035040" y="1280160"/>
            <a:ext cx="640080" cy="64008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4" name="Phase 3 title"/>
          <p:cNvSpPr txBox="1"/>
          <p:nvPr/>
        </p:nvSpPr>
        <p:spPr>
          <a:xfrm>
            <a:off x="6035040" y="2103120"/>
            <a:ext cx="2560320" cy="365760"/>
          </a:xfrm>
          <a:prstGeom prst="rect">
            <a:avLst/>
          </a:prstGeom>
          <a:noFill/>
          <a:ln/>
        </p:spPr>
        <p:txBody>
          <a:bodyPr wrap="square" lIns="0" tIns="0" rIns="0" bIns="0" rtlCol="0" anchor="t"/>
          <a:lstStyle/>
          <a:p>
            <a:pPr indent="0" marL="0">
              <a:buNone/>
            </a:pPr>
            <a:r>
              <a:rPr lang="en-US" sz="1600" b="1" dirty="0">
                <a:solidFill>
                  <a:schemeClr val="bg1"/>
                </a:solidFill>
              </a:rPr>
              <a:t>6–12 ay · Miqyas</a:t>
            </a:r>
            <a:endParaRPr lang="en-US" sz="1600" dirty="0"/>
          </a:p>
        </p:txBody>
      </p:sp>
      <p:sp>
        <p:nvSpPr>
          <p:cNvPr id="15" name="Phase 3 body"/>
          <p:cNvSpPr txBox="1"/>
          <p:nvPr/>
        </p:nvSpPr>
        <p:spPr>
          <a:xfrm>
            <a:off x="6035040" y="2514600"/>
            <a:ext cx="2560320" cy="1188720"/>
          </a:xfrm>
          <a:prstGeom prst="rect">
            <a:avLst/>
          </a:prstGeom>
          <a:noFill/>
          <a:ln/>
        </p:spPr>
        <p:txBody>
          <a:bodyPr wrap="square" lIns="0" tIns="0" rIns="0" bIns="0" rtlCol="0" anchor="t"/>
          <a:lstStyle/>
          <a:p>
            <a:pPr indent="0" marL="0">
              <a:buNone/>
            </a:pPr>
            <a:r>
              <a:rPr lang="en-US" sz="1300" dirty="0">
                <a:solidFill>
                  <a:schemeClr val="bg2"/>
                </a:solidFill>
              </a:rPr>
              <a:t>Gəncə və Sumqayıt eyni pipeline ilə. Velo-zolaq şəbəkəsi: 100 km hədəfinə yol xəritəsi</a:t>
            </a:r>
            <a:endParaRPr lang="en-US" sz="1300" dirty="0"/>
          </a:p>
        </p:txBody>
      </p:sp>
      <p:sp>
        <p:nvSpPr>
          <p:cNvPr id="16" name="Model card"/>
          <p:cNvSpPr/>
          <p:nvPr/>
        </p:nvSpPr>
        <p:spPr>
          <a:xfrm>
            <a:off x="457200" y="3840480"/>
            <a:ext cx="8229600" cy="640080"/>
          </a:xfrm>
          <a:prstGeom prst="roundRect">
            <a:avLst>
              <a:gd name="adj" fmla="val 11429"/>
            </a:avLst>
          </a:prstGeom>
          <a:solidFill>
            <a:schemeClr val="tx2"/>
          </a:solidFill>
          <a:ln w="12700">
            <a:solidFill>
              <a:srgbClr val="2A5163"/>
            </a:solidFill>
            <a:prstDash val="solid"/>
          </a:ln>
        </p:spPr>
      </p:sp>
      <p:sp>
        <p:nvSpPr>
          <p:cNvPr id="17" name="Business model"/>
          <p:cNvSpPr txBox="1"/>
          <p:nvPr/>
        </p:nvSpPr>
        <p:spPr>
          <a:xfrm>
            <a:off x="685800" y="3931920"/>
            <a:ext cx="7772400" cy="457200"/>
          </a:xfrm>
          <a:prstGeom prst="rect">
            <a:avLst/>
          </a:prstGeom>
          <a:noFill/>
          <a:ln/>
        </p:spPr>
        <p:txBody>
          <a:bodyPr wrap="square" lIns="0" tIns="0" rIns="0" bIns="0" rtlCol="0" anchor="ctr"/>
          <a:lstStyle/>
          <a:p>
            <a:pPr indent="0" marL="0">
              <a:buNone/>
            </a:pPr>
            <a:r>
              <a:rPr lang="en-US" sz="1400" b="1" dirty="0">
                <a:solidFill>
                  <a:schemeClr val="accent1"/>
                </a:solidFill>
              </a:rPr>
              <a:t>Model: </a:t>
            </a:r>
            <a:pPr indent="0" marL="0">
              <a:buNone/>
            </a:pPr>
            <a:r>
              <a:rPr lang="en-US" sz="1400" dirty="0">
                <a:solidFill>
                  <a:schemeClr val="bg1"/>
                </a:solidFill>
              </a:rPr>
              <a:t>B2G, on-prem lisenziya və dəstək. Dəyər: büdcənin xidmətsiz tələbata yönəldilməsi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losing line"/>
          <p:cNvSpPr txBox="1"/>
          <p:nvPr/>
        </p:nvSpPr>
        <p:spPr>
          <a:xfrm>
            <a:off x="548640" y="822960"/>
            <a:ext cx="8046720" cy="82296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Hub-u qurmazdan əvvəl sınayın</a:t>
            </a:r>
            <a:endParaRPr lang="en-US" sz="4000" dirty="0"/>
          </a:p>
        </p:txBody>
      </p:sp>
      <p:sp>
        <p:nvSpPr>
          <p:cNvPr id="3" name="Recap 1 value"/>
          <p:cNvSpPr txBox="1"/>
          <p:nvPr/>
        </p:nvSpPr>
        <p:spPr>
          <a:xfrm>
            <a:off x="548640" y="2011680"/>
            <a:ext cx="2468880" cy="685800"/>
          </a:xfrm>
          <a:prstGeom prst="rect">
            <a:avLst/>
          </a:prstGeom>
          <a:noFill/>
          <a:ln/>
        </p:spPr>
        <p:txBody>
          <a:bodyPr wrap="square" lIns="0" tIns="0" rIns="0" bIns="0" rtlCol="0" anchor="t"/>
          <a:lstStyle/>
          <a:p>
            <a:pPr indent="0" marL="0">
              <a:buNone/>
            </a:pPr>
            <a:r>
              <a:rPr lang="en-US" sz="4000" b="1" dirty="0">
                <a:solidFill>
                  <a:schemeClr val="bg1"/>
                </a:solidFill>
                <a:latin typeface="Arial" pitchFamily="34" charset="0"/>
                <a:ea typeface="Arial" pitchFamily="34" charset="-122"/>
                <a:cs typeface="Arial" pitchFamily="34" charset="-120"/>
              </a:rPr>
              <a:t>~2 mln</a:t>
            </a:r>
            <a:endParaRPr lang="en-US" sz="4000" dirty="0"/>
          </a:p>
        </p:txBody>
      </p:sp>
      <p:sp>
        <p:nvSpPr>
          <p:cNvPr id="4" name="Recap 1 label"/>
          <p:cNvSpPr txBox="1"/>
          <p:nvPr/>
        </p:nvSpPr>
        <p:spPr>
          <a:xfrm>
            <a:off x="548640" y="2743200"/>
            <a:ext cx="2468880" cy="548640"/>
          </a:xfrm>
          <a:prstGeom prst="rect">
            <a:avLst/>
          </a:prstGeom>
          <a:noFill/>
          <a:ln/>
        </p:spPr>
        <p:txBody>
          <a:bodyPr wrap="square" lIns="0" tIns="0" rIns="0" bIns="0" rtlCol="0" anchor="t"/>
          <a:lstStyle/>
          <a:p>
            <a:pPr indent="0" marL="0">
              <a:buNone/>
            </a:pPr>
            <a:r>
              <a:rPr lang="en-US" sz="1400" dirty="0">
                <a:solidFill>
                  <a:schemeClr val="bg1"/>
                </a:solidFill>
              </a:rPr>
              <a:t>sakinin 5 dəqiqəlik məsafəsində parkinq yoxdur</a:t>
            </a:r>
            <a:endParaRPr lang="en-US" sz="1400" dirty="0"/>
          </a:p>
        </p:txBody>
      </p:sp>
      <p:sp>
        <p:nvSpPr>
          <p:cNvPr id="5" name="Recap 2 value"/>
          <p:cNvSpPr txBox="1"/>
          <p:nvPr/>
        </p:nvSpPr>
        <p:spPr>
          <a:xfrm>
            <a:off x="3291840" y="2011680"/>
            <a:ext cx="2468880" cy="685800"/>
          </a:xfrm>
          <a:prstGeom prst="rect">
            <a:avLst/>
          </a:prstGeom>
          <a:noFill/>
          <a:ln/>
        </p:spPr>
        <p:txBody>
          <a:bodyPr wrap="square" lIns="0" tIns="0" rIns="0" bIns="0" rtlCol="0" anchor="t"/>
          <a:lstStyle/>
          <a:p>
            <a:pPr indent="0" marL="0">
              <a:buNone/>
            </a:pPr>
            <a:r>
              <a:rPr lang="en-US" sz="4000" b="1" dirty="0">
                <a:solidFill>
                  <a:schemeClr val="bg1"/>
                </a:solidFill>
                <a:latin typeface="Arial" pitchFamily="34" charset="0"/>
                <a:ea typeface="Arial" pitchFamily="34" charset="-122"/>
                <a:cs typeface="Arial" pitchFamily="34" charset="-120"/>
              </a:rPr>
              <a:t>×7,5</a:t>
            </a:r>
            <a:endParaRPr lang="en-US" sz="4000" dirty="0"/>
          </a:p>
        </p:txBody>
      </p:sp>
      <p:sp>
        <p:nvSpPr>
          <p:cNvPr id="6" name="Recap 2 label"/>
          <p:cNvSpPr txBox="1"/>
          <p:nvPr/>
        </p:nvSpPr>
        <p:spPr>
          <a:xfrm>
            <a:off x="3291840" y="2743200"/>
            <a:ext cx="2468880" cy="548640"/>
          </a:xfrm>
          <a:prstGeom prst="rect">
            <a:avLst/>
          </a:prstGeom>
          <a:noFill/>
          <a:ln/>
        </p:spPr>
        <p:txBody>
          <a:bodyPr wrap="square" lIns="0" tIns="0" rIns="0" bIns="0" rtlCol="0" anchor="t"/>
          <a:lstStyle/>
          <a:p>
            <a:pPr indent="0" marL="0">
              <a:buNone/>
            </a:pPr>
            <a:r>
              <a:rPr lang="en-US" sz="1400" dirty="0">
                <a:solidFill>
                  <a:schemeClr val="bg1"/>
                </a:solidFill>
              </a:rPr>
              <a:t>eyni büdcə ilə daha çox yeni səfər</a:t>
            </a:r>
            <a:endParaRPr lang="en-US" sz="1400" dirty="0"/>
          </a:p>
        </p:txBody>
      </p:sp>
      <p:sp>
        <p:nvSpPr>
          <p:cNvPr id="7" name="Recap 3 value"/>
          <p:cNvSpPr txBox="1"/>
          <p:nvPr/>
        </p:nvSpPr>
        <p:spPr>
          <a:xfrm>
            <a:off x="6035040" y="2011680"/>
            <a:ext cx="2468880" cy="685800"/>
          </a:xfrm>
          <a:prstGeom prst="rect">
            <a:avLst/>
          </a:prstGeom>
          <a:noFill/>
          <a:ln/>
        </p:spPr>
        <p:txBody>
          <a:bodyPr wrap="square" lIns="0" tIns="0" rIns="0" bIns="0" rtlCol="0" anchor="t"/>
          <a:lstStyle/>
          <a:p>
            <a:pPr indent="0" marL="0">
              <a:buNone/>
            </a:pPr>
            <a:r>
              <a:rPr lang="en-US" sz="4000" b="1" dirty="0">
                <a:solidFill>
                  <a:schemeClr val="bg1"/>
                </a:solidFill>
                <a:latin typeface="Arial" pitchFamily="34" charset="0"/>
                <a:ea typeface="Arial" pitchFamily="34" charset="-122"/>
                <a:cs typeface="Arial" pitchFamily="34" charset="-120"/>
              </a:rPr>
              <a:t>0,2 s</a:t>
            </a:r>
            <a:endParaRPr lang="en-US" sz="4000" dirty="0"/>
          </a:p>
        </p:txBody>
      </p:sp>
      <p:sp>
        <p:nvSpPr>
          <p:cNvPr id="8" name="Recap 3 label"/>
          <p:cNvSpPr txBox="1"/>
          <p:nvPr/>
        </p:nvSpPr>
        <p:spPr>
          <a:xfrm>
            <a:off x="6035040" y="2743200"/>
            <a:ext cx="2468880" cy="548640"/>
          </a:xfrm>
          <a:prstGeom prst="rect">
            <a:avLst/>
          </a:prstGeom>
          <a:noFill/>
          <a:ln/>
        </p:spPr>
        <p:txBody>
          <a:bodyPr wrap="square" lIns="0" tIns="0" rIns="0" bIns="0" rtlCol="0" anchor="t"/>
          <a:lstStyle/>
          <a:p>
            <a:pPr indent="0" marL="0">
              <a:buNone/>
            </a:pPr>
            <a:r>
              <a:rPr lang="en-US" sz="1400" dirty="0">
                <a:solidFill>
                  <a:schemeClr val="bg1"/>
                </a:solidFill>
              </a:rPr>
              <a:t>hər what-if, real piyada şəbəkəsində</a:t>
            </a:r>
            <a:endParaRPr lang="en-US" sz="1400" dirty="0"/>
          </a:p>
        </p:txBody>
      </p:sp>
      <p:sp>
        <p:nvSpPr>
          <p:cNvPr id="9" name="Thanks"/>
          <p:cNvSpPr txBox="1"/>
          <p:nvPr/>
        </p:nvSpPr>
        <p:spPr>
          <a:xfrm>
            <a:off x="548640" y="3931920"/>
            <a:ext cx="8046720" cy="457200"/>
          </a:xfrm>
          <a:prstGeom prst="rect">
            <a:avLst/>
          </a:prstGeom>
          <a:noFill/>
          <a:ln/>
        </p:spPr>
        <p:txBody>
          <a:bodyPr wrap="square" lIns="0" tIns="0" rIns="0" bIns="0" rtlCol="0" anchor="t"/>
          <a:lstStyle/>
          <a:p>
            <a:pPr indent="0" marL="0">
              <a:buNone/>
            </a:pPr>
            <a:r>
              <a:rPr lang="en-US" sz="2000" dirty="0">
                <a:solidFill>
                  <a:schemeClr val="bg1"/>
                </a:solidFill>
              </a:rPr>
              <a:t>Təşəkkürlər! Suallarınızı gözləyirik.</a:t>
            </a:r>
            <a:endParaRPr lang="en-US" sz="2000" dirty="0"/>
          </a:p>
        </p:txBody>
      </p:sp>
      <p:sp>
        <p:nvSpPr>
          <p:cNvPr id="10" name="Footer"/>
          <p:cNvSpPr txBox="1"/>
          <p:nvPr/>
        </p:nvSpPr>
        <p:spPr>
          <a:xfrm>
            <a:off x="548640" y="4572000"/>
            <a:ext cx="8046720" cy="274320"/>
          </a:xfrm>
          <a:prstGeom prst="rect">
            <a:avLst/>
          </a:prstGeom>
          <a:noFill/>
          <a:ln/>
        </p:spPr>
        <p:txBody>
          <a:bodyPr wrap="square" lIns="0" tIns="0" rIns="0" bIns="0" rtlCol="0" anchor="t"/>
          <a:lstStyle/>
          <a:p>
            <a:pPr indent="0" marL="0">
              <a:buNone/>
            </a:pPr>
            <a:r>
              <a:rPr lang="en-US" sz="1100" dirty="0">
                <a:solidFill>
                  <a:schemeClr val="bg2"/>
                </a:solidFill>
              </a:rPr>
              <a:t>AYAN · TransportTech hakatonu 2026</a:t>
            </a:r>
            <a:endParaRPr lang="en-US" sz="1100" dirty="0"/>
          </a:p>
        </p:txBody>
      </p:sp>
    </p:spTree>
  </p:cSld>
  <p:clrMapOvr>
    <a:masterClrMapping/>
  </p:clrMapOvr>
</p:sld>
</file>

<file path=ppt/theme/theme1.xml><?xml version="1.0" encoding="utf-8"?>
<a:theme xmlns:a="http://schemas.openxmlformats.org/drawingml/2006/main" name="AYAN">
  <a:themeElements>
    <a:clrScheme name="AYAN">
      <a:dk1>
        <a:srgbClr val="0F2430"/>
      </a:dk1>
      <a:lt1>
        <a:srgbClr val="E8EEF0"/>
      </a:lt1>
      <a:dk2>
        <a:srgbClr val="16313F"/>
      </a:dk2>
      <a:lt2>
        <a:srgbClr val="8FA6B2"/>
      </a:lt2>
      <a:accent1>
        <a:srgbClr val="F2A93B"/>
      </a:accent1>
      <a:accent2>
        <a:srgbClr val="D6403A"/>
      </a:accent2>
      <a:accent3>
        <a:srgbClr val="3D8FD6"/>
      </a:accent3>
      <a:accent4>
        <a:srgbClr val="3CB37A"/>
      </a:accent4>
      <a:accent5>
        <a:srgbClr val="C9A0FF"/>
      </a:accent5>
      <a:accent6>
        <a:srgbClr val="4FD2D9"/>
      </a:accent6>
      <a:hlink>
        <a:srgbClr val="4FD2D9"/>
      </a:hlink>
      <a:folHlink>
        <a:srgbClr val="C9A0FF"/>
      </a:folHlink>
    </a:clrScheme>
    <a:fontScheme name="AYA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AYAN: Bakı üçün mobility hub planlayıcısı</dc:title>
  <dc:subject>PptxGenJS Presentation</dc:subject>
  <dc:creator>AYAN</dc:creator>
  <cp:lastModifiedBy>AYAN</cp:lastModifiedBy>
  <cp:revision>1</cp:revision>
  <dcterms:created xsi:type="dcterms:W3CDTF">2026-10-18T05:12:31Z</dcterms:created>
  <dcterms:modified xsi:type="dcterms:W3CDTF">2026-10-18T05:12:31Z</dcterms:modified>
</cp:coreProperties>
</file>