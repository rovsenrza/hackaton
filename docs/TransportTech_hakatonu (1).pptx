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sldIdLst>
    <p:sldId id="256" r:id="rId5"/>
    <p:sldId id="259" r:id="rId6"/>
    <p:sldId id="272" r:id="rId7"/>
    <p:sldId id="266" r:id="rId8"/>
    <p:sldId id="267" r:id="rId9"/>
    <p:sldId id="260" r:id="rId10"/>
    <p:sldId id="273" r:id="rId11"/>
    <p:sldId id="258" r:id="rId12"/>
    <p:sldId id="274" r:id="rId13"/>
    <p:sldId id="277" r:id="rId14"/>
    <p:sldId id="257" r:id="rId15"/>
  </p:sldIdLst>
  <p:sldSz cx="12192000" cy="6858000"/>
  <p:notesSz cx="6858000" cy="9144000"/>
  <p:defaultTextStyle>
    <a:defPPr>
      <a:defRPr lang="az-Latn-A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0782"/>
    <a:srgbClr val="D778E4"/>
    <a:srgbClr val="490C88"/>
    <a:srgbClr val="AC59E0"/>
    <a:srgbClr val="985EEA"/>
    <a:srgbClr val="A67DDE"/>
    <a:srgbClr val="4005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62" d="100"/>
          <a:sy n="62" d="100"/>
        </p:scale>
        <p:origin x="75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az-Latn-A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D583A5-C65C-4A55-8D3D-C65A1461F2A8}" type="datetimeFigureOut">
              <a:rPr lang="az-Latn-AZ" smtClean="0"/>
              <a:t>17.10.2026</a:t>
            </a:fld>
            <a:endParaRPr lang="az-Latn-A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az-Latn-A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z-Latn-A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az-Latn-A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596DBA-093C-46A2-8DC6-0E247394EBC2}" type="slidenum">
              <a:rPr lang="az-Latn-AZ" smtClean="0"/>
              <a:t>‹#›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2531938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z-Latn-A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96DBA-093C-46A2-8DC6-0E247394EBC2}" type="slidenum">
              <a:rPr lang="az-Latn-AZ" smtClean="0"/>
              <a:t>1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19095343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DCB5A-EDB2-C338-D9F4-B0F9EC148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70693C-BA68-6220-3A2A-D65296A81A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948FC6-CE16-4599-A7F3-9BE7B9B364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z-Latn-AZ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966C40-47F8-E996-167A-4895C26718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96DBA-093C-46A2-8DC6-0E247394EBC2}" type="slidenum">
              <a:rPr lang="az-Latn-AZ" smtClean="0"/>
              <a:t>2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17970251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93AC9-A74E-9410-CC76-CE6078BFC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6320C4-2D5B-5D3E-9B1F-9C70325573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99E93E-0BD1-CAD6-47F1-6EE5E6BE07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z-Latn-AZ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249FF1-E336-9778-890F-6656BBC278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96DBA-093C-46A2-8DC6-0E247394EBC2}" type="slidenum">
              <a:rPr lang="az-Latn-AZ" smtClean="0"/>
              <a:t>4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19499743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71859-F7B0-8E8C-F406-EF791082A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BDF3E3-BC99-7A27-3591-AC27D767C8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B348CA-B2FF-E13E-482D-8A2F229113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z-Latn-AZ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BBE81F-C904-A100-2116-B75EAD7690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96DBA-093C-46A2-8DC6-0E247394EBC2}" type="slidenum">
              <a:rPr lang="az-Latn-AZ" smtClean="0"/>
              <a:t>5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42865164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E1F10-FA58-4545-03A9-55B3000F4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DC62C3-E365-ABA4-29F2-8CDABB4EE2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880141-DF6B-8D70-44F8-79C0743292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z-Latn-AZ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49C1DB-7957-46E8-5E4B-462F1240AA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96DBA-093C-46A2-8DC6-0E247394EBC2}" type="slidenum">
              <a:rPr lang="az-Latn-AZ" smtClean="0"/>
              <a:t>6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13562396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AC64E-DBA6-8FAD-4A85-C90CA9D81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ACB523-B94E-D36D-03A1-9ECF0D5835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C15855-3975-D719-4112-6C3B1A3687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z-Latn-AZ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3589F9-2844-6DCC-F18A-07F48A210F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96DBA-093C-46A2-8DC6-0E247394EBC2}" type="slidenum">
              <a:rPr lang="az-Latn-AZ" smtClean="0"/>
              <a:t>8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39547046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74ED0-72D7-2D82-3D5F-DD9184A2A9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az-Latn-A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E7945A-D0E8-1378-75D1-DE0A063598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az-Latn-A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128DBC-C2A7-B200-592D-FB784435B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6162C-EBF8-49F6-BE71-68B0793230D9}" type="datetimeFigureOut">
              <a:rPr lang="az-Latn-AZ" smtClean="0"/>
              <a:t>17.10.2026</a:t>
            </a:fld>
            <a:endParaRPr lang="az-Latn-A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040F86-F43F-F641-491F-85E015E96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z-Latn-A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0D7896-3D88-9F96-27B1-E6F5B169D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8CF8B-190F-4D94-A1DC-230D8947117A}" type="slidenum">
              <a:rPr lang="az-Latn-AZ" smtClean="0"/>
              <a:t>‹#›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3443830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EC5B8-8CF3-79AA-8A10-230E90704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z-Latn-A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6482A4-F333-1E66-FDC8-70EFE1954A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z-Latn-A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4D3466-F07F-14AE-5507-9BC48ABF0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6162C-EBF8-49F6-BE71-68B0793230D9}" type="datetimeFigureOut">
              <a:rPr lang="az-Latn-AZ" smtClean="0"/>
              <a:t>17.10.2026</a:t>
            </a:fld>
            <a:endParaRPr lang="az-Latn-A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B9BC5C-A74A-CB0F-60E9-FBBD692BA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z-Latn-A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7375E-282C-17ED-A3AD-CD527184F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8CF8B-190F-4D94-A1DC-230D8947117A}" type="slidenum">
              <a:rPr lang="az-Latn-AZ" smtClean="0"/>
              <a:t>‹#›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2365411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8B603-D874-598B-B154-753DF3DAD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az-Latn-A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E7F35B-01B7-7375-70B6-7CA39B785B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8C9E9B-DA08-2E1E-E4D1-43470FE91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6162C-EBF8-49F6-BE71-68B0793230D9}" type="datetimeFigureOut">
              <a:rPr lang="az-Latn-AZ" smtClean="0"/>
              <a:t>17.10.2026</a:t>
            </a:fld>
            <a:endParaRPr lang="az-Latn-A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7A77C3-3DE1-CA05-2241-03E5CBA90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z-Latn-A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0A970C-703E-FDCF-4AF0-6DE37E03E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8CF8B-190F-4D94-A1DC-230D8947117A}" type="slidenum">
              <a:rPr lang="az-Latn-AZ" smtClean="0"/>
              <a:t>‹#›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351101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18F69-893C-5319-C53D-BCF3F9CA7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z-Latn-A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B2B18-3E3E-05E8-BC74-1FB92B241A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z-Latn-A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652A94-1437-A834-A993-80437B6BF8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z-Latn-A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13103F-EFC6-ECC3-4845-BA899805B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6162C-EBF8-49F6-BE71-68B0793230D9}" type="datetimeFigureOut">
              <a:rPr lang="az-Latn-AZ" smtClean="0"/>
              <a:t>17.10.2026</a:t>
            </a:fld>
            <a:endParaRPr lang="az-Latn-A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74637C-2C57-09F2-4F65-4C2514DF9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z-Latn-A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3DAC3B-D588-7711-1E75-D7DC19B4B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8CF8B-190F-4D94-A1DC-230D8947117A}" type="slidenum">
              <a:rPr lang="az-Latn-AZ" smtClean="0"/>
              <a:t>‹#›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3260777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10D28-578C-53CD-2FC7-41D8CA371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az-Latn-A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425B81-2559-92B5-F7C8-F5204F655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6677D7-BEAA-910C-286B-818FF50133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z-Latn-A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D24918-E909-343C-E682-3F79F1E77A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BB2C2A-28BB-73C9-BEFD-90D5C09282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z-Latn-A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E8E9ED-322B-EA75-B6D7-3B5EFB6AB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6162C-EBF8-49F6-BE71-68B0793230D9}" type="datetimeFigureOut">
              <a:rPr lang="az-Latn-AZ" smtClean="0"/>
              <a:t>17.10.2026</a:t>
            </a:fld>
            <a:endParaRPr lang="az-Latn-A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A484C0-FA36-91D4-9900-CB7D71E89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z-Latn-A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6F3946-FBC8-A33F-02AE-39D80C8FF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8CF8B-190F-4D94-A1DC-230D8947117A}" type="slidenum">
              <a:rPr lang="az-Latn-AZ" smtClean="0"/>
              <a:t>‹#›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510759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44E4D-E691-E7C4-1684-54A5D796A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z-Latn-A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C3AA70-0D0C-C734-BDCC-D749E3951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6162C-EBF8-49F6-BE71-68B0793230D9}" type="datetimeFigureOut">
              <a:rPr lang="az-Latn-AZ" smtClean="0"/>
              <a:t>17.10.2026</a:t>
            </a:fld>
            <a:endParaRPr lang="az-Latn-A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C59A5D-3BFA-8206-345A-1A17EB2AA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z-Latn-A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FDBB42-BAFF-1CB2-6338-4B589EC71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8CF8B-190F-4D94-A1DC-230D8947117A}" type="slidenum">
              <a:rPr lang="az-Latn-AZ" smtClean="0"/>
              <a:t>‹#›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566070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E6B741-CEC3-25F4-038E-BDDF87697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6162C-EBF8-49F6-BE71-68B0793230D9}" type="datetimeFigureOut">
              <a:rPr lang="az-Latn-AZ" smtClean="0"/>
              <a:t>17.10.2026</a:t>
            </a:fld>
            <a:endParaRPr lang="az-Latn-A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29B4AC-A4B8-6BBA-90DF-9CCFD0EBC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z-Latn-A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74B720-2E6A-8D83-5D35-702279B3F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8CF8B-190F-4D94-A1DC-230D8947117A}" type="slidenum">
              <a:rPr lang="az-Latn-AZ" smtClean="0"/>
              <a:t>‹#›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360143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0F40F-853B-A1D1-470D-7B42E4D5D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az-Latn-A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B5C32-B949-94C4-6C05-71FC584125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z-Latn-A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B22882-E908-C8BF-C0C8-369F2800BC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D61375-C81E-70E5-E290-A71F9692F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6162C-EBF8-49F6-BE71-68B0793230D9}" type="datetimeFigureOut">
              <a:rPr lang="az-Latn-AZ" smtClean="0"/>
              <a:t>17.10.2026</a:t>
            </a:fld>
            <a:endParaRPr lang="az-Latn-A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6C686E-686D-9838-E89F-AD836DEEC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z-Latn-A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49320C-D5E9-CDD5-C1D7-8CCB672B8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8CF8B-190F-4D94-A1DC-230D8947117A}" type="slidenum">
              <a:rPr lang="az-Latn-AZ" smtClean="0"/>
              <a:t>‹#›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2459122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6D28B-2A6E-61FD-684D-AD68CF9DC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az-Latn-A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6AD30A-FBE0-1C33-C54B-A34693CE34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z-Latn-A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343114-0232-8CED-4666-E6EEFAEBE7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246EFB-D129-9DE9-FC67-AEE1020AF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6162C-EBF8-49F6-BE71-68B0793230D9}" type="datetimeFigureOut">
              <a:rPr lang="az-Latn-AZ" smtClean="0"/>
              <a:t>17.10.2026</a:t>
            </a:fld>
            <a:endParaRPr lang="az-Latn-A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FE61FD-F270-2CFD-2DD2-8039E5DFE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z-Latn-A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DEE2F0-F827-3CD2-960E-218AF5476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8CF8B-190F-4D94-A1DC-230D8947117A}" type="slidenum">
              <a:rPr lang="az-Latn-AZ" smtClean="0"/>
              <a:t>‹#›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1264577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00B34-1E71-BB1B-25C9-22005DA84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z-Latn-A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6C6B97-97C3-5073-7560-ACF13A9109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z-Latn-A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13CB21-8B81-D317-112E-77F3F5A7A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6162C-EBF8-49F6-BE71-68B0793230D9}" type="datetimeFigureOut">
              <a:rPr lang="az-Latn-AZ" smtClean="0"/>
              <a:t>17.10.2026</a:t>
            </a:fld>
            <a:endParaRPr lang="az-Latn-A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FDC2A8-9574-FC27-4F0E-22B0F69D4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z-Latn-A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EFF3B-D7C6-8E89-FF3E-3C9A4C7CA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8CF8B-190F-4D94-A1DC-230D8947117A}" type="slidenum">
              <a:rPr lang="az-Latn-AZ" smtClean="0"/>
              <a:t>‹#›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3120207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B17152-5833-53AC-7CB5-F3720FFBAE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az-Latn-A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D3CA6B-9C49-1A68-232B-C2F87DDA11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z-Latn-A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B1AD69-91A1-B43C-E9B3-84173B00E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6162C-EBF8-49F6-BE71-68B0793230D9}" type="datetimeFigureOut">
              <a:rPr lang="az-Latn-AZ" smtClean="0"/>
              <a:t>17.10.2026</a:t>
            </a:fld>
            <a:endParaRPr lang="az-Latn-A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89768-8F0F-FBED-EF17-7135AFC59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z-Latn-A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4FDF8-4F56-E0DA-BA21-36984E9C3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8CF8B-190F-4D94-A1DC-230D8947117A}" type="slidenum">
              <a:rPr lang="az-Latn-AZ" smtClean="0"/>
              <a:t>‹#›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3854818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4888BF-7911-748F-0B52-D7FAA3FC3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az-Latn-A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0FA19E-A565-A292-4EEB-FBF4E842B7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z-Latn-A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9D6C7-3E85-9DD8-9193-824CA125E9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76162C-EBF8-49F6-BE71-68B0793230D9}" type="datetimeFigureOut">
              <a:rPr lang="az-Latn-AZ" smtClean="0"/>
              <a:t>17.10.2026</a:t>
            </a:fld>
            <a:endParaRPr lang="az-Latn-A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70B10-649E-E6C2-7B24-BA8FF0C7C1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az-Latn-A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5C0403-43AC-D58C-2F6D-1D2023330C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38CF8B-190F-4D94-A1DC-230D8947117A}" type="slidenum">
              <a:rPr lang="az-Latn-AZ" smtClean="0"/>
              <a:t>‹#›</a:t>
            </a:fld>
            <a:endParaRPr lang="az-Latn-AZ"/>
          </a:p>
        </p:txBody>
      </p:sp>
    </p:spTree>
    <p:extLst>
      <p:ext uri="{BB962C8B-B14F-4D97-AF65-F5344CB8AC3E}">
        <p14:creationId xmlns:p14="http://schemas.microsoft.com/office/powerpoint/2010/main" val="1010413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z-Latn-A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5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3.png"/><Relationship Id="rId10" Type="http://schemas.openxmlformats.org/officeDocument/2006/relationships/image" Target="../media/image14.png"/><Relationship Id="rId4" Type="http://schemas.openxmlformats.org/officeDocument/2006/relationships/image" Target="../media/image4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4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5.png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5.png"/><Relationship Id="rId7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3.png"/><Relationship Id="rId9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13" Type="http://schemas.openxmlformats.org/officeDocument/2006/relationships/image" Target="../media/image32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svg"/><Relationship Id="rId11" Type="http://schemas.openxmlformats.org/officeDocument/2006/relationships/image" Target="../media/image30.png"/><Relationship Id="rId5" Type="http://schemas.openxmlformats.org/officeDocument/2006/relationships/image" Target="../media/image26.png"/><Relationship Id="rId10" Type="http://schemas.openxmlformats.org/officeDocument/2006/relationships/image" Target="../media/image3.png"/><Relationship Id="rId4" Type="http://schemas.openxmlformats.org/officeDocument/2006/relationships/image" Target="../media/image25.svg"/><Relationship Id="rId9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1C36840-C272-4B7B-C877-3756E2FC16EB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4005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z-Latn-AZ"/>
          </a:p>
        </p:txBody>
      </p:sp>
      <p:pic>
        <p:nvPicPr>
          <p:cNvPr id="9" name="Picture 8" descr="A purple circle with a long shadow&#10;&#10;AI-generated content may be incorrect.">
            <a:extLst>
              <a:ext uri="{FF2B5EF4-FFF2-40B4-BE49-F238E27FC236}">
                <a16:creationId xmlns:a16="http://schemas.microsoft.com/office/drawing/2014/main" id="{A7BB0ABF-644F-0FB5-83F6-9626FB1A02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6513116" y="1179117"/>
            <a:ext cx="6332206" cy="5025560"/>
          </a:xfrm>
          <a:prstGeom prst="rect">
            <a:avLst/>
          </a:prstGeom>
        </p:spPr>
      </p:pic>
      <p:pic>
        <p:nvPicPr>
          <p:cNvPr id="11" name="Picture 10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D2B74ED2-3FB1-66E9-C37B-78AA9BA11B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592" y="5006196"/>
            <a:ext cx="3716679" cy="11000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54AB660-C8E3-D4F7-63F1-7EA47A592C41}"/>
              </a:ext>
            </a:extLst>
          </p:cNvPr>
          <p:cNvSpPr txBox="1"/>
          <p:nvPr/>
        </p:nvSpPr>
        <p:spPr>
          <a:xfrm>
            <a:off x="502658" y="564298"/>
            <a:ext cx="64008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TransportTech</a:t>
            </a:r>
          </a:p>
          <a:p>
            <a:r>
              <a:rPr lang="en-US" sz="4400" b="1" dirty="0">
                <a:solidFill>
                  <a:schemeClr val="bg1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hakatonu</a:t>
            </a:r>
            <a:endParaRPr lang="az-Latn-AZ" sz="4400" b="1" dirty="0">
              <a:solidFill>
                <a:schemeClr val="bg1"/>
              </a:solidFill>
              <a:latin typeface="Poppins" panose="00000500000000000000" pitchFamily="2" charset="0"/>
              <a:ea typeface="Calibri" panose="020F0502020204030204" pitchFamily="34" charset="0"/>
              <a:cs typeface="Poppins" panose="00000500000000000000" pitchFamily="2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" y="2240280"/>
            <a:ext cx="56692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FFFFFF"/>
                </a:solidFill>
                <a:latin typeface="Poppins"/>
              </a:rPr>
              <a:t>İRİA və AYNA-nın birgə təşkilatçılığı ilə</a:t>
            </a:r>
          </a:p>
          <a:p>
            <a:pPr algn="l"/>
            <a:r>
              <a:rPr sz="2200" b="1" i="0">
                <a:solidFill>
                  <a:srgbClr val="D778E4"/>
                </a:solidFill>
                <a:latin typeface="Poppins"/>
              </a:rPr>
              <a:t>17–18 oktyabr 2026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10591" y="5138928"/>
            <a:ext cx="0" cy="822960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AYNA logo badge"/>
          <p:cNvSpPr/>
          <p:nvPr/>
        </p:nvSpPr>
        <p:spPr>
          <a:xfrm>
            <a:off x="4803199" y="5072542"/>
            <a:ext cx="2024016" cy="95573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AYNA logo" descr="ayna_blue_hq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4374" y="5193792"/>
            <a:ext cx="1681664" cy="713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535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28904-9C34-068C-DDE2-62243B624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urple circle with a long shadow&#10;&#10;AI-generated content may be incorrect.">
            <a:extLst>
              <a:ext uri="{FF2B5EF4-FFF2-40B4-BE49-F238E27FC236}">
                <a16:creationId xmlns:a16="http://schemas.microsoft.com/office/drawing/2014/main" id="{890FDBC1-1192-9B67-D6AA-2FF8388981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32"/>
          <a:stretch/>
        </p:blipFill>
        <p:spPr>
          <a:xfrm flipH="1">
            <a:off x="5746750" y="1287574"/>
            <a:ext cx="6445250" cy="55704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4615D20-57D9-B3D2-27F1-E806B48FF8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983" t="-6029" b="-1"/>
          <a:stretch/>
        </p:blipFill>
        <p:spPr>
          <a:xfrm flipV="1">
            <a:off x="0" y="6246326"/>
            <a:ext cx="4351892" cy="256882"/>
          </a:xfrm>
          <a:prstGeom prst="rect">
            <a:avLst/>
          </a:prstGeom>
        </p:spPr>
      </p:pic>
      <p:pic>
        <p:nvPicPr>
          <p:cNvPr id="7" name="Picture 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E99706D3-F38A-B10F-5A30-626ACF3474B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9778" y="291709"/>
            <a:ext cx="2096239" cy="620428"/>
          </a:xfrm>
          <a:prstGeom prst="rect">
            <a:avLst/>
          </a:prstGeom>
        </p:spPr>
      </p:pic>
      <p:cxnSp>
        <p:nvCxnSpPr>
          <p:cNvPr id="8" name="Connector 7"/>
          <p:cNvCxnSpPr/>
          <p:nvPr/>
        </p:nvCxnSpPr>
        <p:spPr>
          <a:xfrm>
            <a:off x="10546634" y="365760"/>
            <a:ext cx="0" cy="475488"/>
          </a:xfrm>
          <a:prstGeom prst="line">
            <a:avLst/>
          </a:prstGeom>
          <a:ln w="9525">
            <a:solidFill>
              <a:srgbClr val="C1C1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AYNA logo" descr="ayna_blue_hq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47802" y="365760"/>
            <a:ext cx="1121109" cy="4754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114300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AC59E0"/>
                </a:solidFill>
                <a:latin typeface="Poppins"/>
              </a:rPr>
              <a:t>AÇILIŞ NİTQİ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645920"/>
            <a:ext cx="512064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4400" b="1" i="0">
                <a:solidFill>
                  <a:srgbClr val="420782"/>
                </a:solidFill>
                <a:latin typeface="Poppins"/>
              </a:rPr>
              <a:t>Elxan</a:t>
            </a:r>
          </a:p>
          <a:p>
            <a:pPr algn="l">
              <a:lnSpc>
                <a:spcPct val="95000"/>
              </a:lnSpc>
            </a:pPr>
            <a:r>
              <a:rPr sz="4400" b="1" i="0">
                <a:solidFill>
                  <a:srgbClr val="420782"/>
                </a:solidFill>
                <a:latin typeface="Poppins"/>
              </a:rPr>
              <a:t>Şükürov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11880"/>
            <a:ext cx="4572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420782"/>
                </a:solidFill>
                <a:latin typeface="Poppins"/>
              </a:rPr>
              <a:t>Startaplara dəstək şöbəsinin müdiri</a:t>
            </a:r>
          </a:p>
          <a:p>
            <a:pPr algn="l"/>
            <a:r>
              <a:rPr sz="1800" b="1" i="0">
                <a:solidFill>
                  <a:srgbClr val="AC59E0"/>
                </a:solidFill>
                <a:latin typeface="Poppins"/>
              </a:rPr>
              <a:t>İRİA</a:t>
            </a:r>
          </a:p>
        </p:txBody>
      </p:sp>
      <p:sp>
        <p:nvSpPr>
          <p:cNvPr id="13" name="Oval 12"/>
          <p:cNvSpPr/>
          <p:nvPr/>
        </p:nvSpPr>
        <p:spPr>
          <a:xfrm>
            <a:off x="5916167" y="1435608"/>
            <a:ext cx="3017520" cy="3017520"/>
          </a:xfrm>
          <a:prstGeom prst="ellipse">
            <a:avLst/>
          </a:prstGeom>
          <a:noFill/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hoto elxan" descr="elxa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16167" y="1435608"/>
            <a:ext cx="3017520" cy="3017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1961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28904-9C34-068C-DDE2-62243B624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urple circle with a long shadow&#10;&#10;AI-generated content may be incorrect.">
            <a:extLst>
              <a:ext uri="{FF2B5EF4-FFF2-40B4-BE49-F238E27FC236}">
                <a16:creationId xmlns:a16="http://schemas.microsoft.com/office/drawing/2014/main" id="{890FDBC1-1192-9B67-D6AA-2FF8388981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32"/>
          <a:stretch/>
        </p:blipFill>
        <p:spPr>
          <a:xfrm flipH="1">
            <a:off x="5746750" y="1287574"/>
            <a:ext cx="6445250" cy="55704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4615D20-57D9-B3D2-27F1-E806B48FF8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983" t="-6029" b="-1"/>
          <a:stretch/>
        </p:blipFill>
        <p:spPr>
          <a:xfrm flipV="1">
            <a:off x="0" y="6246326"/>
            <a:ext cx="4351892" cy="256882"/>
          </a:xfrm>
          <a:prstGeom prst="rect">
            <a:avLst/>
          </a:prstGeom>
        </p:spPr>
      </p:pic>
      <p:pic>
        <p:nvPicPr>
          <p:cNvPr id="7" name="Picture 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E99706D3-F38A-B10F-5A30-626ACF3474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9778" y="291709"/>
            <a:ext cx="2096239" cy="620428"/>
          </a:xfrm>
          <a:prstGeom prst="rect">
            <a:avLst/>
          </a:prstGeom>
        </p:spPr>
      </p:pic>
      <p:cxnSp>
        <p:nvCxnSpPr>
          <p:cNvPr id="8" name="Connector 7"/>
          <p:cNvCxnSpPr/>
          <p:nvPr/>
        </p:nvCxnSpPr>
        <p:spPr>
          <a:xfrm>
            <a:off x="10546634" y="365760"/>
            <a:ext cx="0" cy="475488"/>
          </a:xfrm>
          <a:prstGeom prst="line">
            <a:avLst/>
          </a:prstGeom>
          <a:ln w="9525">
            <a:solidFill>
              <a:srgbClr val="C1C1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AYNA logo" descr="ayna_blue_hq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47802" y="365760"/>
            <a:ext cx="1121109" cy="4754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114300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AC59E0"/>
                </a:solidFill>
                <a:latin typeface="Poppins"/>
              </a:rPr>
              <a:t>AÇILIŞ NİTQİ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645920"/>
            <a:ext cx="512064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4400" b="1" i="0">
                <a:solidFill>
                  <a:srgbClr val="420782"/>
                </a:solidFill>
                <a:latin typeface="Poppins"/>
              </a:rPr>
              <a:t>Elmira</a:t>
            </a:r>
          </a:p>
          <a:p>
            <a:pPr algn="l">
              <a:lnSpc>
                <a:spcPct val="95000"/>
              </a:lnSpc>
            </a:pPr>
            <a:r>
              <a:rPr sz="4400" b="1" i="0">
                <a:solidFill>
                  <a:srgbClr val="420782"/>
                </a:solidFill>
                <a:latin typeface="Poppins"/>
              </a:rPr>
              <a:t>Abasova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11880"/>
            <a:ext cx="4572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420782"/>
                </a:solidFill>
                <a:latin typeface="Poppins"/>
              </a:rPr>
              <a:t>Daxili Kommunikasiya və Tədbirlərin Təşkili Şöbəsinin rəhbəri</a:t>
            </a:r>
          </a:p>
          <a:p>
            <a:pPr algn="l"/>
            <a:r>
              <a:rPr sz="1800" b="1" i="0">
                <a:solidFill>
                  <a:srgbClr val="AC59E0"/>
                </a:solidFill>
                <a:latin typeface="Poppins"/>
              </a:rPr>
              <a:t>AYNA</a:t>
            </a:r>
          </a:p>
        </p:txBody>
      </p:sp>
      <p:sp>
        <p:nvSpPr>
          <p:cNvPr id="13" name="Oval 12"/>
          <p:cNvSpPr/>
          <p:nvPr/>
        </p:nvSpPr>
        <p:spPr>
          <a:xfrm>
            <a:off x="5916167" y="1435608"/>
            <a:ext cx="3017520" cy="3017520"/>
          </a:xfrm>
          <a:prstGeom prst="ellipse">
            <a:avLst/>
          </a:prstGeom>
          <a:noFill/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hoto elmira" descr="elmir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6167" y="1435608"/>
            <a:ext cx="3017520" cy="3017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1961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07D00-364B-D676-047F-E2260BC48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94FA00D1-272A-64FD-6A1D-9E220D5525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86273" y="1401296"/>
            <a:ext cx="5905726" cy="4651476"/>
          </a:xfrm>
          <a:prstGeom prst="rect">
            <a:avLst/>
          </a:prstGeom>
        </p:spPr>
      </p:pic>
      <p:sp>
        <p:nvSpPr>
          <p:cNvPr id="29" name="Oval 28">
            <a:extLst>
              <a:ext uri="{FF2B5EF4-FFF2-40B4-BE49-F238E27FC236}">
                <a16:creationId xmlns:a16="http://schemas.microsoft.com/office/drawing/2014/main" id="{0B3A71F2-C9BE-409E-D2A2-2F74ADBA13D4}"/>
              </a:ext>
            </a:extLst>
          </p:cNvPr>
          <p:cNvSpPr/>
          <p:nvPr/>
        </p:nvSpPr>
        <p:spPr>
          <a:xfrm>
            <a:off x="6807484" y="1907759"/>
            <a:ext cx="3638551" cy="3638550"/>
          </a:xfrm>
          <a:prstGeom prst="ellipse">
            <a:avLst/>
          </a:prstGeom>
          <a:noFill/>
          <a:ln w="635000">
            <a:solidFill>
              <a:srgbClr val="D778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z-Latn-AZ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Google Shape;2552;p15">
            <a:extLst>
              <a:ext uri="{FF2B5EF4-FFF2-40B4-BE49-F238E27FC236}">
                <a16:creationId xmlns:a16="http://schemas.microsoft.com/office/drawing/2014/main" id="{5D44B322-AB11-99EE-BCC6-058D388A51F6}"/>
              </a:ext>
            </a:extLst>
          </p:cNvPr>
          <p:cNvSpPr/>
          <p:nvPr/>
        </p:nvSpPr>
        <p:spPr>
          <a:xfrm>
            <a:off x="6844196" y="1907759"/>
            <a:ext cx="3638552" cy="3644605"/>
          </a:xfrm>
          <a:prstGeom prst="arc">
            <a:avLst>
              <a:gd name="adj1" fmla="val 16200000"/>
              <a:gd name="adj2" fmla="val 10736486"/>
            </a:avLst>
          </a:prstGeom>
          <a:noFill/>
          <a:ln w="127000" cap="rnd" cmpd="sng">
            <a:solidFill>
              <a:schemeClr val="bg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solidFill>
                <a:srgbClr val="400580"/>
              </a:solidFill>
              <a:latin typeface="Poppins" panose="00000500000000000000" pitchFamily="2" charset="0"/>
              <a:ea typeface="Calibri" panose="020F0502020204030204" pitchFamily="34" charset="0"/>
              <a:cs typeface="Poppins" panose="00000500000000000000" pitchFamily="2" charset="0"/>
              <a:sym typeface="Calibri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0839A3C-4E92-D9FE-4524-FEE6D2BD8F18}"/>
              </a:ext>
            </a:extLst>
          </p:cNvPr>
          <p:cNvGrpSpPr/>
          <p:nvPr/>
        </p:nvGrpSpPr>
        <p:grpSpPr>
          <a:xfrm>
            <a:off x="9512825" y="2979275"/>
            <a:ext cx="1580910" cy="1580910"/>
            <a:chOff x="9547005" y="2813477"/>
            <a:chExt cx="1580910" cy="1580910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9B4EA1E7-3FEE-0D3E-6F7B-2C4A102D8E23}"/>
                </a:ext>
              </a:extLst>
            </p:cNvPr>
            <p:cNvSpPr/>
            <p:nvPr/>
          </p:nvSpPr>
          <p:spPr>
            <a:xfrm>
              <a:off x="9547005" y="2813477"/>
              <a:ext cx="1580910" cy="1580910"/>
            </a:xfrm>
            <a:prstGeom prst="ellipse">
              <a:avLst/>
            </a:prstGeom>
            <a:solidFill>
              <a:srgbClr val="985EE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z-Latn-AZ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7" name="Google Shape;2660;p18">
              <a:extLst>
                <a:ext uri="{FF2B5EF4-FFF2-40B4-BE49-F238E27FC236}">
                  <a16:creationId xmlns:a16="http://schemas.microsoft.com/office/drawing/2014/main" id="{87B5BE58-96E6-CF2F-1827-52A30A25EAF3}"/>
                </a:ext>
              </a:extLst>
            </p:cNvPr>
            <p:cNvSpPr/>
            <p:nvPr/>
          </p:nvSpPr>
          <p:spPr>
            <a:xfrm>
              <a:off x="9956619" y="3216811"/>
              <a:ext cx="774246" cy="774242"/>
            </a:xfrm>
            <a:custGeom>
              <a:avLst/>
              <a:gdLst/>
              <a:ahLst/>
              <a:cxnLst/>
              <a:rect l="l" t="t" r="r" b="b"/>
              <a:pathLst>
                <a:path w="55" h="55" extrusionOk="0">
                  <a:moveTo>
                    <a:pt x="27" y="55"/>
                  </a:moveTo>
                  <a:cubicBezTo>
                    <a:pt x="12" y="55"/>
                    <a:pt x="0" y="42"/>
                    <a:pt x="0" y="27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42" y="0"/>
                    <a:pt x="55" y="12"/>
                    <a:pt x="55" y="27"/>
                  </a:cubicBezTo>
                  <a:cubicBezTo>
                    <a:pt x="55" y="42"/>
                    <a:pt x="42" y="55"/>
                    <a:pt x="27" y="55"/>
                  </a:cubicBezTo>
                  <a:close/>
                  <a:moveTo>
                    <a:pt x="27" y="8"/>
                  </a:moveTo>
                  <a:cubicBezTo>
                    <a:pt x="16" y="8"/>
                    <a:pt x="8" y="17"/>
                    <a:pt x="8" y="27"/>
                  </a:cubicBezTo>
                  <a:cubicBezTo>
                    <a:pt x="8" y="38"/>
                    <a:pt x="16" y="47"/>
                    <a:pt x="27" y="47"/>
                  </a:cubicBezTo>
                  <a:cubicBezTo>
                    <a:pt x="38" y="47"/>
                    <a:pt x="47" y="38"/>
                    <a:pt x="47" y="27"/>
                  </a:cubicBezTo>
                  <a:cubicBezTo>
                    <a:pt x="47" y="17"/>
                    <a:pt x="38" y="8"/>
                    <a:pt x="27" y="8"/>
                  </a:cubicBezTo>
                  <a:close/>
                  <a:moveTo>
                    <a:pt x="32" y="31"/>
                  </a:moveTo>
                  <a:cubicBezTo>
                    <a:pt x="32" y="31"/>
                    <a:pt x="31" y="32"/>
                    <a:pt x="31" y="32"/>
                  </a:cubicBezTo>
                  <a:cubicBezTo>
                    <a:pt x="19" y="32"/>
                    <a:pt x="19" y="32"/>
                    <a:pt x="19" y="32"/>
                  </a:cubicBezTo>
                  <a:cubicBezTo>
                    <a:pt x="19" y="32"/>
                    <a:pt x="18" y="31"/>
                    <a:pt x="18" y="31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8" y="28"/>
                    <a:pt x="19" y="27"/>
                    <a:pt x="19" y="27"/>
                  </a:cubicBezTo>
                  <a:cubicBezTo>
                    <a:pt x="27" y="27"/>
                    <a:pt x="27" y="27"/>
                    <a:pt x="27" y="27"/>
                  </a:cubicBezTo>
                  <a:cubicBezTo>
                    <a:pt x="27" y="15"/>
                    <a:pt x="27" y="15"/>
                    <a:pt x="27" y="15"/>
                  </a:cubicBezTo>
                  <a:cubicBezTo>
                    <a:pt x="27" y="14"/>
                    <a:pt x="28" y="14"/>
                    <a:pt x="28" y="14"/>
                  </a:cubicBezTo>
                  <a:cubicBezTo>
                    <a:pt x="31" y="14"/>
                    <a:pt x="31" y="14"/>
                    <a:pt x="31" y="14"/>
                  </a:cubicBezTo>
                  <a:cubicBezTo>
                    <a:pt x="31" y="14"/>
                    <a:pt x="32" y="14"/>
                    <a:pt x="32" y="15"/>
                  </a:cubicBezTo>
                  <a:lnTo>
                    <a:pt x="32" y="3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51425" tIns="25700" rIns="51425" bIns="2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  <a:sym typeface="Calibri"/>
              </a:endParaRP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28882038-48B0-30BC-1014-9C0C5C55B542}"/>
              </a:ext>
            </a:extLst>
          </p:cNvPr>
          <p:cNvSpPr txBox="1"/>
          <p:nvPr/>
        </p:nvSpPr>
        <p:spPr>
          <a:xfrm>
            <a:off x="7370064" y="2999232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dirty="0">
                <a:solidFill>
                  <a:schemeClr val="bg1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  <a:sym typeface="Arial"/>
              </a:rPr>
              <a:t>4+3</a:t>
            </a:r>
            <a:endParaRPr lang="en-US" sz="6000" b="1" dirty="0">
              <a:solidFill>
                <a:schemeClr val="bg1"/>
              </a:solidFill>
              <a:latin typeface="Poppins" panose="00000500000000000000" pitchFamily="2" charset="0"/>
              <a:ea typeface="Calibri" panose="020F0502020204030204" pitchFamily="34" charset="0"/>
              <a:cs typeface="Poppins" panose="00000500000000000000" pitchFamily="2" charset="0"/>
            </a:endParaRPr>
          </a:p>
          <a:p>
            <a:pPr algn="ctr"/>
            <a:r>
              <a:rPr sz="1600" b="1">
                <a:solidFill>
                  <a:srgbClr val="FFFFFF"/>
                </a:solidFill>
                <a:latin typeface="Poppins"/>
              </a:rPr>
              <a:t>dəqiqə</a:t>
            </a:r>
          </a:p>
        </p:txBody>
      </p:sp>
      <p:pic>
        <p:nvPicPr>
          <p:cNvPr id="10" name="Picture 9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28CD200A-A036-08E2-066A-F96E9D8D79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9778" y="291709"/>
            <a:ext cx="2096239" cy="620428"/>
          </a:xfrm>
          <a:prstGeom prst="rect">
            <a:avLst/>
          </a:prstGeom>
        </p:spPr>
      </p:pic>
      <p:cxnSp>
        <p:nvCxnSpPr>
          <p:cNvPr id="30" name="Connector 29"/>
          <p:cNvCxnSpPr/>
          <p:nvPr/>
        </p:nvCxnSpPr>
        <p:spPr>
          <a:xfrm>
            <a:off x="10546634" y="365760"/>
            <a:ext cx="0" cy="475488"/>
          </a:xfrm>
          <a:prstGeom prst="line">
            <a:avLst/>
          </a:prstGeom>
          <a:ln w="9525">
            <a:solidFill>
              <a:srgbClr val="C1C1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1" name="AYNA logo" descr="ayna_blue_hq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47802" y="365760"/>
            <a:ext cx="1121109" cy="475488"/>
          </a:xfrm>
          <a:prstGeom prst="rect">
            <a:avLst/>
          </a:prstGeom>
        </p:spPr>
      </p:pic>
      <p:sp>
        <p:nvSpPr>
          <p:cNvPr id="32" name="Title"/>
          <p:cNvSpPr txBox="1"/>
          <p:nvPr/>
        </p:nvSpPr>
        <p:spPr>
          <a:xfrm>
            <a:off x="502920" y="411480"/>
            <a:ext cx="7315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420782"/>
                </a:solidFill>
                <a:latin typeface="Poppins"/>
              </a:rPr>
              <a:t>Ümumi qaydalar</a:t>
            </a:r>
          </a:p>
        </p:txBody>
      </p:sp>
      <p:sp>
        <p:nvSpPr>
          <p:cNvPr id="33" name="Oval 32"/>
          <p:cNvSpPr/>
          <p:nvPr/>
        </p:nvSpPr>
        <p:spPr>
          <a:xfrm>
            <a:off x="548640" y="1572768"/>
            <a:ext cx="512064" cy="512064"/>
          </a:xfrm>
          <a:prstGeom prst="ellipse">
            <a:avLst/>
          </a:prstGeom>
          <a:solidFill>
            <a:srgbClr val="AC5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1554480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420782"/>
                </a:solidFill>
                <a:latin typeface="Poppins"/>
              </a:rPr>
              <a:t>Bütün komanda üzvləri hər iki gün tam şəkildə iştirak etməlidir.</a:t>
            </a:r>
          </a:p>
        </p:txBody>
      </p:sp>
      <p:sp>
        <p:nvSpPr>
          <p:cNvPr id="35" name="Oval 34"/>
          <p:cNvSpPr/>
          <p:nvPr/>
        </p:nvSpPr>
        <p:spPr>
          <a:xfrm>
            <a:off x="548640" y="2468879"/>
            <a:ext cx="512064" cy="512064"/>
          </a:xfrm>
          <a:prstGeom prst="ellipse">
            <a:avLst/>
          </a:prstGeom>
          <a:solidFill>
            <a:srgbClr val="985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80160" y="2450591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420782"/>
                </a:solidFill>
                <a:latin typeface="Poppins"/>
              </a:rPr>
              <a:t>Gecikmək və günün yekunlaşması ilə bağlı WhatsApp qrupuna mesaj gəlmədən məkanı tərk etmək olmaz.</a:t>
            </a:r>
          </a:p>
        </p:txBody>
      </p:sp>
      <p:sp>
        <p:nvSpPr>
          <p:cNvPr id="37" name="Oval 36"/>
          <p:cNvSpPr/>
          <p:nvPr/>
        </p:nvSpPr>
        <p:spPr>
          <a:xfrm>
            <a:off x="548640" y="3364991"/>
            <a:ext cx="512064" cy="512064"/>
          </a:xfrm>
          <a:prstGeom prst="ellipse">
            <a:avLst/>
          </a:prstGeom>
          <a:solidFill>
            <a:srgbClr val="D77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80160" y="3346703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420782"/>
                </a:solidFill>
                <a:latin typeface="Poppins"/>
              </a:rPr>
              <a:t>Təklif edəcəyiniz həll yolları sizinlə bölüşüləcək istiqamətə uyğun olmalıdır.</a:t>
            </a:r>
          </a:p>
        </p:txBody>
      </p:sp>
      <p:sp>
        <p:nvSpPr>
          <p:cNvPr id="39" name="Oval 38"/>
          <p:cNvSpPr/>
          <p:nvPr/>
        </p:nvSpPr>
        <p:spPr>
          <a:xfrm>
            <a:off x="548640" y="4261103"/>
            <a:ext cx="512064" cy="512064"/>
          </a:xfrm>
          <a:prstGeom prst="ellipse">
            <a:avLst/>
          </a:prstGeom>
          <a:solidFill>
            <a:srgbClr val="AC5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Poppins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80160" y="4242816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420782"/>
                </a:solidFill>
                <a:latin typeface="Poppins"/>
              </a:rPr>
              <a:t>Hazırlanan təqdimatlar “pitch deck” formatına uyğun olmalıdır.</a:t>
            </a:r>
          </a:p>
        </p:txBody>
      </p:sp>
      <p:sp>
        <p:nvSpPr>
          <p:cNvPr id="41" name="Oval 40"/>
          <p:cNvSpPr/>
          <p:nvPr/>
        </p:nvSpPr>
        <p:spPr>
          <a:xfrm>
            <a:off x="548640" y="5157215"/>
            <a:ext cx="512064" cy="512064"/>
          </a:xfrm>
          <a:prstGeom prst="ellipse">
            <a:avLst/>
          </a:prstGeom>
          <a:solidFill>
            <a:srgbClr val="985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Poppins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5138927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420782"/>
                </a:solidFill>
                <a:latin typeface="Poppins"/>
              </a:rPr>
              <a:t>Hər təqdimat 4 dəqiqə olacaq, əlavə 3 dəqiqə sual-cavab üçün ayrılır.</a:t>
            </a:r>
          </a:p>
        </p:txBody>
      </p:sp>
    </p:spTree>
    <p:extLst>
      <p:ext uri="{BB962C8B-B14F-4D97-AF65-F5344CB8AC3E}">
        <p14:creationId xmlns:p14="http://schemas.microsoft.com/office/powerpoint/2010/main" val="1702889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CBE65-F36D-DD35-470F-DA2453431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C1FD65B-1E11-34D0-749F-B6F5ACAFFD26}"/>
              </a:ext>
            </a:extLst>
          </p:cNvPr>
          <p:cNvGrpSpPr/>
          <p:nvPr/>
        </p:nvGrpSpPr>
        <p:grpSpPr>
          <a:xfrm>
            <a:off x="5117219" y="1377499"/>
            <a:ext cx="1957562" cy="4366940"/>
            <a:chOff x="5109926" y="1464796"/>
            <a:chExt cx="1957562" cy="4366940"/>
          </a:xfrm>
        </p:grpSpPr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766FBAD7-C3D8-82DC-54C1-020F7D25D09E}"/>
                </a:ext>
              </a:extLst>
            </p:cNvPr>
            <p:cNvSpPr/>
            <p:nvPr/>
          </p:nvSpPr>
          <p:spPr>
            <a:xfrm>
              <a:off x="5109926" y="1464796"/>
              <a:ext cx="1957562" cy="4366940"/>
            </a:xfrm>
            <a:prstGeom prst="roundRect">
              <a:avLst>
                <a:gd name="adj" fmla="val 50000"/>
              </a:avLst>
            </a:prstGeom>
            <a:solidFill>
              <a:srgbClr val="985EE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z-Latn-AZ" dirty="0"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endParaRPr>
            </a:p>
          </p:txBody>
        </p:sp>
        <p:sp>
          <p:nvSpPr>
            <p:cNvPr id="42" name="Google Shape;3213;p38">
              <a:extLst>
                <a:ext uri="{FF2B5EF4-FFF2-40B4-BE49-F238E27FC236}">
                  <a16:creationId xmlns:a16="http://schemas.microsoft.com/office/drawing/2014/main" id="{54D5DE43-5FE7-37EB-756B-4437F20D7093}"/>
                </a:ext>
              </a:extLst>
            </p:cNvPr>
            <p:cNvSpPr txBox="1"/>
            <p:nvPr/>
          </p:nvSpPr>
          <p:spPr>
            <a:xfrm>
              <a:off x="5449352" y="2770950"/>
              <a:ext cx="1276214" cy="4308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dirty="0">
                  <a:solidFill>
                    <a:schemeClr val="bg1"/>
                  </a:solidFill>
                  <a:latin typeface="Poppins" panose="00000500000000000000" pitchFamily="2" charset="0"/>
                  <a:ea typeface="Calibri" panose="020F0502020204030204" pitchFamily="34" charset="0"/>
                  <a:cs typeface="Poppins" panose="00000500000000000000" pitchFamily="2" charset="0"/>
                  <a:sym typeface="Calibri"/>
                </a:rPr>
                <a:t>Məhsulun (prototipin) hazırlığı</a:t>
              </a:r>
              <a:endParaRPr sz="1400" dirty="0">
                <a:solidFill>
                  <a:schemeClr val="bg1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endParaRPr>
            </a:p>
          </p:txBody>
        </p:sp>
        <p:sp>
          <p:nvSpPr>
            <p:cNvPr id="43" name="Google Shape;3214;p38">
              <a:extLst>
                <a:ext uri="{FF2B5EF4-FFF2-40B4-BE49-F238E27FC236}">
                  <a16:creationId xmlns:a16="http://schemas.microsoft.com/office/drawing/2014/main" id="{04192BFB-F5BC-94BC-0AA6-1F0E987249D6}"/>
                </a:ext>
              </a:extLst>
            </p:cNvPr>
            <p:cNvSpPr/>
            <p:nvPr/>
          </p:nvSpPr>
          <p:spPr>
            <a:xfrm rot="16200000">
              <a:off x="6073032" y="3233566"/>
              <a:ext cx="28857" cy="461725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bg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13">
                <a:solidFill>
                  <a:schemeClr val="bg1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  <a:sym typeface="Calibri"/>
              </a:endParaRPr>
            </a:p>
          </p:txBody>
        </p:sp>
        <p:sp>
          <p:nvSpPr>
            <p:cNvPr id="44" name="Google Shape;3215;p38">
              <a:extLst>
                <a:ext uri="{FF2B5EF4-FFF2-40B4-BE49-F238E27FC236}">
                  <a16:creationId xmlns:a16="http://schemas.microsoft.com/office/drawing/2014/main" id="{EE3089CC-6138-0061-4C0D-631BF7947948}"/>
                </a:ext>
              </a:extLst>
            </p:cNvPr>
            <p:cNvSpPr txBox="1"/>
            <p:nvPr/>
          </p:nvSpPr>
          <p:spPr>
            <a:xfrm>
              <a:off x="5515066" y="3919591"/>
              <a:ext cx="1144787" cy="6924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b="1">
                  <a:solidFill>
                    <a:schemeClr val="bg1"/>
                  </a:solidFill>
                  <a:latin typeface="Poppins" panose="00000500000000000000" pitchFamily="2" charset="0"/>
                  <a:ea typeface="Calibri" panose="020F0502020204030204" pitchFamily="34" charset="0"/>
                  <a:cs typeface="Poppins" panose="00000500000000000000" pitchFamily="2" charset="0"/>
                  <a:sym typeface="Calibri"/>
                </a:rPr>
                <a:t>03</a:t>
              </a:r>
              <a:endParaRPr>
                <a:solidFill>
                  <a:schemeClr val="bg1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E83C6660-FD3D-C544-D25F-C8D66BCF7DB1}"/>
              </a:ext>
            </a:extLst>
          </p:cNvPr>
          <p:cNvGrpSpPr/>
          <p:nvPr/>
        </p:nvGrpSpPr>
        <p:grpSpPr>
          <a:xfrm>
            <a:off x="7138001" y="1377499"/>
            <a:ext cx="1957562" cy="4366940"/>
            <a:chOff x="7130708" y="1464796"/>
            <a:chExt cx="1957562" cy="4366940"/>
          </a:xfrm>
        </p:grpSpPr>
        <p:sp>
          <p:nvSpPr>
            <p:cNvPr id="45" name="Google Shape;3216;p38">
              <a:extLst>
                <a:ext uri="{FF2B5EF4-FFF2-40B4-BE49-F238E27FC236}">
                  <a16:creationId xmlns:a16="http://schemas.microsoft.com/office/drawing/2014/main" id="{A4511DBF-8311-A07A-E71A-4247C3720E24}"/>
                </a:ext>
              </a:extLst>
            </p:cNvPr>
            <p:cNvSpPr txBox="1"/>
            <p:nvPr/>
          </p:nvSpPr>
          <p:spPr>
            <a:xfrm>
              <a:off x="7474682" y="2770950"/>
              <a:ext cx="1276214" cy="4308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dirty="0">
                  <a:solidFill>
                    <a:srgbClr val="420782"/>
                  </a:solidFill>
                  <a:latin typeface="Poppins" panose="00000500000000000000" pitchFamily="2" charset="0"/>
                  <a:ea typeface="Calibri" panose="020F0502020204030204" pitchFamily="34" charset="0"/>
                  <a:cs typeface="Poppins" panose="00000500000000000000" pitchFamily="2" charset="0"/>
                  <a:sym typeface="Calibri"/>
                </a:rPr>
                <a:t>Təqdimat bacarığı</a:t>
              </a:r>
              <a:endParaRPr sz="1400" dirty="0">
                <a:solidFill>
                  <a:srgbClr val="420782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endParaRPr>
            </a:p>
          </p:txBody>
        </p:sp>
        <p:sp>
          <p:nvSpPr>
            <p:cNvPr id="46" name="Google Shape;3217;p38">
              <a:extLst>
                <a:ext uri="{FF2B5EF4-FFF2-40B4-BE49-F238E27FC236}">
                  <a16:creationId xmlns:a16="http://schemas.microsoft.com/office/drawing/2014/main" id="{B6FB3493-1838-7302-B5B8-6053E8AD3A16}"/>
                </a:ext>
              </a:extLst>
            </p:cNvPr>
            <p:cNvSpPr/>
            <p:nvPr/>
          </p:nvSpPr>
          <p:spPr>
            <a:xfrm rot="16200000">
              <a:off x="8087138" y="3244788"/>
              <a:ext cx="51302" cy="461725"/>
            </a:xfrm>
            <a:prstGeom prst="rect">
              <a:avLst/>
            </a:prstGeom>
            <a:solidFill>
              <a:srgbClr val="D778E4"/>
            </a:solidFill>
            <a:ln w="12700" cap="flat" cmpd="sng">
              <a:noFill/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13">
                <a:solidFill>
                  <a:schemeClr val="bg1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  <a:sym typeface="Calibri"/>
              </a:endParaRPr>
            </a:p>
          </p:txBody>
        </p:sp>
        <p:sp>
          <p:nvSpPr>
            <p:cNvPr id="47" name="Google Shape;3218;p38">
              <a:extLst>
                <a:ext uri="{FF2B5EF4-FFF2-40B4-BE49-F238E27FC236}">
                  <a16:creationId xmlns:a16="http://schemas.microsoft.com/office/drawing/2014/main" id="{6933AAA0-2CDF-7528-201C-2A0C567B324B}"/>
                </a:ext>
              </a:extLst>
            </p:cNvPr>
            <p:cNvSpPr txBox="1"/>
            <p:nvPr/>
          </p:nvSpPr>
          <p:spPr>
            <a:xfrm>
              <a:off x="7540396" y="3919591"/>
              <a:ext cx="1144787" cy="6924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b="1" dirty="0">
                  <a:solidFill>
                    <a:srgbClr val="420782"/>
                  </a:solidFill>
                  <a:latin typeface="Poppins" panose="00000500000000000000" pitchFamily="2" charset="0"/>
                  <a:ea typeface="Calibri" panose="020F0502020204030204" pitchFamily="34" charset="0"/>
                  <a:cs typeface="Poppins" panose="00000500000000000000" pitchFamily="2" charset="0"/>
                  <a:sym typeface="Calibri"/>
                </a:rPr>
                <a:t>04</a:t>
              </a:r>
              <a:endParaRPr dirty="0">
                <a:solidFill>
                  <a:srgbClr val="420782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endParaRPr>
            </a:p>
          </p:txBody>
        </p:sp>
        <p:sp>
          <p:nvSpPr>
            <p:cNvPr id="83" name="Rectangle: Rounded Corners 82">
              <a:extLst>
                <a:ext uri="{FF2B5EF4-FFF2-40B4-BE49-F238E27FC236}">
                  <a16:creationId xmlns:a16="http://schemas.microsoft.com/office/drawing/2014/main" id="{7A6D1CE9-F198-F51E-6552-8D4F9C2317E0}"/>
                </a:ext>
              </a:extLst>
            </p:cNvPr>
            <p:cNvSpPr/>
            <p:nvPr/>
          </p:nvSpPr>
          <p:spPr>
            <a:xfrm>
              <a:off x="7130708" y="1464796"/>
              <a:ext cx="1957562" cy="4366940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rgbClr val="D778E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z-Latn-AZ"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559C0F2A-656B-E0A8-8C95-BAA97B03085F}"/>
              </a:ext>
            </a:extLst>
          </p:cNvPr>
          <p:cNvGrpSpPr/>
          <p:nvPr/>
        </p:nvGrpSpPr>
        <p:grpSpPr>
          <a:xfrm>
            <a:off x="9166301" y="1381413"/>
            <a:ext cx="1957562" cy="4366940"/>
            <a:chOff x="9159008" y="1468710"/>
            <a:chExt cx="1957562" cy="4366940"/>
          </a:xfrm>
        </p:grpSpPr>
        <p:sp>
          <p:nvSpPr>
            <p:cNvPr id="81" name="Rectangle: Rounded Corners 80">
              <a:extLst>
                <a:ext uri="{FF2B5EF4-FFF2-40B4-BE49-F238E27FC236}">
                  <a16:creationId xmlns:a16="http://schemas.microsoft.com/office/drawing/2014/main" id="{EC01C405-C552-866A-5FE9-E444AF3021DB}"/>
                </a:ext>
              </a:extLst>
            </p:cNvPr>
            <p:cNvSpPr/>
            <p:nvPr/>
          </p:nvSpPr>
          <p:spPr>
            <a:xfrm>
              <a:off x="9159008" y="1468710"/>
              <a:ext cx="1957562" cy="4366940"/>
            </a:xfrm>
            <a:prstGeom prst="roundRect">
              <a:avLst>
                <a:gd name="adj" fmla="val 50000"/>
              </a:avLst>
            </a:prstGeom>
            <a:solidFill>
              <a:srgbClr val="AC59E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z-Latn-AZ"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endParaRPr>
            </a:p>
          </p:txBody>
        </p:sp>
        <p:sp>
          <p:nvSpPr>
            <p:cNvPr id="48" name="Google Shape;3219;p38">
              <a:extLst>
                <a:ext uri="{FF2B5EF4-FFF2-40B4-BE49-F238E27FC236}">
                  <a16:creationId xmlns:a16="http://schemas.microsoft.com/office/drawing/2014/main" id="{FEE04F4F-DA85-0EDC-E3E2-56D1870A9382}"/>
                </a:ext>
              </a:extLst>
            </p:cNvPr>
            <p:cNvSpPr txBox="1"/>
            <p:nvPr/>
          </p:nvSpPr>
          <p:spPr>
            <a:xfrm>
              <a:off x="9442543" y="2770950"/>
              <a:ext cx="1276214" cy="4308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dirty="0">
                  <a:solidFill>
                    <a:schemeClr val="bg1"/>
                  </a:solidFill>
                  <a:latin typeface="Poppins" panose="00000500000000000000" pitchFamily="2" charset="0"/>
                  <a:ea typeface="Calibri" panose="020F0502020204030204" pitchFamily="34" charset="0"/>
                  <a:cs typeface="Poppins" panose="00000500000000000000" pitchFamily="2" charset="0"/>
                  <a:sym typeface="Calibri"/>
                </a:rPr>
                <a:t>Komanda</a:t>
              </a:r>
              <a:endParaRPr sz="1400" dirty="0">
                <a:solidFill>
                  <a:schemeClr val="bg1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endParaRPr>
            </a:p>
          </p:txBody>
        </p:sp>
        <p:sp>
          <p:nvSpPr>
            <p:cNvPr id="49" name="Google Shape;3220;p38">
              <a:extLst>
                <a:ext uri="{FF2B5EF4-FFF2-40B4-BE49-F238E27FC236}">
                  <a16:creationId xmlns:a16="http://schemas.microsoft.com/office/drawing/2014/main" id="{79A346BB-CDA0-3121-2F92-2395A1ACA60E}"/>
                </a:ext>
              </a:extLst>
            </p:cNvPr>
            <p:cNvSpPr/>
            <p:nvPr/>
          </p:nvSpPr>
          <p:spPr>
            <a:xfrm rot="16200000">
              <a:off x="10103629" y="3233566"/>
              <a:ext cx="28857" cy="461725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bg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13" dirty="0">
                <a:solidFill>
                  <a:schemeClr val="bg1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  <a:sym typeface="Calibri"/>
              </a:endParaRPr>
            </a:p>
          </p:txBody>
        </p:sp>
        <p:sp>
          <p:nvSpPr>
            <p:cNvPr id="50" name="Google Shape;3221;p38">
              <a:extLst>
                <a:ext uri="{FF2B5EF4-FFF2-40B4-BE49-F238E27FC236}">
                  <a16:creationId xmlns:a16="http://schemas.microsoft.com/office/drawing/2014/main" id="{E92EF1FA-8B6C-BDBB-66DB-B6B80237B0C3}"/>
                </a:ext>
              </a:extLst>
            </p:cNvPr>
            <p:cNvSpPr txBox="1"/>
            <p:nvPr/>
          </p:nvSpPr>
          <p:spPr>
            <a:xfrm>
              <a:off x="9545664" y="3919591"/>
              <a:ext cx="1144787" cy="6924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b="1" dirty="0">
                  <a:solidFill>
                    <a:schemeClr val="bg1"/>
                  </a:solidFill>
                  <a:latin typeface="Poppins" panose="00000500000000000000" pitchFamily="2" charset="0"/>
                  <a:ea typeface="Calibri" panose="020F0502020204030204" pitchFamily="34" charset="0"/>
                  <a:cs typeface="Poppins" panose="00000500000000000000" pitchFamily="2" charset="0"/>
                  <a:sym typeface="Calibri"/>
                </a:rPr>
                <a:t>05</a:t>
              </a:r>
              <a:endParaRPr dirty="0">
                <a:solidFill>
                  <a:schemeClr val="bg1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BFCC281-7C44-A181-CCA7-DDCEDF11AC6E}"/>
              </a:ext>
            </a:extLst>
          </p:cNvPr>
          <p:cNvGrpSpPr/>
          <p:nvPr/>
        </p:nvGrpSpPr>
        <p:grpSpPr>
          <a:xfrm>
            <a:off x="1082722" y="1377499"/>
            <a:ext cx="1957562" cy="4366940"/>
            <a:chOff x="1075429" y="1464796"/>
            <a:chExt cx="1957562" cy="4366940"/>
          </a:xfrm>
        </p:grpSpPr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2C1F834E-E6F6-7FF2-DA74-A3B7486EB24E}"/>
                </a:ext>
              </a:extLst>
            </p:cNvPr>
            <p:cNvSpPr/>
            <p:nvPr/>
          </p:nvSpPr>
          <p:spPr>
            <a:xfrm>
              <a:off x="1075429" y="1464796"/>
              <a:ext cx="1957562" cy="4366940"/>
            </a:xfrm>
            <a:prstGeom prst="roundRect">
              <a:avLst>
                <a:gd name="adj" fmla="val 50000"/>
              </a:avLst>
            </a:prstGeom>
            <a:solidFill>
              <a:srgbClr val="D778E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z-Latn-AZ"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endParaRPr>
            </a:p>
          </p:txBody>
        </p:sp>
        <p:sp>
          <p:nvSpPr>
            <p:cNvPr id="36" name="Google Shape;3207;p38">
              <a:extLst>
                <a:ext uri="{FF2B5EF4-FFF2-40B4-BE49-F238E27FC236}">
                  <a16:creationId xmlns:a16="http://schemas.microsoft.com/office/drawing/2014/main" id="{E4867563-55E8-0967-0F98-1CC22F3221AB}"/>
                </a:ext>
              </a:extLst>
            </p:cNvPr>
            <p:cNvSpPr txBox="1"/>
            <p:nvPr/>
          </p:nvSpPr>
          <p:spPr>
            <a:xfrm>
              <a:off x="1417779" y="2770951"/>
              <a:ext cx="1276214" cy="4308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dirty="0">
                  <a:solidFill>
                    <a:schemeClr val="bg1"/>
                  </a:solidFill>
                  <a:latin typeface="Poppins" panose="00000500000000000000" pitchFamily="2" charset="0"/>
                  <a:ea typeface="Calibri" panose="020F0502020204030204" pitchFamily="34" charset="0"/>
                  <a:cs typeface="Poppins" panose="00000500000000000000" pitchFamily="2" charset="0"/>
                  <a:sym typeface="Calibri"/>
                </a:rPr>
                <a:t>Problemin aktuallığı</a:t>
              </a:r>
              <a:endParaRPr sz="3200" dirty="0">
                <a:solidFill>
                  <a:schemeClr val="bg1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endParaRPr>
            </a:p>
          </p:txBody>
        </p:sp>
        <p:sp>
          <p:nvSpPr>
            <p:cNvPr id="37" name="Google Shape;3208;p38">
              <a:extLst>
                <a:ext uri="{FF2B5EF4-FFF2-40B4-BE49-F238E27FC236}">
                  <a16:creationId xmlns:a16="http://schemas.microsoft.com/office/drawing/2014/main" id="{E7B0BBAD-14D0-4E6F-8FC9-697CF9B43845}"/>
                </a:ext>
              </a:extLst>
            </p:cNvPr>
            <p:cNvSpPr/>
            <p:nvPr/>
          </p:nvSpPr>
          <p:spPr>
            <a:xfrm rot="16200000">
              <a:off x="2041458" y="3233566"/>
              <a:ext cx="28857" cy="461725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bg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13">
                <a:solidFill>
                  <a:schemeClr val="bg1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  <a:sym typeface="Calibri"/>
              </a:endParaRPr>
            </a:p>
          </p:txBody>
        </p:sp>
        <p:sp>
          <p:nvSpPr>
            <p:cNvPr id="38" name="Google Shape;3209;p38">
              <a:extLst>
                <a:ext uri="{FF2B5EF4-FFF2-40B4-BE49-F238E27FC236}">
                  <a16:creationId xmlns:a16="http://schemas.microsoft.com/office/drawing/2014/main" id="{25A53DF6-D626-E0F6-F34E-3A7DCA17A9B5}"/>
                </a:ext>
              </a:extLst>
            </p:cNvPr>
            <p:cNvSpPr txBox="1"/>
            <p:nvPr/>
          </p:nvSpPr>
          <p:spPr>
            <a:xfrm>
              <a:off x="1483493" y="3919591"/>
              <a:ext cx="1144787" cy="6924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b="1" dirty="0">
                  <a:solidFill>
                    <a:schemeClr val="bg1"/>
                  </a:solidFill>
                  <a:latin typeface="Poppins" panose="00000500000000000000" pitchFamily="2" charset="0"/>
                  <a:ea typeface="Calibri" panose="020F0502020204030204" pitchFamily="34" charset="0"/>
                  <a:cs typeface="Poppins" panose="00000500000000000000" pitchFamily="2" charset="0"/>
                  <a:sym typeface="Calibri"/>
                </a:rPr>
                <a:t>01</a:t>
              </a:r>
              <a:endParaRPr dirty="0">
                <a:solidFill>
                  <a:schemeClr val="bg1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3A7DDD07-1899-7F2D-9D16-F6D30DE13AE8}"/>
              </a:ext>
            </a:extLst>
          </p:cNvPr>
          <p:cNvGrpSpPr/>
          <p:nvPr/>
        </p:nvGrpSpPr>
        <p:grpSpPr>
          <a:xfrm>
            <a:off x="3093281" y="1377499"/>
            <a:ext cx="1957562" cy="4366940"/>
            <a:chOff x="3085988" y="1464796"/>
            <a:chExt cx="1957562" cy="4366940"/>
          </a:xfrm>
        </p:grpSpPr>
        <p:sp>
          <p:nvSpPr>
            <p:cNvPr id="39" name="Google Shape;3210;p38">
              <a:extLst>
                <a:ext uri="{FF2B5EF4-FFF2-40B4-BE49-F238E27FC236}">
                  <a16:creationId xmlns:a16="http://schemas.microsoft.com/office/drawing/2014/main" id="{63FA7888-FB97-78C9-3904-24ED02AB4BE4}"/>
                </a:ext>
              </a:extLst>
            </p:cNvPr>
            <p:cNvSpPr txBox="1"/>
            <p:nvPr/>
          </p:nvSpPr>
          <p:spPr>
            <a:xfrm>
              <a:off x="3354431" y="2770950"/>
              <a:ext cx="1276214" cy="4308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dirty="0">
                  <a:solidFill>
                    <a:srgbClr val="420782"/>
                  </a:solidFill>
                  <a:latin typeface="Poppins" panose="00000500000000000000" pitchFamily="2" charset="0"/>
                  <a:ea typeface="Calibri" panose="020F0502020204030204" pitchFamily="34" charset="0"/>
                  <a:cs typeface="Poppins" panose="00000500000000000000" pitchFamily="2" charset="0"/>
                  <a:sym typeface="Calibri"/>
                </a:rPr>
                <a:t>Həll yolunun innovativliyi</a:t>
              </a:r>
              <a:endParaRPr sz="1400" dirty="0">
                <a:solidFill>
                  <a:srgbClr val="420782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endParaRPr>
            </a:p>
          </p:txBody>
        </p:sp>
        <p:sp>
          <p:nvSpPr>
            <p:cNvPr id="40" name="Google Shape;3211;p38">
              <a:extLst>
                <a:ext uri="{FF2B5EF4-FFF2-40B4-BE49-F238E27FC236}">
                  <a16:creationId xmlns:a16="http://schemas.microsoft.com/office/drawing/2014/main" id="{90AF1E9C-C1FF-8309-3E7D-34003A688B85}"/>
                </a:ext>
              </a:extLst>
            </p:cNvPr>
            <p:cNvSpPr/>
            <p:nvPr/>
          </p:nvSpPr>
          <p:spPr>
            <a:xfrm rot="16200000">
              <a:off x="3966889" y="3244788"/>
              <a:ext cx="51302" cy="461725"/>
            </a:xfrm>
            <a:prstGeom prst="rect">
              <a:avLst/>
            </a:prstGeom>
            <a:solidFill>
              <a:srgbClr val="D778E4"/>
            </a:solidFill>
            <a:ln w="12700" cap="flat" cmpd="sng">
              <a:noFill/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13">
                <a:solidFill>
                  <a:schemeClr val="bg1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  <a:sym typeface="Calibri"/>
              </a:endParaRPr>
            </a:p>
          </p:txBody>
        </p:sp>
        <p:sp>
          <p:nvSpPr>
            <p:cNvPr id="41" name="Google Shape;3212;p38">
              <a:extLst>
                <a:ext uri="{FF2B5EF4-FFF2-40B4-BE49-F238E27FC236}">
                  <a16:creationId xmlns:a16="http://schemas.microsoft.com/office/drawing/2014/main" id="{F3F41B6E-4EBB-36F7-A987-7EC9EB68788E}"/>
                </a:ext>
              </a:extLst>
            </p:cNvPr>
            <p:cNvSpPr txBox="1"/>
            <p:nvPr/>
          </p:nvSpPr>
          <p:spPr>
            <a:xfrm>
              <a:off x="3420145" y="3919591"/>
              <a:ext cx="1144787" cy="6924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b="1">
                  <a:solidFill>
                    <a:srgbClr val="420782"/>
                  </a:solidFill>
                  <a:latin typeface="Poppins" panose="00000500000000000000" pitchFamily="2" charset="0"/>
                  <a:ea typeface="Calibri" panose="020F0502020204030204" pitchFamily="34" charset="0"/>
                  <a:cs typeface="Poppins" panose="00000500000000000000" pitchFamily="2" charset="0"/>
                  <a:sym typeface="Calibri"/>
                </a:rPr>
                <a:t>02</a:t>
              </a:r>
              <a:endParaRPr>
                <a:solidFill>
                  <a:srgbClr val="420782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endParaRPr>
            </a:p>
          </p:txBody>
        </p:sp>
        <p:sp>
          <p:nvSpPr>
            <p:cNvPr id="82" name="Rectangle: Rounded Corners 81">
              <a:extLst>
                <a:ext uri="{FF2B5EF4-FFF2-40B4-BE49-F238E27FC236}">
                  <a16:creationId xmlns:a16="http://schemas.microsoft.com/office/drawing/2014/main" id="{714E2A03-665F-5098-D2FB-B76F043EC01F}"/>
                </a:ext>
              </a:extLst>
            </p:cNvPr>
            <p:cNvSpPr/>
            <p:nvPr/>
          </p:nvSpPr>
          <p:spPr>
            <a:xfrm>
              <a:off x="3085988" y="1464796"/>
              <a:ext cx="1957562" cy="4366940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rgbClr val="D778E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az-Latn-AZ"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endParaRPr>
            </a:p>
          </p:txBody>
        </p:sp>
      </p:grpSp>
      <p:pic>
        <p:nvPicPr>
          <p:cNvPr id="2" name="Picture 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61754814-58A1-295B-D4C7-666386BEAD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9778" y="291709"/>
            <a:ext cx="2096239" cy="6204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6991D43-7B7B-7D35-323F-67AA9CE61E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V="1">
            <a:off x="348270" y="6144768"/>
            <a:ext cx="6493724" cy="242274"/>
          </a:xfrm>
          <a:prstGeom prst="rect">
            <a:avLst/>
          </a:prstGeom>
        </p:spPr>
      </p:pic>
      <p:cxnSp>
        <p:nvCxnSpPr>
          <p:cNvPr id="154" name="Connector 153"/>
          <p:cNvCxnSpPr/>
          <p:nvPr/>
        </p:nvCxnSpPr>
        <p:spPr>
          <a:xfrm>
            <a:off x="10546634" y="365760"/>
            <a:ext cx="0" cy="475488"/>
          </a:xfrm>
          <a:prstGeom prst="line">
            <a:avLst/>
          </a:prstGeom>
          <a:ln w="9525">
            <a:solidFill>
              <a:srgbClr val="C1C1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5" name="AYNA logo" descr="ayna_blue_hq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47802" y="365760"/>
            <a:ext cx="1121109" cy="475488"/>
          </a:xfrm>
          <a:prstGeom prst="rect">
            <a:avLst/>
          </a:prstGeom>
        </p:spPr>
      </p:pic>
      <p:sp>
        <p:nvSpPr>
          <p:cNvPr id="156" name="Title"/>
          <p:cNvSpPr txBox="1"/>
          <p:nvPr/>
        </p:nvSpPr>
        <p:spPr>
          <a:xfrm>
            <a:off x="502920" y="320040"/>
            <a:ext cx="7315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420782"/>
                </a:solidFill>
                <a:latin typeface="Poppins"/>
              </a:rPr>
              <a:t>Seçim kriteriyaları</a:t>
            </a:r>
          </a:p>
        </p:txBody>
      </p:sp>
      <p:pic>
        <p:nvPicPr>
          <p:cNvPr id="157" name="Picture 156" descr="targe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11037" y="1987551"/>
            <a:ext cx="658368" cy="658368"/>
          </a:xfrm>
          <a:prstGeom prst="rect">
            <a:avLst/>
          </a:prstGeom>
        </p:spPr>
      </p:pic>
      <p:pic>
        <p:nvPicPr>
          <p:cNvPr id="158" name="Picture 157" descr="bulb_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94383" y="1936098"/>
            <a:ext cx="658368" cy="658368"/>
          </a:xfrm>
          <a:prstGeom prst="rect">
            <a:avLst/>
          </a:prstGeom>
        </p:spPr>
      </p:pic>
      <p:pic>
        <p:nvPicPr>
          <p:cNvPr id="159" name="Picture 158" descr="proto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58275" y="1915690"/>
            <a:ext cx="658368" cy="658368"/>
          </a:xfrm>
          <a:prstGeom prst="rect">
            <a:avLst/>
          </a:prstGeom>
        </p:spPr>
      </p:pic>
      <p:pic>
        <p:nvPicPr>
          <p:cNvPr id="160" name="Picture 159" descr="present_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49796" y="1907753"/>
            <a:ext cx="658368" cy="658368"/>
          </a:xfrm>
          <a:prstGeom prst="rect">
            <a:avLst/>
          </a:prstGeom>
        </p:spPr>
      </p:pic>
      <p:pic>
        <p:nvPicPr>
          <p:cNvPr id="161" name="Picture 160" descr="team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88872" y="1907163"/>
            <a:ext cx="658368" cy="658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997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EE255-0514-06C7-11CF-1BB92A6E2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3421A0C1-5CFB-1DDC-4034-0C36371404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5376568" y="6006786"/>
            <a:ext cx="6493724" cy="242274"/>
          </a:xfrm>
          <a:prstGeom prst="rect">
            <a:avLst/>
          </a:prstGeom>
        </p:spPr>
      </p:pic>
      <p:pic>
        <p:nvPicPr>
          <p:cNvPr id="28" name="Picture 2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2894F026-C608-0515-FA2B-277C6C134F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9778" y="291709"/>
            <a:ext cx="2096239" cy="620428"/>
          </a:xfrm>
          <a:prstGeom prst="rect">
            <a:avLst/>
          </a:prstGeom>
        </p:spPr>
      </p:pic>
      <p:cxnSp>
        <p:nvCxnSpPr>
          <p:cNvPr id="30" name="Connector 29"/>
          <p:cNvCxnSpPr/>
          <p:nvPr/>
        </p:nvCxnSpPr>
        <p:spPr>
          <a:xfrm>
            <a:off x="10546634" y="365760"/>
            <a:ext cx="0" cy="475488"/>
          </a:xfrm>
          <a:prstGeom prst="line">
            <a:avLst/>
          </a:prstGeom>
          <a:ln w="9525">
            <a:solidFill>
              <a:srgbClr val="C1C1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1" name="AYNA logo" descr="ayna_blue_hq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47802" y="365760"/>
            <a:ext cx="1121109" cy="475488"/>
          </a:xfrm>
          <a:prstGeom prst="rect">
            <a:avLst/>
          </a:prstGeom>
        </p:spPr>
      </p:pic>
      <p:sp>
        <p:nvSpPr>
          <p:cNvPr id="32" name="Title"/>
          <p:cNvSpPr txBox="1"/>
          <p:nvPr/>
        </p:nvSpPr>
        <p:spPr>
          <a:xfrm>
            <a:off x="502920" y="411480"/>
            <a:ext cx="7315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420782"/>
                </a:solidFill>
                <a:latin typeface="Poppins"/>
              </a:rPr>
              <a:t>Münsiflər heyəti</a:t>
            </a:r>
          </a:p>
        </p:txBody>
      </p:sp>
      <p:sp>
        <p:nvSpPr>
          <p:cNvPr id="33" name="Oval 32"/>
          <p:cNvSpPr/>
          <p:nvPr/>
        </p:nvSpPr>
        <p:spPr>
          <a:xfrm>
            <a:off x="810615" y="1549907"/>
            <a:ext cx="1929384" cy="1929384"/>
          </a:xfrm>
          <a:prstGeom prst="ellipse">
            <a:avLst/>
          </a:prstGeom>
          <a:noFill/>
          <a:ln w="38100">
            <a:solidFill>
              <a:srgbClr val="AC5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hoto elxan" descr="elx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3767" y="1623060"/>
            <a:ext cx="1783080" cy="178308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449427" y="3657600"/>
            <a:ext cx="26517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 i="0">
                <a:solidFill>
                  <a:srgbClr val="420782"/>
                </a:solidFill>
                <a:latin typeface="Poppins"/>
              </a:rPr>
              <a:t>Elxan Şükürov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0867" y="4069080"/>
            <a:ext cx="246887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420782"/>
                </a:solidFill>
                <a:latin typeface="Poppins"/>
              </a:rPr>
              <a:t>Startaplara dəstək şöbəsinin müdiri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9427" y="512064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AC59E0"/>
                </a:solidFill>
                <a:latin typeface="Poppins"/>
              </a:rPr>
              <a:t>İRİA</a:t>
            </a:r>
          </a:p>
        </p:txBody>
      </p:sp>
      <p:sp>
        <p:nvSpPr>
          <p:cNvPr id="38" name="Oval 37"/>
          <p:cNvSpPr/>
          <p:nvPr/>
        </p:nvSpPr>
        <p:spPr>
          <a:xfrm>
            <a:off x="3690975" y="1549907"/>
            <a:ext cx="1929384" cy="1929384"/>
          </a:xfrm>
          <a:prstGeom prst="ellipse">
            <a:avLst/>
          </a:prstGeom>
          <a:noFill/>
          <a:ln w="38100">
            <a:solidFill>
              <a:srgbClr val="AC5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9" name="Photo nail" descr="nai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64127" y="1623060"/>
            <a:ext cx="1783080" cy="178308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3329787" y="3657600"/>
            <a:ext cx="26517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 i="0">
                <a:solidFill>
                  <a:srgbClr val="420782"/>
                </a:solidFill>
                <a:latin typeface="Poppins"/>
              </a:rPr>
              <a:t>Nail Seyidov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21227" y="4069080"/>
            <a:ext cx="246887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420782"/>
                </a:solidFill>
                <a:latin typeface="Poppins"/>
              </a:rPr>
              <a:t>Təsisçi, direktor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29787" y="512064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AC59E0"/>
                </a:solidFill>
                <a:latin typeface="Poppins"/>
              </a:rPr>
              <a:t>NS Studio</a:t>
            </a:r>
          </a:p>
        </p:txBody>
      </p:sp>
      <p:sp>
        <p:nvSpPr>
          <p:cNvPr id="43" name="Oval 42"/>
          <p:cNvSpPr/>
          <p:nvPr/>
        </p:nvSpPr>
        <p:spPr>
          <a:xfrm>
            <a:off x="6571335" y="1549907"/>
            <a:ext cx="1929384" cy="1929384"/>
          </a:xfrm>
          <a:prstGeom prst="ellipse">
            <a:avLst/>
          </a:prstGeom>
          <a:noFill/>
          <a:ln w="38100">
            <a:solidFill>
              <a:srgbClr val="AC5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Photo terlan" descr="terla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4487" y="1623060"/>
            <a:ext cx="1783080" cy="178308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210147" y="3657600"/>
            <a:ext cx="26517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 i="0">
                <a:solidFill>
                  <a:srgbClr val="420782"/>
                </a:solidFill>
                <a:latin typeface="Poppins"/>
              </a:rPr>
              <a:t>Tərlan Cəbiyev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1587" y="4069080"/>
            <a:ext cx="246887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420782"/>
                </a:solidFill>
                <a:latin typeface="Poppins"/>
              </a:rPr>
              <a:t>Data Science qrup rəhbəri (Nəqliyyat Strategiyası departamenti)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0147" y="512064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AC59E0"/>
                </a:solidFill>
                <a:latin typeface="Poppins"/>
              </a:rPr>
              <a:t>AYNA</a:t>
            </a:r>
          </a:p>
        </p:txBody>
      </p:sp>
      <p:sp>
        <p:nvSpPr>
          <p:cNvPr id="48" name="Oval 47"/>
          <p:cNvSpPr/>
          <p:nvPr/>
        </p:nvSpPr>
        <p:spPr>
          <a:xfrm>
            <a:off x="9451695" y="1549907"/>
            <a:ext cx="1929384" cy="1929384"/>
          </a:xfrm>
          <a:prstGeom prst="ellipse">
            <a:avLst/>
          </a:prstGeom>
          <a:noFill/>
          <a:ln w="38100">
            <a:solidFill>
              <a:srgbClr val="AC5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hoto ferrux" descr="ferrux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24847" y="1623060"/>
            <a:ext cx="1783080" cy="178308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090507" y="3657600"/>
            <a:ext cx="26517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 i="0">
                <a:solidFill>
                  <a:srgbClr val="420782"/>
                </a:solidFill>
                <a:latin typeface="Poppins"/>
              </a:rPr>
              <a:t>Fərrux Əhədli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81947" y="4069080"/>
            <a:ext cx="246887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420782"/>
                </a:solidFill>
                <a:latin typeface="Poppins"/>
              </a:rPr>
              <a:t>İnformasiya Sistemlərinin Sistem Analitiki və İT Arxitekt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90507" y="512064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AC59E0"/>
                </a:solidFill>
                <a:latin typeface="Poppins"/>
              </a:rPr>
              <a:t>AYNA</a:t>
            </a:r>
          </a:p>
        </p:txBody>
      </p:sp>
    </p:spTree>
    <p:extLst>
      <p:ext uri="{BB962C8B-B14F-4D97-AF65-F5344CB8AC3E}">
        <p14:creationId xmlns:p14="http://schemas.microsoft.com/office/powerpoint/2010/main" val="20561515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EE255-0514-06C7-11CF-1BB92A6E2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3421A0C1-5CFB-1DDC-4034-0C36371404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5376568" y="6006786"/>
            <a:ext cx="6493724" cy="242274"/>
          </a:xfrm>
          <a:prstGeom prst="rect">
            <a:avLst/>
          </a:prstGeom>
        </p:spPr>
      </p:pic>
      <p:pic>
        <p:nvPicPr>
          <p:cNvPr id="28" name="Picture 2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2894F026-C608-0515-FA2B-277C6C134F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9778" y="291709"/>
            <a:ext cx="2096239" cy="620428"/>
          </a:xfrm>
          <a:prstGeom prst="rect">
            <a:avLst/>
          </a:prstGeom>
        </p:spPr>
      </p:pic>
      <p:cxnSp>
        <p:nvCxnSpPr>
          <p:cNvPr id="30" name="Connector 29"/>
          <p:cNvCxnSpPr/>
          <p:nvPr/>
        </p:nvCxnSpPr>
        <p:spPr>
          <a:xfrm>
            <a:off x="10546634" y="365760"/>
            <a:ext cx="0" cy="475488"/>
          </a:xfrm>
          <a:prstGeom prst="line">
            <a:avLst/>
          </a:prstGeom>
          <a:ln w="9525">
            <a:solidFill>
              <a:srgbClr val="C1C1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1" name="AYNA logo" descr="ayna_blue_hq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7802" y="365760"/>
            <a:ext cx="1121109" cy="475488"/>
          </a:xfrm>
          <a:prstGeom prst="rect">
            <a:avLst/>
          </a:prstGeom>
        </p:spPr>
      </p:pic>
      <p:sp>
        <p:nvSpPr>
          <p:cNvPr id="32" name="Title"/>
          <p:cNvSpPr txBox="1"/>
          <p:nvPr/>
        </p:nvSpPr>
        <p:spPr>
          <a:xfrm>
            <a:off x="502920" y="390932"/>
            <a:ext cx="7315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420782"/>
                </a:solidFill>
                <a:latin typeface="Poppins"/>
              </a:rPr>
              <a:t>Mentorlarımız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9427" y="1463040"/>
            <a:ext cx="3611880" cy="2057400"/>
          </a:xfrm>
          <a:prstGeom prst="roundRect">
            <a:avLst>
              <a:gd name="adj" fmla="val 12000"/>
            </a:avLst>
          </a:prstGeom>
          <a:solidFill>
            <a:srgbClr val="F3E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23163" y="1842516"/>
            <a:ext cx="1298448" cy="1298448"/>
          </a:xfrm>
          <a:prstGeom prst="ellipse">
            <a:avLst/>
          </a:prstGeom>
          <a:noFill/>
          <a:ln w="28575">
            <a:solidFill>
              <a:srgbClr val="AC5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hoto vusal" descr="vus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027" y="1897380"/>
            <a:ext cx="1188720" cy="118872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2141067" y="1664208"/>
            <a:ext cx="1737360" cy="165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420782"/>
                </a:solidFill>
                <a:latin typeface="Poppins"/>
              </a:rPr>
              <a:t>Vüsal Əzizov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420782"/>
                </a:solidFill>
                <a:latin typeface="Poppins"/>
              </a:rPr>
              <a:t>Rəqəmsal Məhsulların Dizaynı şöbəsinin rəhbəri / İRİA</a:t>
            </a:r>
          </a:p>
          <a:p>
            <a:pPr algn="l"/>
            <a:r>
              <a:rPr sz="1100" b="1" i="0">
                <a:solidFill>
                  <a:srgbClr val="AC59E0"/>
                </a:solidFill>
                <a:latin typeface="Poppins"/>
              </a:rPr>
              <a:t>Məhsul dizaynı üzrə mentor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89907" y="1463040"/>
            <a:ext cx="3611880" cy="2057400"/>
          </a:xfrm>
          <a:prstGeom prst="roundRect">
            <a:avLst>
              <a:gd name="adj" fmla="val 12000"/>
            </a:avLst>
          </a:prstGeom>
          <a:solidFill>
            <a:srgbClr val="F3E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4463643" y="1842516"/>
            <a:ext cx="1298448" cy="1298448"/>
          </a:xfrm>
          <a:prstGeom prst="ellipse">
            <a:avLst/>
          </a:prstGeom>
          <a:noFill/>
          <a:ln w="28575">
            <a:solidFill>
              <a:srgbClr val="AC5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9" name="Photo nazim" descr="nazi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8507" y="1897380"/>
            <a:ext cx="1188720" cy="118872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5981547" y="2064700"/>
            <a:ext cx="1737360" cy="854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 dirty="0">
                <a:solidFill>
                  <a:srgbClr val="420782"/>
                </a:solidFill>
                <a:latin typeface="Poppins"/>
              </a:rPr>
              <a:t>Nazim </a:t>
            </a:r>
            <a:r>
              <a:rPr sz="1500" b="1" i="0" dirty="0" err="1">
                <a:solidFill>
                  <a:srgbClr val="420782"/>
                </a:solidFill>
                <a:latin typeface="Poppins"/>
              </a:rPr>
              <a:t>Həmid</a:t>
            </a:r>
            <a:r>
              <a:rPr lang="en-US" sz="1500" b="1" i="0" dirty="0" err="1">
                <a:solidFill>
                  <a:srgbClr val="420782"/>
                </a:solidFill>
                <a:latin typeface="Poppins"/>
              </a:rPr>
              <a:t>li</a:t>
            </a:r>
            <a:endParaRPr sz="1500" b="1" i="0" dirty="0">
              <a:solidFill>
                <a:srgbClr val="420782"/>
              </a:solidFill>
              <a:latin typeface="Poppins"/>
            </a:endParaRPr>
          </a:p>
          <a:p>
            <a:pPr algn="l">
              <a:spcAft>
                <a:spcPts val="600"/>
              </a:spcAft>
            </a:pPr>
            <a:r>
              <a:rPr sz="1100" b="0" i="0" dirty="0" err="1">
                <a:solidFill>
                  <a:srgbClr val="420782"/>
                </a:solidFill>
                <a:latin typeface="Poppins"/>
              </a:rPr>
              <a:t>Baş</a:t>
            </a:r>
            <a:r>
              <a:rPr sz="1100" b="0" i="0" dirty="0">
                <a:solidFill>
                  <a:srgbClr val="420782"/>
                </a:solidFill>
                <a:latin typeface="Poppins"/>
              </a:rPr>
              <a:t> </a:t>
            </a:r>
            <a:r>
              <a:rPr sz="1100" b="0" i="0" dirty="0" err="1">
                <a:solidFill>
                  <a:srgbClr val="420782"/>
                </a:solidFill>
                <a:latin typeface="Poppins"/>
              </a:rPr>
              <a:t>proqramçı</a:t>
            </a:r>
            <a:r>
              <a:rPr sz="1100" b="0" i="0" dirty="0">
                <a:solidFill>
                  <a:srgbClr val="420782"/>
                </a:solidFill>
                <a:latin typeface="Poppins"/>
              </a:rPr>
              <a:t> / </a:t>
            </a:r>
            <a:r>
              <a:rPr sz="1100" b="0" i="0" dirty="0" err="1">
                <a:solidFill>
                  <a:srgbClr val="420782"/>
                </a:solidFill>
                <a:latin typeface="Poppins"/>
              </a:rPr>
              <a:t>Paşa</a:t>
            </a:r>
            <a:r>
              <a:rPr sz="1100" b="0" i="0" dirty="0">
                <a:solidFill>
                  <a:srgbClr val="420782"/>
                </a:solidFill>
                <a:latin typeface="Poppins"/>
              </a:rPr>
              <a:t> </a:t>
            </a:r>
            <a:r>
              <a:rPr sz="1100" b="0" i="0" dirty="0" err="1">
                <a:solidFill>
                  <a:srgbClr val="420782"/>
                </a:solidFill>
                <a:latin typeface="Poppins"/>
              </a:rPr>
              <a:t>Sığorta</a:t>
            </a:r>
            <a:endParaRPr sz="1100" b="0" i="0" dirty="0">
              <a:solidFill>
                <a:srgbClr val="420782"/>
              </a:solidFill>
              <a:latin typeface="Poppins"/>
            </a:endParaRPr>
          </a:p>
          <a:p>
            <a:pPr algn="l"/>
            <a:r>
              <a:rPr sz="1100" b="1" i="0" dirty="0" err="1">
                <a:solidFill>
                  <a:srgbClr val="AC59E0"/>
                </a:solidFill>
                <a:latin typeface="Poppins"/>
              </a:rPr>
              <a:t>Proqramlaşdırma</a:t>
            </a:r>
            <a:r>
              <a:rPr sz="1100" b="1" i="0" dirty="0">
                <a:solidFill>
                  <a:srgbClr val="AC59E0"/>
                </a:solidFill>
                <a:latin typeface="Poppins"/>
              </a:rPr>
              <a:t> </a:t>
            </a:r>
            <a:r>
              <a:rPr sz="1100" b="1" i="0" dirty="0" err="1">
                <a:solidFill>
                  <a:srgbClr val="AC59E0"/>
                </a:solidFill>
                <a:latin typeface="Poppins"/>
              </a:rPr>
              <a:t>və</a:t>
            </a:r>
            <a:r>
              <a:rPr sz="1100" b="1" i="0" dirty="0">
                <a:solidFill>
                  <a:srgbClr val="AC59E0"/>
                </a:solidFill>
                <a:latin typeface="Poppins"/>
              </a:rPr>
              <a:t> </a:t>
            </a:r>
            <a:r>
              <a:rPr sz="1100" b="1" i="0" dirty="0" err="1">
                <a:solidFill>
                  <a:srgbClr val="AC59E0"/>
                </a:solidFill>
                <a:latin typeface="Poppins"/>
              </a:rPr>
              <a:t>texnologiya</a:t>
            </a:r>
            <a:r>
              <a:rPr sz="1100" b="1" i="0" dirty="0">
                <a:solidFill>
                  <a:srgbClr val="AC59E0"/>
                </a:solidFill>
                <a:latin typeface="Poppins"/>
              </a:rPr>
              <a:t> </a:t>
            </a:r>
            <a:r>
              <a:rPr sz="1100" b="1" i="0" dirty="0" err="1">
                <a:solidFill>
                  <a:srgbClr val="AC59E0"/>
                </a:solidFill>
                <a:latin typeface="Poppins"/>
              </a:rPr>
              <a:t>üzrə</a:t>
            </a:r>
            <a:r>
              <a:rPr sz="1100" b="1" i="0" dirty="0">
                <a:solidFill>
                  <a:srgbClr val="AC59E0"/>
                </a:solidFill>
                <a:latin typeface="Poppins"/>
              </a:rPr>
              <a:t> mentor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30387" y="1463040"/>
            <a:ext cx="3611880" cy="2057400"/>
          </a:xfrm>
          <a:prstGeom prst="roundRect">
            <a:avLst>
              <a:gd name="adj" fmla="val 12000"/>
            </a:avLst>
          </a:prstGeom>
          <a:solidFill>
            <a:srgbClr val="F3E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8304123" y="1842516"/>
            <a:ext cx="1298448" cy="1298448"/>
          </a:xfrm>
          <a:prstGeom prst="ellipse">
            <a:avLst/>
          </a:prstGeom>
          <a:noFill/>
          <a:ln w="28575">
            <a:solidFill>
              <a:srgbClr val="AC5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3" name="Photo ruslan" descr="rusla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58987" y="1897380"/>
            <a:ext cx="1188720" cy="118872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9822027" y="1664208"/>
            <a:ext cx="1737359" cy="165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420782"/>
                </a:solidFill>
                <a:latin typeface="Poppins"/>
              </a:rPr>
              <a:t>Ruslan Musayev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420782"/>
                </a:solidFill>
                <a:latin typeface="Poppins"/>
              </a:rPr>
              <a:t>İnnovasiyalar üzrə aparıcı mütəxəssis / İRİA</a:t>
            </a:r>
          </a:p>
          <a:p>
            <a:pPr algn="l"/>
            <a:r>
              <a:rPr sz="1100" b="1" i="0">
                <a:solidFill>
                  <a:srgbClr val="AC59E0"/>
                </a:solidFill>
                <a:latin typeface="Poppins"/>
              </a:rPr>
              <a:t>Biznes üzrə mentor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49427" y="3749039"/>
            <a:ext cx="3611880" cy="2057400"/>
          </a:xfrm>
          <a:prstGeom prst="roundRect">
            <a:avLst>
              <a:gd name="adj" fmla="val 12000"/>
            </a:avLst>
          </a:prstGeom>
          <a:solidFill>
            <a:srgbClr val="F3E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623163" y="4128515"/>
            <a:ext cx="1298448" cy="1298448"/>
          </a:xfrm>
          <a:prstGeom prst="ellipse">
            <a:avLst/>
          </a:prstGeom>
          <a:noFill/>
          <a:ln w="28575">
            <a:solidFill>
              <a:srgbClr val="AC5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7" name="Photo ruhlan" descr="ruhla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8027" y="4183379"/>
            <a:ext cx="1188720" cy="118872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2141067" y="3950207"/>
            <a:ext cx="1737360" cy="165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420782"/>
                </a:solidFill>
                <a:latin typeface="Poppins"/>
              </a:rPr>
              <a:t>Ruhlan Əbülfəzzadə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420782"/>
                </a:solidFill>
                <a:latin typeface="Poppins"/>
              </a:rPr>
              <a:t>Kommunikasiya departamentinin böyük mütəxəssisi / AYNA</a:t>
            </a:r>
          </a:p>
          <a:p>
            <a:pPr algn="l"/>
            <a:r>
              <a:rPr sz="1100" b="1" i="0">
                <a:solidFill>
                  <a:srgbClr val="AC59E0"/>
                </a:solidFill>
                <a:latin typeface="Poppins"/>
              </a:rPr>
              <a:t>Marketinq üzrə mentor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289907" y="3749039"/>
            <a:ext cx="3611880" cy="2057400"/>
          </a:xfrm>
          <a:prstGeom prst="roundRect">
            <a:avLst>
              <a:gd name="adj" fmla="val 12000"/>
            </a:avLst>
          </a:prstGeom>
          <a:solidFill>
            <a:srgbClr val="F3E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4463643" y="4128515"/>
            <a:ext cx="1298448" cy="1298448"/>
          </a:xfrm>
          <a:prstGeom prst="ellipse">
            <a:avLst/>
          </a:prstGeom>
          <a:noFill/>
          <a:ln w="28575">
            <a:solidFill>
              <a:srgbClr val="AC5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1" name="Photo fariz" descr="fariz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18507" y="4183379"/>
            <a:ext cx="1188720" cy="118872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5981547" y="3950207"/>
            <a:ext cx="1737360" cy="165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420782"/>
                </a:solidFill>
                <a:latin typeface="Poppins"/>
              </a:rPr>
              <a:t>Fariz Şahgəldiyev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420782"/>
                </a:solidFill>
                <a:latin typeface="Poppins"/>
              </a:rPr>
              <a:t>Mühəndis (Texniki Departament, Tunel Quraşdırma Xidməti) / AYNA</a:t>
            </a:r>
          </a:p>
          <a:p>
            <a:pPr algn="l"/>
            <a:r>
              <a:rPr sz="1100" b="1" i="0">
                <a:solidFill>
                  <a:srgbClr val="AC59E0"/>
                </a:solidFill>
                <a:latin typeface="Poppins"/>
              </a:rPr>
              <a:t>Nəqliyyat sahəsi üzrə mentor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130387" y="3749039"/>
            <a:ext cx="3611880" cy="2057400"/>
          </a:xfrm>
          <a:prstGeom prst="roundRect">
            <a:avLst>
              <a:gd name="adj" fmla="val 12000"/>
            </a:avLst>
          </a:prstGeom>
          <a:solidFill>
            <a:srgbClr val="F3E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8304123" y="4128515"/>
            <a:ext cx="1298448" cy="1298448"/>
          </a:xfrm>
          <a:prstGeom prst="ellipse">
            <a:avLst/>
          </a:prstGeom>
          <a:noFill/>
          <a:ln w="28575">
            <a:solidFill>
              <a:srgbClr val="AC5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5" name="Photo mert" descr="mer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58987" y="4183379"/>
            <a:ext cx="1188720" cy="118872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9822027" y="3950207"/>
            <a:ext cx="1737359" cy="1655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420782"/>
                </a:solidFill>
                <a:latin typeface="Poppins"/>
              </a:rPr>
              <a:t>Mert Becerikli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420782"/>
                </a:solidFill>
                <a:latin typeface="Poppins"/>
              </a:rPr>
              <a:t>Baş Nəqliyyat Mühəndisi / AYNA</a:t>
            </a:r>
          </a:p>
          <a:p>
            <a:pPr algn="l"/>
            <a:r>
              <a:rPr sz="1100" b="1" i="0">
                <a:solidFill>
                  <a:srgbClr val="AC59E0"/>
                </a:solidFill>
                <a:latin typeface="Poppins"/>
              </a:rPr>
              <a:t>Nəqliyyat sahəsi üzrə mentor</a:t>
            </a:r>
          </a:p>
        </p:txBody>
      </p:sp>
    </p:spTree>
    <p:extLst>
      <p:ext uri="{BB962C8B-B14F-4D97-AF65-F5344CB8AC3E}">
        <p14:creationId xmlns:p14="http://schemas.microsoft.com/office/powerpoint/2010/main" val="20561515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BFD0A-C525-0597-F897-38421455F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B678083-3DF3-4665-18B3-BAD372E53DAC}"/>
              </a:ext>
            </a:extLst>
          </p:cNvPr>
          <p:cNvSpPr/>
          <p:nvPr/>
        </p:nvSpPr>
        <p:spPr>
          <a:xfrm>
            <a:off x="1" y="0"/>
            <a:ext cx="12191999" cy="6858000"/>
          </a:xfrm>
          <a:prstGeom prst="rect">
            <a:avLst/>
          </a:prstGeom>
          <a:solidFill>
            <a:srgbClr val="4005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z-Latn-AZ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E55E2BC-3879-4C96-7575-55BBCAEBFA1C}"/>
              </a:ext>
            </a:extLst>
          </p:cNvPr>
          <p:cNvGrpSpPr/>
          <p:nvPr/>
        </p:nvGrpSpPr>
        <p:grpSpPr>
          <a:xfrm rot="10800000">
            <a:off x="4621095" y="1419810"/>
            <a:ext cx="7551856" cy="5113291"/>
            <a:chOff x="-2" y="2171700"/>
            <a:chExt cx="6076951" cy="4114647"/>
          </a:xfrm>
        </p:grpSpPr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B8C2C693-D276-BAF3-E1A2-2A2EB91225F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5400000">
              <a:off x="1490661" y="3538384"/>
              <a:ext cx="1257300" cy="4238625"/>
            </a:xfrm>
            <a:prstGeom prst="rect">
              <a:avLst/>
            </a:prstGeom>
          </p:spPr>
        </p:pic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DB4E0BA4-8084-AF23-8810-F4C5ED1C78B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>
              <a:off x="1947862" y="1652511"/>
              <a:ext cx="1257300" cy="5153025"/>
            </a:xfrm>
            <a:prstGeom prst="rect">
              <a:avLst/>
            </a:prstGeom>
          </p:spPr>
        </p:pic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49F23EF5-0E7B-9007-4423-9B8F16C4ACB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5400000">
              <a:off x="2409824" y="-238125"/>
              <a:ext cx="1257300" cy="6076950"/>
            </a:xfrm>
            <a:prstGeom prst="rect">
              <a:avLst/>
            </a:prstGeom>
          </p:spPr>
        </p:pic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8277EF90-4B3B-EBCB-E62F-0BD2F930B5E5}"/>
              </a:ext>
            </a:extLst>
          </p:cNvPr>
          <p:cNvSpPr txBox="1"/>
          <p:nvPr/>
        </p:nvSpPr>
        <p:spPr>
          <a:xfrm>
            <a:off x="443149" y="2238337"/>
            <a:ext cx="402336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az-Latn-AZ" sz="2000" b="0" i="1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İlk 3 komanda sırasız şəkildə seçilərək qalib olacaq.</a:t>
            </a:r>
            <a:endParaRPr lang="az-Latn-AZ" sz="1400" i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34B7DE3-EAE2-51A4-A435-1C18E17763C9}"/>
              </a:ext>
            </a:extLst>
          </p:cNvPr>
          <p:cNvSpPr txBox="1"/>
          <p:nvPr/>
        </p:nvSpPr>
        <p:spPr>
          <a:xfrm>
            <a:off x="424100" y="643813"/>
            <a:ext cx="452290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Qaliblərə</a:t>
            </a:r>
          </a:p>
          <a:p>
            <a:r>
              <a:rPr lang="en-US" sz="4400" b="1" dirty="0">
                <a:solidFill>
                  <a:schemeClr val="bg1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mükafat</a:t>
            </a:r>
            <a:endParaRPr lang="az-Latn-AZ" sz="4400" b="1" dirty="0">
              <a:solidFill>
                <a:schemeClr val="bg1"/>
              </a:solidFill>
              <a:latin typeface="Poppins" panose="00000500000000000000" pitchFamily="2" charset="0"/>
              <a:ea typeface="Calibri" panose="020F0502020204030204" pitchFamily="34" charset="0"/>
              <a:cs typeface="Poppins" panose="00000500000000000000" pitchFamily="2" charset="0"/>
            </a:endParaRPr>
          </a:p>
        </p:txBody>
      </p:sp>
      <p:pic>
        <p:nvPicPr>
          <p:cNvPr id="22" name="Picture 2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E1B23A74-2064-16B1-5D9C-AC00E389774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7237" y="292309"/>
            <a:ext cx="2094213" cy="619828"/>
          </a:xfrm>
          <a:prstGeom prst="rect">
            <a:avLst/>
          </a:prstGeom>
        </p:spPr>
      </p:pic>
      <p:cxnSp>
        <p:nvCxnSpPr>
          <p:cNvPr id="23" name="Connector 22"/>
          <p:cNvCxnSpPr/>
          <p:nvPr/>
        </p:nvCxnSpPr>
        <p:spPr>
          <a:xfrm>
            <a:off x="10474093" y="365760"/>
            <a:ext cx="0" cy="475488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AYNA logo badge"/>
          <p:cNvSpPr/>
          <p:nvPr/>
        </p:nvSpPr>
        <p:spPr>
          <a:xfrm>
            <a:off x="10675261" y="321685"/>
            <a:ext cx="1193650" cy="563636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AYNA logo" descr="ayna_blue_hq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76211" y="393192"/>
            <a:ext cx="991750" cy="420624"/>
          </a:xfrm>
          <a:prstGeom prst="rect">
            <a:avLst/>
          </a:prstGeom>
        </p:spPr>
      </p:pic>
      <p:pic>
        <p:nvPicPr>
          <p:cNvPr id="26" name="Picture 25" descr="trophy_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80386" y="1899284"/>
            <a:ext cx="603504" cy="60350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642258" y="1789556"/>
            <a:ext cx="3244941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3 qalib komanda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Poppins"/>
              </a:rPr>
              <a:t>sırasız şəkildə seçilir</a:t>
            </a:r>
          </a:p>
        </p:txBody>
      </p:sp>
      <p:pic>
        <p:nvPicPr>
          <p:cNvPr id="28" name="Picture 27" descr="laptop_w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34069" y="3674703"/>
            <a:ext cx="603504" cy="60350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495941" y="3564975"/>
            <a:ext cx="4391258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MacBook Air M5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Poppins"/>
              </a:rPr>
              <a:t>hər qalib komandaya 1 ədəd</a:t>
            </a:r>
          </a:p>
        </p:txBody>
      </p:sp>
      <p:pic>
        <p:nvPicPr>
          <p:cNvPr id="30" name="Picture 29" descr="card_w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67974" y="5450123"/>
            <a:ext cx="603504" cy="60350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329846" y="5340395"/>
            <a:ext cx="5557353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50 AZN-lik BakıKart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Poppins"/>
              </a:rPr>
              <a:t>qalib komandaların hər üzvünə</a:t>
            </a:r>
          </a:p>
        </p:txBody>
      </p:sp>
    </p:spTree>
    <p:extLst>
      <p:ext uri="{BB962C8B-B14F-4D97-AF65-F5344CB8AC3E}">
        <p14:creationId xmlns:p14="http://schemas.microsoft.com/office/powerpoint/2010/main" val="41238442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EE255-0514-06C7-11CF-1BB92A6E2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3421A0C1-5CFB-1DDC-4034-0C36371404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5376568" y="6006786"/>
            <a:ext cx="6493724" cy="242274"/>
          </a:xfrm>
          <a:prstGeom prst="rect">
            <a:avLst/>
          </a:prstGeom>
        </p:spPr>
      </p:pic>
      <p:pic>
        <p:nvPicPr>
          <p:cNvPr id="28" name="Picture 2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2894F026-C608-0515-FA2B-277C6C134F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9778" y="291709"/>
            <a:ext cx="2096239" cy="620428"/>
          </a:xfrm>
          <a:prstGeom prst="rect">
            <a:avLst/>
          </a:prstGeom>
        </p:spPr>
      </p:pic>
      <p:cxnSp>
        <p:nvCxnSpPr>
          <p:cNvPr id="30" name="Connector 29"/>
          <p:cNvCxnSpPr/>
          <p:nvPr/>
        </p:nvCxnSpPr>
        <p:spPr>
          <a:xfrm>
            <a:off x="10546634" y="365760"/>
            <a:ext cx="0" cy="475488"/>
          </a:xfrm>
          <a:prstGeom prst="line">
            <a:avLst/>
          </a:prstGeom>
          <a:ln w="9525">
            <a:solidFill>
              <a:srgbClr val="C1C1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1" name="AYNA logo" descr="ayna_blue_hq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7802" y="365760"/>
            <a:ext cx="1121109" cy="475488"/>
          </a:xfrm>
          <a:prstGeom prst="rect">
            <a:avLst/>
          </a:prstGeom>
        </p:spPr>
      </p:pic>
      <p:sp>
        <p:nvSpPr>
          <p:cNvPr id="32" name="Title"/>
          <p:cNvSpPr txBox="1"/>
          <p:nvPr/>
        </p:nvSpPr>
        <p:spPr>
          <a:xfrm>
            <a:off x="502920" y="411480"/>
            <a:ext cx="7315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420782"/>
                </a:solidFill>
                <a:latin typeface="Poppins"/>
              </a:rPr>
              <a:t>Proqram agendası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1417320"/>
            <a:ext cx="5440680" cy="457200"/>
          </a:xfrm>
          <a:prstGeom prst="roundRect">
            <a:avLst>
              <a:gd name="adj" fmla="val 50000"/>
            </a:avLst>
          </a:prstGeom>
          <a:solidFill>
            <a:srgbClr val="AC5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77240" y="1417320"/>
            <a:ext cx="4892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Poppins"/>
              </a:rPr>
              <a:t>1-ci gün</a:t>
            </a:r>
            <a:r>
              <a:rPr sz="1400" b="0" i="0">
                <a:solidFill>
                  <a:srgbClr val="FFFFFF"/>
                </a:solidFill>
                <a:latin typeface="Poppins"/>
              </a:rPr>
              <a:t>   ·   17 oktyabr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2011680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AC59E0"/>
                </a:solidFill>
                <a:latin typeface="Poppins"/>
              </a:rPr>
              <a:t>09:00 – 09:30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86000" y="2011680"/>
            <a:ext cx="35204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420782"/>
                </a:solidFill>
                <a:latin typeface="Poppins"/>
              </a:rPr>
              <a:t>Qeydiyyat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2423160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AC59E0"/>
                </a:solidFill>
                <a:latin typeface="Poppins"/>
              </a:rPr>
              <a:t>09:30 – 10:00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86000" y="2423160"/>
            <a:ext cx="35204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420782"/>
                </a:solidFill>
                <a:latin typeface="Poppins"/>
              </a:rPr>
              <a:t>Açılış nitqləri / İstiqamətlərin paylaşılması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2834640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AC59E0"/>
                </a:solidFill>
                <a:latin typeface="Poppins"/>
              </a:rPr>
              <a:t>10:00 – 11:00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86000" y="2834640"/>
            <a:ext cx="35204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420782"/>
                </a:solidFill>
                <a:latin typeface="Poppins"/>
              </a:rPr>
              <a:t>İdeyaların formalaşması (mentor dəstəyi ilə)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3273552"/>
            <a:ext cx="5440680" cy="356616"/>
          </a:xfrm>
          <a:prstGeom prst="roundRect">
            <a:avLst>
              <a:gd name="adj" fmla="val 50000"/>
            </a:avLst>
          </a:prstGeom>
          <a:solidFill>
            <a:srgbClr val="F3E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77240" y="3246120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AC59E0"/>
                </a:solidFill>
                <a:latin typeface="Poppins"/>
              </a:rPr>
              <a:t>11:00 – 11:30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286000" y="3246120"/>
            <a:ext cx="35204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1">
                <a:solidFill>
                  <a:srgbClr val="985EEA"/>
                </a:solidFill>
                <a:latin typeface="Poppins"/>
              </a:rPr>
              <a:t>Çay fasiləsi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3657600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AC59E0"/>
                </a:solidFill>
                <a:latin typeface="Poppins"/>
              </a:rPr>
              <a:t>11:30 – 13:00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86000" y="3657600"/>
            <a:ext cx="35204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420782"/>
                </a:solidFill>
                <a:latin typeface="Poppins"/>
              </a:rPr>
              <a:t>İdeya üzərində iş (mentor dəstəyi ilə)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02920" y="4096512"/>
            <a:ext cx="5440680" cy="356616"/>
          </a:xfrm>
          <a:prstGeom prst="roundRect">
            <a:avLst>
              <a:gd name="adj" fmla="val 50000"/>
            </a:avLst>
          </a:prstGeom>
          <a:solidFill>
            <a:srgbClr val="F3E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77240" y="4069080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AC59E0"/>
                </a:solidFill>
                <a:latin typeface="Poppins"/>
              </a:rPr>
              <a:t>13:00 – 14:00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86000" y="4069080"/>
            <a:ext cx="35204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1">
                <a:solidFill>
                  <a:srgbClr val="985EEA"/>
                </a:solidFill>
                <a:latin typeface="Poppins"/>
              </a:rPr>
              <a:t>Nahar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" y="4480560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AC59E0"/>
                </a:solidFill>
                <a:latin typeface="Poppins"/>
              </a:rPr>
              <a:t>14:00 – 16:00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286000" y="4480560"/>
            <a:ext cx="35204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420782"/>
                </a:solidFill>
                <a:latin typeface="Poppins"/>
              </a:rPr>
              <a:t>İdeya üzərində iş (mentor dəstəyi ilə)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2920" y="4919472"/>
            <a:ext cx="5440680" cy="356616"/>
          </a:xfrm>
          <a:prstGeom prst="roundRect">
            <a:avLst>
              <a:gd name="adj" fmla="val 50000"/>
            </a:avLst>
          </a:prstGeom>
          <a:solidFill>
            <a:srgbClr val="F3E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77240" y="4892040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AC59E0"/>
                </a:solidFill>
                <a:latin typeface="Poppins"/>
              </a:rPr>
              <a:t>16:00 – 16:30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286000" y="4892040"/>
            <a:ext cx="35204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1">
                <a:solidFill>
                  <a:srgbClr val="985EEA"/>
                </a:solidFill>
                <a:latin typeface="Poppins"/>
              </a:rPr>
              <a:t>Çay fasiləsi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" y="5303520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AC59E0"/>
                </a:solidFill>
                <a:latin typeface="Poppins"/>
              </a:rPr>
              <a:t>16:30 – 18:00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286000" y="5303520"/>
            <a:ext cx="35204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420782"/>
                </a:solidFill>
                <a:latin typeface="Poppins"/>
              </a:rPr>
              <a:t>İdeya üzərində iş (mentor dəstəyi ilə)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45352" y="1417320"/>
            <a:ext cx="5440680" cy="457200"/>
          </a:xfrm>
          <a:prstGeom prst="roundRect">
            <a:avLst>
              <a:gd name="adj" fmla="val 50000"/>
            </a:avLst>
          </a:prstGeom>
          <a:solidFill>
            <a:srgbClr val="985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519672" y="1417320"/>
            <a:ext cx="4892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Poppins"/>
              </a:rPr>
              <a:t>2-ci gün</a:t>
            </a:r>
            <a:r>
              <a:rPr sz="1400" b="0" i="0">
                <a:solidFill>
                  <a:srgbClr val="FFFFFF"/>
                </a:solidFill>
                <a:latin typeface="Poppins"/>
              </a:rPr>
              <a:t>   ·   18 oktyabr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19672" y="2011680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AC59E0"/>
                </a:solidFill>
                <a:latin typeface="Poppins"/>
              </a:rPr>
              <a:t>09:00 – 11:00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28431" y="2011680"/>
            <a:ext cx="35204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420782"/>
                </a:solidFill>
                <a:latin typeface="Poppins"/>
              </a:rPr>
              <a:t>İdeya üzərində iş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245352" y="2450592"/>
            <a:ext cx="5440680" cy="356616"/>
          </a:xfrm>
          <a:prstGeom prst="roundRect">
            <a:avLst>
              <a:gd name="adj" fmla="val 50000"/>
            </a:avLst>
          </a:prstGeom>
          <a:solidFill>
            <a:srgbClr val="F3E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519672" y="2423160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AC59E0"/>
                </a:solidFill>
                <a:latin typeface="Poppins"/>
              </a:rPr>
              <a:t>11:00 – 11:30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28431" y="2423160"/>
            <a:ext cx="35204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1">
                <a:solidFill>
                  <a:srgbClr val="985EEA"/>
                </a:solidFill>
                <a:latin typeface="Poppins"/>
              </a:rPr>
              <a:t>Çay fasiləsi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19672" y="2834640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AC59E0"/>
                </a:solidFill>
                <a:latin typeface="Poppins"/>
              </a:rPr>
              <a:t>11:30 – 13:00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28431" y="2834640"/>
            <a:ext cx="35204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420782"/>
                </a:solidFill>
                <a:latin typeface="Poppins"/>
              </a:rPr>
              <a:t>İdeya üzərində iş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245352" y="3273552"/>
            <a:ext cx="5440680" cy="356616"/>
          </a:xfrm>
          <a:prstGeom prst="roundRect">
            <a:avLst>
              <a:gd name="adj" fmla="val 50000"/>
            </a:avLst>
          </a:prstGeom>
          <a:solidFill>
            <a:srgbClr val="F3E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519672" y="3246120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AC59E0"/>
                </a:solidFill>
                <a:latin typeface="Poppins"/>
              </a:rPr>
              <a:t>13:00 – 14:00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028431" y="3246120"/>
            <a:ext cx="35204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1">
                <a:solidFill>
                  <a:srgbClr val="985EEA"/>
                </a:solidFill>
                <a:latin typeface="Poppins"/>
              </a:rPr>
              <a:t>Nahar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519672" y="3657600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AC59E0"/>
                </a:solidFill>
                <a:latin typeface="Poppins"/>
              </a:rPr>
              <a:t>14:00 – 16:00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028431" y="3657600"/>
            <a:ext cx="35204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420782"/>
                </a:solidFill>
                <a:latin typeface="Poppins"/>
              </a:rPr>
              <a:t>Təqdimatın hazırlanması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245352" y="4096512"/>
            <a:ext cx="5440680" cy="356616"/>
          </a:xfrm>
          <a:prstGeom prst="roundRect">
            <a:avLst>
              <a:gd name="adj" fmla="val 50000"/>
            </a:avLst>
          </a:prstGeom>
          <a:solidFill>
            <a:srgbClr val="F3E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519672" y="4069080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AC59E0"/>
                </a:solidFill>
                <a:latin typeface="Poppins"/>
              </a:rPr>
              <a:t>16:00 – 16:30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28431" y="4069080"/>
            <a:ext cx="35204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1">
                <a:solidFill>
                  <a:srgbClr val="985EEA"/>
                </a:solidFill>
                <a:latin typeface="Poppins"/>
              </a:rPr>
              <a:t>Çay fasiləsi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519672" y="4480560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AC59E0"/>
                </a:solidFill>
                <a:latin typeface="Poppins"/>
              </a:rPr>
              <a:t>16:30 – 18:00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028431" y="4480560"/>
            <a:ext cx="35204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420782"/>
                </a:solidFill>
                <a:latin typeface="Poppins"/>
              </a:rPr>
              <a:t>Təqdimat mərhələsi (qiymətləndirmə)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19672" y="4892040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AC59E0"/>
                </a:solidFill>
                <a:latin typeface="Poppins"/>
              </a:rPr>
              <a:t>18:00 – 18:30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028431" y="4892040"/>
            <a:ext cx="35204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420782"/>
                </a:solidFill>
                <a:latin typeface="Poppins"/>
              </a:rPr>
              <a:t>Nəticələrin açıqlanması, mükafatlandırma, bağlanış nitqi</a:t>
            </a:r>
          </a:p>
        </p:txBody>
      </p:sp>
    </p:spTree>
    <p:extLst>
      <p:ext uri="{BB962C8B-B14F-4D97-AF65-F5344CB8AC3E}">
        <p14:creationId xmlns:p14="http://schemas.microsoft.com/office/powerpoint/2010/main" val="20561515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EE255-0514-06C7-11CF-1BB92A6E2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2894F026-C608-0515-FA2B-277C6C134F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9778" y="291709"/>
            <a:ext cx="2096239" cy="620428"/>
          </a:xfrm>
          <a:prstGeom prst="rect">
            <a:avLst/>
          </a:prstGeom>
        </p:spPr>
      </p:pic>
      <p:cxnSp>
        <p:nvCxnSpPr>
          <p:cNvPr id="30" name="Connector 29"/>
          <p:cNvCxnSpPr/>
          <p:nvPr/>
        </p:nvCxnSpPr>
        <p:spPr>
          <a:xfrm>
            <a:off x="10546634" y="365760"/>
            <a:ext cx="0" cy="475488"/>
          </a:xfrm>
          <a:prstGeom prst="line">
            <a:avLst/>
          </a:prstGeom>
          <a:ln w="9525">
            <a:solidFill>
              <a:srgbClr val="C1C1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1" name="AYNA logo" descr="ayna_blue_h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7802" y="365760"/>
            <a:ext cx="1121109" cy="47548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02920" y="384048"/>
            <a:ext cx="74980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AC59E0"/>
                </a:solidFill>
                <a:latin typeface="Poppins"/>
              </a:rPr>
              <a:t>HAKATONUN İSTİQAMƏTİ  ·  MULTİMODAL NƏQLİYYAT HABLARI VƏ VAHİD RƏQƏMSAL ƏKİZ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713232"/>
            <a:ext cx="749807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420782"/>
                </a:solidFill>
                <a:latin typeface="Poppins"/>
              </a:rPr>
              <a:t>“AYNA Mobility Hub &amp; Last-Mile”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132588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985EEA"/>
                </a:solidFill>
                <a:latin typeface="Poppins"/>
              </a:rPr>
              <a:t>4 nəqliyyat qatının vahid inteqrasiyası, habların planlaşdırılması və rəhbərlik paneli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2441448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420782"/>
                </a:solidFill>
                <a:latin typeface="Poppins"/>
              </a:rPr>
              <a:t>AYNA rəhbərliyinin problemi</a:t>
            </a:r>
          </a:p>
        </p:txBody>
      </p:sp>
      <p:sp>
        <p:nvSpPr>
          <p:cNvPr id="36" name="Oval 35"/>
          <p:cNvSpPr/>
          <p:nvPr/>
        </p:nvSpPr>
        <p:spPr>
          <a:xfrm>
            <a:off x="530352" y="2980944"/>
            <a:ext cx="128016" cy="128016"/>
          </a:xfrm>
          <a:prstGeom prst="ellipse">
            <a:avLst/>
          </a:prstGeom>
          <a:solidFill>
            <a:srgbClr val="D77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2960" y="2898648"/>
            <a:ext cx="45262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420782"/>
                </a:solidFill>
                <a:latin typeface="Poppins"/>
              </a:rPr>
              <a:t>Nəqliyyat növləri təcrid olunub: avtovağzaldan avtobusa və mikromobilliyə transfer zəifdir</a:t>
            </a:r>
          </a:p>
        </p:txBody>
      </p:sp>
      <p:sp>
        <p:nvSpPr>
          <p:cNvPr id="38" name="Oval 37"/>
          <p:cNvSpPr/>
          <p:nvPr/>
        </p:nvSpPr>
        <p:spPr>
          <a:xfrm>
            <a:off x="530352" y="3694176"/>
            <a:ext cx="128016" cy="128016"/>
          </a:xfrm>
          <a:prstGeom prst="ellipse">
            <a:avLst/>
          </a:prstGeom>
          <a:solidFill>
            <a:srgbClr val="D77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22960" y="3611880"/>
            <a:ext cx="45262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420782"/>
                </a:solidFill>
                <a:latin typeface="Poppins"/>
              </a:rPr>
              <a:t>Mobility Hub-ları və çatışmayan infrastrukturu real vaxtda göstərən vahid idarəetmə mərkəzi yoxdur</a:t>
            </a:r>
          </a:p>
        </p:txBody>
      </p:sp>
      <p:sp>
        <p:nvSpPr>
          <p:cNvPr id="40" name="Oval 39"/>
          <p:cNvSpPr/>
          <p:nvPr/>
        </p:nvSpPr>
        <p:spPr>
          <a:xfrm>
            <a:off x="530352" y="4407408"/>
            <a:ext cx="128016" cy="128016"/>
          </a:xfrm>
          <a:prstGeom prst="ellipse">
            <a:avLst/>
          </a:prstGeom>
          <a:solidFill>
            <a:srgbClr val="D77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22960" y="4325112"/>
            <a:ext cx="45262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420782"/>
                </a:solidFill>
                <a:latin typeface="Poppins"/>
              </a:rPr>
              <a:t>Yaşıl nəqliyyata keçidin ekoloji və karbon effekti ölçülmür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45680" y="2304288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420782"/>
                </a:solidFill>
                <a:latin typeface="Poppins"/>
              </a:rPr>
              <a:t>Datalar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45680" y="2715768"/>
            <a:ext cx="3474720" cy="329184"/>
          </a:xfrm>
          <a:prstGeom prst="roundRect">
            <a:avLst>
              <a:gd name="adj" fmla="val 50000"/>
            </a:avLst>
          </a:prstGeom>
          <a:solidFill>
            <a:srgbClr val="F3E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000" b="1">
                <a:solidFill>
                  <a:srgbClr val="420782"/>
                </a:solidFill>
                <a:latin typeface="Poppins"/>
              </a:rPr>
              <a:t>Avtovağzal və avtostansiyalar · .geojson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45680" y="3127248"/>
            <a:ext cx="2775204" cy="329184"/>
          </a:xfrm>
          <a:prstGeom prst="roundRect">
            <a:avLst>
              <a:gd name="adj" fmla="val 50000"/>
            </a:avLst>
          </a:prstGeom>
          <a:solidFill>
            <a:srgbClr val="F3E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000" b="1">
                <a:solidFill>
                  <a:srgbClr val="420782"/>
                </a:solidFill>
                <a:latin typeface="Poppins"/>
              </a:rPr>
              <a:t>Avtobus trayektoriyaları · .kmz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45680" y="3538728"/>
            <a:ext cx="2542032" cy="329184"/>
          </a:xfrm>
          <a:prstGeom prst="roundRect">
            <a:avLst>
              <a:gd name="adj" fmla="val 50000"/>
            </a:avLst>
          </a:prstGeom>
          <a:solidFill>
            <a:srgbClr val="F3E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000" b="1">
                <a:solidFill>
                  <a:srgbClr val="420782"/>
                </a:solidFill>
                <a:latin typeface="Poppins"/>
              </a:rPr>
              <a:t>Velosiped parkinqləri · .kmz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345680" y="3950208"/>
            <a:ext cx="2386584" cy="329184"/>
          </a:xfrm>
          <a:prstGeom prst="roundRect">
            <a:avLst>
              <a:gd name="adj" fmla="val 50000"/>
            </a:avLst>
          </a:prstGeom>
          <a:solidFill>
            <a:srgbClr val="F3E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000" b="1">
                <a:solidFill>
                  <a:srgbClr val="420782"/>
                </a:solidFill>
                <a:latin typeface="Poppins"/>
              </a:rPr>
              <a:t>Velosiped zolaqları · .kmz</a:t>
            </a:r>
          </a:p>
        </p:txBody>
      </p:sp>
    </p:spTree>
    <p:extLst>
      <p:ext uri="{BB962C8B-B14F-4D97-AF65-F5344CB8AC3E}">
        <p14:creationId xmlns:p14="http://schemas.microsoft.com/office/powerpoint/2010/main" val="20561515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6C85C-C815-C730-2885-4A0C74C1F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urple and purple lines and dots&#10;&#10;AI-generated content may be incorrect.">
            <a:extLst>
              <a:ext uri="{FF2B5EF4-FFF2-40B4-BE49-F238E27FC236}">
                <a16:creationId xmlns:a16="http://schemas.microsoft.com/office/drawing/2014/main" id="{3D574F6D-CD21-BF4F-C07C-790380446C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47" t="-17432" r="1295" b="14246"/>
          <a:stretch/>
        </p:blipFill>
        <p:spPr>
          <a:xfrm>
            <a:off x="-79908" y="-1394085"/>
            <a:ext cx="12271908" cy="825208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5852160" cy="6858000"/>
          </a:xfrm>
          <a:prstGeom prst="rect">
            <a:avLst/>
          </a:prstGeom>
          <a:solidFill>
            <a:srgbClr val="3A0674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12064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Poppins"/>
              </a:rPr>
              <a:t>Diqqətiniz üçün</a:t>
            </a:r>
          </a:p>
          <a:p>
            <a:pPr algn="l">
              <a:lnSpc>
                <a:spcPct val="100000"/>
              </a:lnSpc>
              <a:spcAft>
                <a:spcPts val="1400"/>
              </a:spcAft>
            </a:pPr>
            <a:r>
              <a:rPr sz="4000" b="1" i="0">
                <a:solidFill>
                  <a:srgbClr val="FFFFFF"/>
                </a:solidFill>
                <a:latin typeface="Poppins"/>
              </a:rPr>
              <a:t>təşəkkürlər!</a:t>
            </a:r>
          </a:p>
          <a:p>
            <a:pPr algn="l"/>
            <a:r>
              <a:rPr sz="2800" b="1" i="0">
                <a:solidFill>
                  <a:srgbClr val="D778E4"/>
                </a:solidFill>
                <a:latin typeface="Poppins"/>
              </a:rPr>
              <a:t>Uğurlar!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576599"/>
            <a:ext cx="2788920" cy="825441"/>
          </a:xfrm>
          <a:prstGeom prst="rect">
            <a:avLst/>
          </a:prstGeom>
        </p:spPr>
      </p:pic>
      <p:cxnSp>
        <p:nvCxnSpPr>
          <p:cNvPr id="9" name="Connector 8"/>
          <p:cNvCxnSpPr/>
          <p:nvPr/>
        </p:nvCxnSpPr>
        <p:spPr>
          <a:xfrm>
            <a:off x="3538728" y="5669280"/>
            <a:ext cx="0" cy="640080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AYNA logo badge"/>
          <p:cNvSpPr/>
          <p:nvPr/>
        </p:nvSpPr>
        <p:spPr>
          <a:xfrm>
            <a:off x="3739896" y="5670743"/>
            <a:ext cx="1349344" cy="637153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AYNA logo" descr="ayna_blue_hq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4013" y="5751576"/>
            <a:ext cx="1121109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7575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D3D88C512BC324299CA93C58F9838D9" ma:contentTypeVersion="16" ma:contentTypeDescription="Create a new document." ma:contentTypeScope="" ma:versionID="4fbe38ded8d2c0fc6a0fd2b23f287645">
  <xsd:schema xmlns:xsd="http://www.w3.org/2001/XMLSchema" xmlns:xs="http://www.w3.org/2001/XMLSchema" xmlns:p="http://schemas.microsoft.com/office/2006/metadata/properties" xmlns:ns2="4d53c1c7-07b7-4225-905d-8367c3e14e53" xmlns:ns3="79614fb8-91ec-4ccd-b7a4-ef2c2041a9c3" targetNamespace="http://schemas.microsoft.com/office/2006/metadata/properties" ma:root="true" ma:fieldsID="bedf6a4fa73fa79ca2b98347559d16f3" ns2:_="" ns3:_="">
    <xsd:import namespace="4d53c1c7-07b7-4225-905d-8367c3e14e53"/>
    <xsd:import namespace="79614fb8-91ec-4ccd-b7a4-ef2c2041a9c3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ServiceOCR" minOccurs="0"/>
                <xsd:element ref="ns3:MediaServiceLocation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53c1c7-07b7-4225-905d-8367c3e14e53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969e1b91-36b3-46d0-b7b6-4b0adb150772}" ma:internalName="TaxCatchAll" ma:showField="CatchAllData" ma:web="4d53c1c7-07b7-4225-905d-8367c3e14e5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614fb8-91ec-4ccd-b7a4-ef2c2041a9c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e70d7b82-88d4-4ac1-a7ad-de00d1df46f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9614fb8-91ec-4ccd-b7a4-ef2c2041a9c3">
      <Terms xmlns="http://schemas.microsoft.com/office/infopath/2007/PartnerControls"/>
    </lcf76f155ced4ddcb4097134ff3c332f>
    <TaxCatchAll xmlns="4d53c1c7-07b7-4225-905d-8367c3e14e53" xsi:nil="true"/>
  </documentManagement>
</p:properties>
</file>

<file path=customXml/itemProps1.xml><?xml version="1.0" encoding="utf-8"?>
<ds:datastoreItem xmlns:ds="http://schemas.openxmlformats.org/officeDocument/2006/customXml" ds:itemID="{42491FB8-CA0C-41BB-A5F5-ECDB466EAED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d53c1c7-07b7-4225-905d-8367c3e14e53"/>
    <ds:schemaRef ds:uri="79614fb8-91ec-4ccd-b7a4-ef2c2041a9c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32CB272-2926-4EAB-AA1C-1E5C272CB00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717A1D7-EC32-4ADA-B135-E9EACF258750}">
  <ds:schemaRefs>
    <ds:schemaRef ds:uri="4d53c1c7-07b7-4225-905d-8367c3e14e53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79614fb8-91ec-4ccd-b7a4-ef2c2041a9c3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purl.org/dc/dcmitype/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474c5146-a21c-4d4b-ad54-33618a765b5f}" enabled="1" method="Privileged" siteId="{9413bb82-1d1d-49ef-b800-290ad5c2f5f9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442</TotalTime>
  <Words>493</Words>
  <Application>Microsoft Office PowerPoint</Application>
  <PresentationFormat>Widescreen</PresentationFormat>
  <Paragraphs>137</Paragraphs>
  <Slides>11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Fuad Hajiyev</dc:creator>
  <cp:lastModifiedBy>Vugar Aliyev</cp:lastModifiedBy>
  <cp:revision>23</cp:revision>
  <dcterms:created xsi:type="dcterms:W3CDTF">2025-04-17T09:51:23Z</dcterms:created>
  <dcterms:modified xsi:type="dcterms:W3CDTF">2026-10-17T07:03:48Z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2025-04-17T10:18:23Z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9413bb82-1d1d-49ef-b800-290ad5c2f5f9</vt:lpwstr>
  </property>
  <property fmtid="{D5CDD505-2E9C-101B-9397-08002B2CF9AE}" pid="7" name="MSIP_Label_defa4170-0d19-0005-0004-bc88714345d2_ActionId">
    <vt:lpwstr>fd61c4fd-9032-46b6-9a06-38855c08d33e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  <property fmtid="{D5CDD505-2E9C-101B-9397-08002B2CF9AE}" pid="10" name="ContentTypeId">
    <vt:lpwstr>0x0101009D3D88C512BC324299CA93C58F9838D9</vt:lpwstr>
  </property>
  <property fmtid="{D5CDD505-2E9C-101B-9397-08002B2CF9AE}" pid="11" name="gvdocid">
    <vt:lpwstr>7a10a07e-6e54-4ffe-be3b-041975a95247</vt:lpwstr>
  </property>
  <property fmtid="{D5CDD505-2E9C-101B-9397-08002B2CF9AE}" pid="12" name="ClassificationTagSetId">
    <vt:lpwstr>e16409a7-1700-4153-9090-3955bc2f0ae8</vt:lpwstr>
  </property>
  <property fmtid="{D5CDD505-2E9C-101B-9397-08002B2CF9AE}" pid="13" name="ComplianceTagSetId">
    <vt:lpwstr>f14fc1f1-8950-40d5-8a29-45909da947d6</vt:lpwstr>
  </property>
  <property fmtid="{D5CDD505-2E9C-101B-9397-08002B2CF9AE}" pid="14" name="FileId">
    <vt:lpwstr>7a10a07e-6e54-4ffe-be3b-041975a95247</vt:lpwstr>
  </property>
  <property fmtid="{D5CDD505-2E9C-101B-9397-08002B2CF9AE}" pid="15" name="UserId">
    <vt:lpwstr>Kushvarkhanim Kazimli</vt:lpwstr>
  </property>
  <property fmtid="{D5CDD505-2E9C-101B-9397-08002B2CF9AE}" pid="16" name="TagDateTime">
    <vt:lpwstr>2026-10-12T10:20:40Z</vt:lpwstr>
  </property>
  <property fmtid="{D5CDD505-2E9C-101B-9397-08002B2CF9AE}" pid="17" name="GVData">
    <vt:lpwstr>eyJPUyI6IldpbmRvd3MiLCJkb2NJRCI6IjdhMTBhMDdlLTZlNTQtNGZmZS1iZTNiLTA0MTk3NWE5NTI0NyIsImRvY1N0YXRlIjoie30iLCJsaW5lSWQiOiJlOGJiOGU1My00MDYxLTRhYmMtYjA3OS02NmNjNzRiODE4NTMiLCJwYXJlbnRMaW5lSWRzIjoiW10iLCJ3</vt:lpwstr>
  </property>
  <property fmtid="{D5CDD505-2E9C-101B-9397-08002B2CF9AE}" pid="18" name="GVData0">
    <vt:lpwstr>cml0dGVuS2V5cyI6IltcIk1TSVBfTGFiZWxfZGVmYTQxNzAtMGQxOS0wMDA1LTAwMDQtYmM4ODcxNDM0NWQyX0VuYWJsZWRcIixcIk1TSVBfTGFiZWxfZGVmYTQxNzAtMGQxOS0wMDA1LTAwMDQtYmM4ODcxNDM0NWQyX1NldERhdGVcIixcIk1TSVBfTGFiZWxfZGVm</vt:lpwstr>
  </property>
  <property fmtid="{D5CDD505-2E9C-101B-9397-08002B2CF9AE}" pid="19" name="GVData1">
    <vt:lpwstr>YTQxNzAtMGQxOS0wMDA1LTAwMDQtYmM4ODcxNDM0NWQyX01ldGhvZFwiLFwiTVNJUF9MYWJlbF9kZWZhNDE3MC0wZDE5LTAwMDUtMDAwNC1iYzg4NzE0MzQ1ZDJfTmFtZVwiLFwiTVNJUF9MYWJlbF9kZWZhNDE3MC0wZDE5LTAwMDUtMDAwNC1iYzg4NzE0MzQ1ZDJf</vt:lpwstr>
  </property>
  <property fmtid="{D5CDD505-2E9C-101B-9397-08002B2CF9AE}" pid="20" name="GVData2">
    <vt:lpwstr>U2l0ZUlkXCIsXCJNU0lQX0xhYmVsX2RlZmE0MTcwLTBkMTktMDAwNS0wMDA0LWJjODg3MTQzNDVkMl9BY3Rpb25JZFwiLFwiTVNJUF9MYWJlbF9kZWZhNDE3MC0wZDE5LTAwMDUtMDAwNC1iYzg4NzE0MzQ1ZDJfQ29udGVudEJpdHNcIixcIk1TSVBfTGFiZWxfZGVm</vt:lpwstr>
  </property>
  <property fmtid="{D5CDD505-2E9C-101B-9397-08002B2CF9AE}" pid="21" name="GVData3">
    <vt:lpwstr>YTQxNzAtMGQxOS0wMDA1LTAwMDQtYmM4ODcxNDM0NWQyX1RhZ1wiLFwiZ3Zkb2NpZFwiLFwiQ2xhc3NpZmljYXRpb25UYWdTZXRJZFwiLFwiQ29tcGxpYW5jZVRhZ1NldElkXCIsXCJGaWxlSWRcIixcIlVzZXJJZFwiLFwiVGFnRGF0ZVRpbWVcIl0iLCJub09mR3ZE</vt:lpwstr>
  </property>
  <property fmtid="{D5CDD505-2E9C-101B-9397-08002B2CF9AE}" pid="22" name="GVData4">
    <vt:lpwstr>YXRhRW50cmllcyI6IjcifQ==</vt:lpwstr>
  </property>
  <property fmtid="{D5CDD505-2E9C-101B-9397-08002B2CF9AE}" pid="23" name="GVData5">
    <vt:lpwstr>(end)</vt:lpwstr>
  </property>
</Properties>
</file>