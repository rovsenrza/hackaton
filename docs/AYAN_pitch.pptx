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b86df325-115a-cf41-1c9a-c79879980d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Əlavə: sual-cavab" id="{40453faf-7b3b-d3dd-3525-1e5b33a75c9b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0:00–0:15. Salam. Mən AYAN-ı təqdim edirəm: Bakı üçün mobility hub planlayıcısı. AYAN hub-ların harada olduğunu göstərmir, onları harada qurmalı olduğumuzu sübut edir: hansı sırayla, neçə nəfərə xidmət edəcəyini və ölçülə bilən təsirini.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0:15–0:35. Təsəvvür edin: Gəncədən Beynəlxalq Avtovağzala gəldiniz. Bu, Bakının ən yaxşı birləşmiş avtovağzalıdır və 5 baldan cəmi 2,9 alır: ən yaxın velo/scooter parkinqi 878 metr uzaqdadır. Cənub stansiyası və Abşeron isə 0,4 və 0,2 bal alır. Son kilometr burada qırılır.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0:35–1:05. Datada gördüyümüz: Bakı sakinlərinin 71,5%-nin 5 dəqiqəlik piyada məsafəsində parkinqi yoxdur. Sentyabrda qurulan yeni məntəqələrin 97,8%-i isə artıq parkinq olan yerlərdədir, yəni şəbəkə sıxlaşır, boşluq bağlanmır. Halbuki tələbat il ərzində 1,2 dəfə artıb. AYNA-nın üç problemi məhz budur: təcrid, vahid idarəetmə mərkəzinin olmaması və ölçülməyən CO₂.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1:05–1:25. AYAN bu üç problemə üç modulla cavab verir: hub planlayıcı, vahid rəqəmsal əkiz və ölçülən təsir. Bu, sadəcə qatları göstərən xəritə deyil, qərar alətidir.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1:25–1:50. Necə işləyir: hakatonun dörd qatını açıq datalarla birləşdiririk, hər xana üçün tələbatı və mövcud parkinqə real piyada məsafəsini hesablayırıq. Sonra maksimal əhatə modeli təxminən üç min nəqliyyat düyünündən ən yaxşı hub-ları sıra ilə seçir, hər birini səki zolağına yerləşdirir və AYNA-nın real dövriyyəsi ilə kalibrləyir.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1:50–2:35. Canlı demo. Tikinti ardıcıllığından 1 nömrəli hub-a klik edirəm: 20 Yanvar metrosu. Sarı sahə real piyada şəbəkəsi ilə 5 dəqiqəlik zonadır, düz dairə deyil. Kartda əhali, metro, 36 marşrut, tip, yer sayı və CO₂ var, hər rəqəmin yanında ölçülmüş, model və ya ssenari nişanı. 3D rejimdə isə şəhər rəqəmsal əkiz kimi görünür. Demo işləməsə, bu slayddakı ekranlar ehtiyatdır.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2:35–2:55. Rəhbər üçün bir ekran: hub sayını sürgü ilə dəyişirsən, əhatə, səfər və CO₂ dərhal yenilənir. Hər hub təklifdən təsdiqə qədər axından keçir və GeoJSON kimi ixrac olunur. AI kopilot sualla planlaşdırmağa kömək edir və hər hub üçün əsaslandırma sənədi yazır.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2:55–3:20. Model təsadüfi deyil. Eyni 10 hub-ı ən yüksək tələbata görə qoysanız 1,5 dəfə, təsadüfi qoysanız 7,5 dəfə, mərkəzə yaxın qoysanız 20 dəfə az əlavə səfər alırsınız. Tələbat indeksi AYNA-nın real parkinq qoyduğu yerləri 0,95 AUC ilə tanıyır, mərkəz effektini çıxanda da baza xəttindən yüksəkdir. AYNA-nın 7 mübadilə mərkəzindən 3-nü model özü tapıb.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3:20–3:35. İlk 20 hub xidmətsiz tələbatın 12,1%-ni bağlayır və təxminən 12 300 sakinə ilk dəfə 5 dəqiqəlik çıxış verir. Rəqəmlər bilərəkdən konservativdir: yalnız artım sayılır. Əyri azalan qazancı göstərir və büdcənin hara getməli olduğunu deyir.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3:35–3:50. Növbəti addım: AYNA ilə 3 aylıq pilot. Birinci ay top-10 hub-ın sahə auditi və data inteqrasiyası, sonra 10 hub və faktiki səfərlərlə modelin yoxlanması, sonra real vaxt idarəetmə və digər şəhərlər. Model: nəqliyyat agentlikləri üçün B2G platforma, AYNA ilk müştəri.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3:50–3:55. Komanda: bir nəfər. Data, model, backend, frontend və dizayn 36 saatda, işləyən prototip kimi.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3:55–4:00. AYAN ilə qərarı qurmazdan əvvəl sınayırsınız. Təklifimiz: AYNA ilə 10 hub-lıq pilot. Təşəkkür edirəm, suallarınızı gözləyirəm.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AYAN · TransportTech hakatonu · İRİA × AYNA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AYAN · TransportTech hakatonu · İRİA × AYNA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ot-1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AYAN</a:t>
            </a:r>
            <a:endParaRPr lang="en-US" sz="8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Bakıda mobility hub-ların harada, hansı sırayla qurulmalı olduğunu sübut edən rəqəmsal əkiz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4008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Mobility Hub &amp; Last-Mile istiqaməti</a:t>
            </a:r>
            <a:endParaRPr lang="en-US" sz="1500" dirty="0"/>
          </a:p>
        </p:txBody>
      </p:sp>
      <p:sp>
        <p:nvSpPr>
          <p:cNvPr id="6" name="text-3"/>
          <p:cNvSpPr txBox="1"/>
          <p:nvPr/>
        </p:nvSpPr>
        <p:spPr>
          <a:xfrm>
            <a:off x="640080" y="5468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TransportTech hakatonu · İRİA × AYNA · 18 oktyabr 2026</a:t>
            </a:r>
            <a:endParaRPr lang="en-US" sz="1400" dirty="0"/>
          </a:p>
        </p:txBody>
      </p:sp>
      <p:sp>
        <p:nvSpPr>
          <p:cNvPr id="7" name="ring-4"/>
          <p:cNvSpPr/>
          <p:nvPr/>
        </p:nvSpPr>
        <p:spPr>
          <a:xfrm>
            <a:off x="64008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64008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ring-6"/>
          <p:cNvSpPr/>
          <p:nvPr/>
        </p:nvSpPr>
        <p:spPr>
          <a:xfrm>
            <a:off x="114300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0" name="text-7"/>
          <p:cNvSpPr txBox="1"/>
          <p:nvPr/>
        </p:nvSpPr>
        <p:spPr>
          <a:xfrm>
            <a:off x="11430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ring-8"/>
          <p:cNvSpPr/>
          <p:nvPr/>
        </p:nvSpPr>
        <p:spPr>
          <a:xfrm>
            <a:off x="164592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text-9"/>
          <p:cNvSpPr txBox="1"/>
          <p:nvPr/>
        </p:nvSpPr>
        <p:spPr>
          <a:xfrm>
            <a:off x="164592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ring-10"/>
          <p:cNvSpPr/>
          <p:nvPr/>
        </p:nvSpPr>
        <p:spPr>
          <a:xfrm>
            <a:off x="214884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4" name="text-11"/>
          <p:cNvSpPr txBox="1"/>
          <p:nvPr/>
        </p:nvSpPr>
        <p:spPr>
          <a:xfrm>
            <a:off x="21488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HEKAYƏ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Gəncədən Bakıya gəldiniz. Evə necə gedəcəksiniz?</a:t>
            </a:r>
            <a:endParaRPr lang="en-US" sz="3400" dirty="0"/>
          </a:p>
        </p:txBody>
      </p:sp>
      <p:sp>
        <p:nvSpPr>
          <p:cNvPr id="4" name="text-12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Avtovağzal gəliş balı (0–5): sərnişin son kilometri nə ilə qət edə bilər</a:t>
            </a:r>
            <a:endParaRPr lang="en-US" sz="1600" dirty="0"/>
          </a:p>
        </p:txBody>
      </p:sp>
      <p:sp>
        <p:nvSpPr>
          <p:cNvPr id="5" name="card-13"/>
          <p:cNvSpPr/>
          <p:nvPr/>
        </p:nvSpPr>
        <p:spPr>
          <a:xfrm>
            <a:off x="548640" y="205740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6" name="text-14"/>
          <p:cNvSpPr txBox="1"/>
          <p:nvPr/>
        </p:nvSpPr>
        <p:spPr>
          <a:xfrm>
            <a:off x="8686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Bakı Beynəlxalq Avtovağzal</a:t>
            </a:r>
            <a:endParaRPr lang="en-US" sz="1600" dirty="0"/>
          </a:p>
        </p:txBody>
      </p:sp>
      <p:sp>
        <p:nvSpPr>
          <p:cNvPr id="7" name="text-15"/>
          <p:cNvSpPr txBox="1"/>
          <p:nvPr/>
        </p:nvSpPr>
        <p:spPr>
          <a:xfrm>
            <a:off x="86868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2,9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/ 5</a:t>
            </a:r>
            <a:endParaRPr lang="en-US" sz="1500" dirty="0"/>
          </a:p>
        </p:txBody>
      </p:sp>
      <p:sp>
        <p:nvSpPr>
          <p:cNvPr id="8" name="track-16"/>
          <p:cNvSpPr/>
          <p:nvPr/>
        </p:nvSpPr>
        <p:spPr>
          <a:xfrm>
            <a:off x="868680" y="3749040"/>
            <a:ext cx="28346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bar-17"/>
          <p:cNvSpPr/>
          <p:nvPr/>
        </p:nvSpPr>
        <p:spPr>
          <a:xfrm>
            <a:off x="868680" y="3749040"/>
            <a:ext cx="1644091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-18"/>
          <p:cNvSpPr txBox="1"/>
          <p:nvPr/>
        </p:nvSpPr>
        <p:spPr>
          <a:xfrm>
            <a:off x="868680" y="4069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Metro</a:t>
            </a:r>
            <a:endParaRPr lang="en-US" sz="1400" dirty="0"/>
          </a:p>
        </p:txBody>
      </p:sp>
      <p:sp>
        <p:nvSpPr>
          <p:cNvPr id="11" name="text-19"/>
          <p:cNvSpPr txBox="1"/>
          <p:nvPr/>
        </p:nvSpPr>
        <p:spPr>
          <a:xfrm>
            <a:off x="2697480" y="4069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320 m</a:t>
            </a:r>
            <a:endParaRPr lang="en-US" sz="1400" dirty="0"/>
          </a:p>
        </p:txBody>
      </p:sp>
      <p:sp>
        <p:nvSpPr>
          <p:cNvPr id="12" name="text-20"/>
          <p:cNvSpPr txBox="1"/>
          <p:nvPr/>
        </p:nvSpPr>
        <p:spPr>
          <a:xfrm>
            <a:off x="868680" y="4453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Marşrut (400 m)</a:t>
            </a:r>
            <a:endParaRPr lang="en-US" sz="1400" dirty="0"/>
          </a:p>
        </p:txBody>
      </p:sp>
      <p:sp>
        <p:nvSpPr>
          <p:cNvPr id="13" name="text-21"/>
          <p:cNvSpPr txBox="1"/>
          <p:nvPr/>
        </p:nvSpPr>
        <p:spPr>
          <a:xfrm>
            <a:off x="2697480" y="4453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29</a:t>
            </a:r>
            <a:endParaRPr lang="en-US" sz="1400" dirty="0"/>
          </a:p>
        </p:txBody>
      </p:sp>
      <p:sp>
        <p:nvSpPr>
          <p:cNvPr id="14" name="text-22"/>
          <p:cNvSpPr txBox="1"/>
          <p:nvPr/>
        </p:nvSpPr>
        <p:spPr>
          <a:xfrm>
            <a:off x="868680" y="4837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parkinqi</a:t>
            </a:r>
            <a:endParaRPr lang="en-US" sz="1400" dirty="0"/>
          </a:p>
        </p:txBody>
      </p:sp>
      <p:sp>
        <p:nvSpPr>
          <p:cNvPr id="15" name="text-23"/>
          <p:cNvSpPr txBox="1"/>
          <p:nvPr/>
        </p:nvSpPr>
        <p:spPr>
          <a:xfrm>
            <a:off x="269748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878 m</a:t>
            </a:r>
            <a:endParaRPr lang="en-US" sz="1400" dirty="0"/>
          </a:p>
        </p:txBody>
      </p:sp>
      <p:sp>
        <p:nvSpPr>
          <p:cNvPr id="16" name="card-24"/>
          <p:cNvSpPr/>
          <p:nvPr/>
        </p:nvSpPr>
        <p:spPr>
          <a:xfrm>
            <a:off x="4297680" y="205740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17" name="text-25"/>
          <p:cNvSpPr txBox="1"/>
          <p:nvPr/>
        </p:nvSpPr>
        <p:spPr>
          <a:xfrm>
            <a:off x="461772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Cənub stansiyası</a:t>
            </a:r>
            <a:endParaRPr lang="en-US" sz="1600" dirty="0"/>
          </a:p>
        </p:txBody>
      </p:sp>
      <p:sp>
        <p:nvSpPr>
          <p:cNvPr id="18" name="text-26"/>
          <p:cNvSpPr txBox="1"/>
          <p:nvPr/>
        </p:nvSpPr>
        <p:spPr>
          <a:xfrm>
            <a:off x="461772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0,4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/ 5</a:t>
            </a:r>
            <a:endParaRPr lang="en-US" sz="1500" dirty="0"/>
          </a:p>
        </p:txBody>
      </p:sp>
      <p:sp>
        <p:nvSpPr>
          <p:cNvPr id="19" name="track-27"/>
          <p:cNvSpPr/>
          <p:nvPr/>
        </p:nvSpPr>
        <p:spPr>
          <a:xfrm>
            <a:off x="4617720" y="3749040"/>
            <a:ext cx="28346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bar-28"/>
          <p:cNvSpPr/>
          <p:nvPr/>
        </p:nvSpPr>
        <p:spPr>
          <a:xfrm>
            <a:off x="4617720" y="3749040"/>
            <a:ext cx="226771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text-29"/>
          <p:cNvSpPr txBox="1"/>
          <p:nvPr/>
        </p:nvSpPr>
        <p:spPr>
          <a:xfrm>
            <a:off x="4617720" y="4069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Metro</a:t>
            </a:r>
            <a:endParaRPr lang="en-US" sz="1400" dirty="0"/>
          </a:p>
        </p:txBody>
      </p:sp>
      <p:sp>
        <p:nvSpPr>
          <p:cNvPr id="22" name="text-30"/>
          <p:cNvSpPr txBox="1"/>
          <p:nvPr/>
        </p:nvSpPr>
        <p:spPr>
          <a:xfrm>
            <a:off x="6446520" y="4069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23" name="text-31"/>
          <p:cNvSpPr txBox="1"/>
          <p:nvPr/>
        </p:nvSpPr>
        <p:spPr>
          <a:xfrm>
            <a:off x="4617720" y="4453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Marşrut (400 m)</a:t>
            </a:r>
            <a:endParaRPr lang="en-US" sz="1400" dirty="0"/>
          </a:p>
        </p:txBody>
      </p:sp>
      <p:sp>
        <p:nvSpPr>
          <p:cNvPr id="24" name="text-32"/>
          <p:cNvSpPr txBox="1"/>
          <p:nvPr/>
        </p:nvSpPr>
        <p:spPr>
          <a:xfrm>
            <a:off x="6446520" y="4453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-33"/>
          <p:cNvSpPr txBox="1"/>
          <p:nvPr/>
        </p:nvSpPr>
        <p:spPr>
          <a:xfrm>
            <a:off x="4617720" y="4837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parkinqi</a:t>
            </a:r>
            <a:endParaRPr lang="en-US" sz="1400" dirty="0"/>
          </a:p>
        </p:txBody>
      </p:sp>
      <p:sp>
        <p:nvSpPr>
          <p:cNvPr id="26" name="text-34"/>
          <p:cNvSpPr txBox="1"/>
          <p:nvPr/>
        </p:nvSpPr>
        <p:spPr>
          <a:xfrm>
            <a:off x="644652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27" name="card-35"/>
          <p:cNvSpPr/>
          <p:nvPr/>
        </p:nvSpPr>
        <p:spPr>
          <a:xfrm>
            <a:off x="8046720" y="205740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28" name="text-36"/>
          <p:cNvSpPr txBox="1"/>
          <p:nvPr/>
        </p:nvSpPr>
        <p:spPr>
          <a:xfrm>
            <a:off x="836676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Abşeron TM avtovağzalı</a:t>
            </a:r>
            <a:endParaRPr lang="en-US" sz="1600" dirty="0"/>
          </a:p>
        </p:txBody>
      </p:sp>
      <p:sp>
        <p:nvSpPr>
          <p:cNvPr id="29" name="text-37"/>
          <p:cNvSpPr txBox="1"/>
          <p:nvPr/>
        </p:nvSpPr>
        <p:spPr>
          <a:xfrm>
            <a:off x="836676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0,2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/ 5</a:t>
            </a:r>
            <a:endParaRPr lang="en-US" sz="1500" dirty="0"/>
          </a:p>
        </p:txBody>
      </p:sp>
      <p:sp>
        <p:nvSpPr>
          <p:cNvPr id="30" name="track-38"/>
          <p:cNvSpPr/>
          <p:nvPr/>
        </p:nvSpPr>
        <p:spPr>
          <a:xfrm>
            <a:off x="8366760" y="3749040"/>
            <a:ext cx="28346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1" name="bar-39"/>
          <p:cNvSpPr/>
          <p:nvPr/>
        </p:nvSpPr>
        <p:spPr>
          <a:xfrm>
            <a:off x="8366760" y="3749040"/>
            <a:ext cx="113386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text-40"/>
          <p:cNvSpPr txBox="1"/>
          <p:nvPr/>
        </p:nvSpPr>
        <p:spPr>
          <a:xfrm>
            <a:off x="8366760" y="4069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Metro</a:t>
            </a:r>
            <a:endParaRPr lang="en-US" sz="1400" dirty="0"/>
          </a:p>
        </p:txBody>
      </p:sp>
      <p:sp>
        <p:nvSpPr>
          <p:cNvPr id="33" name="text-41"/>
          <p:cNvSpPr txBox="1"/>
          <p:nvPr/>
        </p:nvSpPr>
        <p:spPr>
          <a:xfrm>
            <a:off x="10195560" y="4069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34" name="text-42"/>
          <p:cNvSpPr txBox="1"/>
          <p:nvPr/>
        </p:nvSpPr>
        <p:spPr>
          <a:xfrm>
            <a:off x="8366760" y="4453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Marşrut (400 m)</a:t>
            </a:r>
            <a:endParaRPr lang="en-US" sz="1400" dirty="0"/>
          </a:p>
        </p:txBody>
      </p:sp>
      <p:sp>
        <p:nvSpPr>
          <p:cNvPr id="35" name="text-43"/>
          <p:cNvSpPr txBox="1"/>
          <p:nvPr/>
        </p:nvSpPr>
        <p:spPr>
          <a:xfrm>
            <a:off x="10195560" y="4453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ext-44"/>
          <p:cNvSpPr txBox="1"/>
          <p:nvPr/>
        </p:nvSpPr>
        <p:spPr>
          <a:xfrm>
            <a:off x="8366760" y="4837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parkinqi</a:t>
            </a:r>
            <a:endParaRPr lang="en-US" sz="1400" dirty="0"/>
          </a:p>
        </p:txBody>
      </p:sp>
      <p:sp>
        <p:nvSpPr>
          <p:cNvPr id="37" name="text-45"/>
          <p:cNvSpPr txBox="1"/>
          <p:nvPr/>
        </p:nvSpPr>
        <p:spPr>
          <a:xfrm>
            <a:off x="1019556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&gt; 1,5 km</a:t>
            </a:r>
            <a:endParaRPr lang="en-US" sz="1400" dirty="0"/>
          </a:p>
        </p:txBody>
      </p:sp>
      <p:sp>
        <p:nvSpPr>
          <p:cNvPr id="38" name="text-46"/>
          <p:cNvSpPr txBox="1"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Şəhərə ən çox sərnişin gətirən qapıda belə ən yaxın velo/scooter parkinqi 878 m uzaqdadır.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Tələbat sürətlə böyüyür, infrastruktur isə alətsiz genişlənir</a:t>
            </a:r>
            <a:endParaRPr lang="en-US" sz="3400" dirty="0"/>
          </a:p>
        </p:txBody>
      </p:sp>
      <p:sp>
        <p:nvSpPr>
          <p:cNvPr id="4" name="text-47"/>
          <p:cNvSpPr txBox="1"/>
          <p:nvPr/>
        </p:nvSpPr>
        <p:spPr>
          <a:xfrm>
            <a:off x="54864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4"/>
                </a:solidFill>
              </a:rPr>
              <a:t>71,5%</a:t>
            </a:r>
            <a:endParaRPr lang="en-US" sz="5600" dirty="0"/>
          </a:p>
        </p:txBody>
      </p:sp>
      <p:sp>
        <p:nvSpPr>
          <p:cNvPr id="5" name="text-48"/>
          <p:cNvSpPr txBox="1"/>
          <p:nvPr/>
        </p:nvSpPr>
        <p:spPr>
          <a:xfrm>
            <a:off x="54864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Bakı sakininin (≈2 065 000) 5 dəqiqəlik piyada məsafəsində velo/scooter parkinqi yoxdur</a:t>
            </a:r>
            <a:endParaRPr lang="en-US" sz="1500" dirty="0"/>
          </a:p>
        </p:txBody>
      </p:sp>
      <p:sp>
        <p:nvSpPr>
          <p:cNvPr id="6" name="text-49"/>
          <p:cNvSpPr txBox="1"/>
          <p:nvPr/>
        </p:nvSpPr>
        <p:spPr>
          <a:xfrm>
            <a:off x="54864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WorldPop 2026 + AYNA parkinqləri</a:t>
            </a:r>
            <a:endParaRPr lang="en-US" sz="1100" dirty="0"/>
          </a:p>
        </p:txBody>
      </p:sp>
      <p:sp>
        <p:nvSpPr>
          <p:cNvPr id="7" name="text-50"/>
          <p:cNvSpPr txBox="1"/>
          <p:nvPr/>
        </p:nvSpPr>
        <p:spPr>
          <a:xfrm>
            <a:off x="429768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97,8%</a:t>
            </a:r>
            <a:endParaRPr lang="en-US" sz="5600" dirty="0"/>
          </a:p>
        </p:txBody>
      </p:sp>
      <p:sp>
        <p:nvSpPr>
          <p:cNvPr id="8" name="text-51"/>
          <p:cNvSpPr txBox="1"/>
          <p:nvPr/>
        </p:nvSpPr>
        <p:spPr>
          <a:xfrm>
            <a:off x="429768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yeni MPV məntəqələri artıq parkinq olan yerlərin 400 m-liyindədir. Şəbəkə sıxlaşır, boşluq bağlanmır</a:t>
            </a:r>
            <a:endParaRPr lang="en-US" sz="1500" dirty="0"/>
          </a:p>
        </p:txBody>
      </p:sp>
      <p:sp>
        <p:nvSpPr>
          <p:cNvPr id="9" name="text-52"/>
          <p:cNvSpPr txBox="1"/>
          <p:nvPr/>
        </p:nvSpPr>
        <p:spPr>
          <a:xfrm>
            <a:off x="42976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Təsadüfi sakin üçün bu pay 40%-dir</a:t>
            </a:r>
            <a:endParaRPr lang="en-US" sz="1100" dirty="0"/>
          </a:p>
        </p:txBody>
      </p:sp>
      <p:sp>
        <p:nvSpPr>
          <p:cNvPr id="10" name="text-53"/>
          <p:cNvSpPr txBox="1"/>
          <p:nvPr/>
        </p:nvSpPr>
        <p:spPr>
          <a:xfrm>
            <a:off x="804672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3"/>
                </a:solidFill>
              </a:rPr>
              <a:t>2,3 mln</a:t>
            </a:r>
            <a:endParaRPr lang="en-US" sz="5600" dirty="0"/>
          </a:p>
        </p:txBody>
      </p:sp>
      <p:sp>
        <p:nvSpPr>
          <p:cNvPr id="11" name="text-54"/>
          <p:cNvSpPr txBox="1"/>
          <p:nvPr/>
        </p:nvSpPr>
        <p:spPr>
          <a:xfrm>
            <a:off x="8046720" y="26060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mikromobillik sifarişi (yanvar–iyul 2026), ötən ilin eyni dövründən 1,2 dəfə çox</a:t>
            </a:r>
            <a:endParaRPr lang="en-US" sz="1500" dirty="0"/>
          </a:p>
        </p:txBody>
      </p:sp>
      <p:sp>
        <p:nvSpPr>
          <p:cNvPr id="12" name="text-55"/>
          <p:cNvSpPr txBox="1"/>
          <p:nvPr/>
        </p:nvSpPr>
        <p:spPr>
          <a:xfrm>
            <a:off x="804672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AYNA, 2026</a:t>
            </a:r>
            <a:endParaRPr lang="en-US" sz="1100" dirty="0"/>
          </a:p>
        </p:txBody>
      </p:sp>
      <p:sp>
        <p:nvSpPr>
          <p:cNvPr id="13" name="card-56"/>
          <p:cNvSpPr/>
          <p:nvPr/>
        </p:nvSpPr>
        <p:spPr>
          <a:xfrm>
            <a:off x="548640" y="4206240"/>
            <a:ext cx="1106424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/>
        </p:spPr>
      </p:sp>
      <p:sp>
        <p:nvSpPr>
          <p:cNvPr id="14" name="text-57"/>
          <p:cNvSpPr txBox="1"/>
          <p:nvPr/>
        </p:nvSpPr>
        <p:spPr>
          <a:xfrm>
            <a:off x="8686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AYNA-nın qoyduğu 3 problem</a:t>
            </a:r>
            <a:endParaRPr lang="en-US" sz="1400" dirty="0"/>
          </a:p>
        </p:txBody>
      </p:sp>
      <p:sp>
        <p:nvSpPr>
          <p:cNvPr id="15" name="ring-58"/>
          <p:cNvSpPr/>
          <p:nvPr/>
        </p:nvSpPr>
        <p:spPr>
          <a:xfrm>
            <a:off x="868680" y="48920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6" name="text-59"/>
          <p:cNvSpPr txBox="1"/>
          <p:nvPr/>
        </p:nvSpPr>
        <p:spPr>
          <a:xfrm>
            <a:off x="86868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-60"/>
          <p:cNvSpPr txBox="1"/>
          <p:nvPr/>
        </p:nvSpPr>
        <p:spPr>
          <a:xfrm>
            <a:off x="1463040" y="4800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Nəqliyyat növləri təcrid olunub: avtovağzaldan avtobusa və mikromobilliyə keçid zəifdir</a:t>
            </a:r>
            <a:endParaRPr lang="en-US" sz="1400" dirty="0"/>
          </a:p>
        </p:txBody>
      </p:sp>
      <p:sp>
        <p:nvSpPr>
          <p:cNvPr id="18" name="ring-61"/>
          <p:cNvSpPr/>
          <p:nvPr/>
        </p:nvSpPr>
        <p:spPr>
          <a:xfrm>
            <a:off x="4480560" y="48920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9" name="text-62"/>
          <p:cNvSpPr txBox="1"/>
          <p:nvPr/>
        </p:nvSpPr>
        <p:spPr>
          <a:xfrm>
            <a:off x="448056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-63"/>
          <p:cNvSpPr txBox="1"/>
          <p:nvPr/>
        </p:nvSpPr>
        <p:spPr>
          <a:xfrm>
            <a:off x="5074920" y="4800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Hub-ları və çatışmayan infrastrukturu göstərən vahid idarəetmə mərkəzi yoxdur</a:t>
            </a:r>
            <a:endParaRPr lang="en-US" sz="1400" dirty="0"/>
          </a:p>
        </p:txBody>
      </p:sp>
      <p:sp>
        <p:nvSpPr>
          <p:cNvPr id="21" name="ring-64"/>
          <p:cNvSpPr/>
          <p:nvPr/>
        </p:nvSpPr>
        <p:spPr>
          <a:xfrm>
            <a:off x="8092440" y="48920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2" name="text-65"/>
          <p:cNvSpPr txBox="1"/>
          <p:nvPr/>
        </p:nvSpPr>
        <p:spPr>
          <a:xfrm>
            <a:off x="809244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-66"/>
          <p:cNvSpPr txBox="1"/>
          <p:nvPr/>
        </p:nvSpPr>
        <p:spPr>
          <a:xfrm>
            <a:off x="8686800" y="4800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Yaşıl nəqliyyata keçidin ekoloji və karbon effekti ölçülmür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HƏLL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AYAN: xəritə yox, qərar aləti</a:t>
            </a:r>
            <a:endParaRPr lang="en-US" sz="3400" dirty="0"/>
          </a:p>
        </p:txBody>
      </p:sp>
      <p:sp>
        <p:nvSpPr>
          <p:cNvPr id="4" name="ring-67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-68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69"/>
          <p:cNvSpPr txBox="1"/>
          <p:nvPr/>
        </p:nvSpPr>
        <p:spPr>
          <a:xfrm>
            <a:off x="12801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Hub planlayıcı</a:t>
            </a:r>
            <a:endParaRPr lang="en-US" sz="2000" dirty="0"/>
          </a:p>
        </p:txBody>
      </p:sp>
      <p:sp>
        <p:nvSpPr>
          <p:cNvPr id="7" name="text-70"/>
          <p:cNvSpPr txBox="1"/>
          <p:nvPr/>
        </p:nvSpPr>
        <p:spPr>
          <a:xfrm>
            <a:off x="128016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Maksimal əhatə modeli (MCLP) ən yaxşı N hub-ı, qurulma sırasını, tipini (S/M/L) və yer sayını seçir</a:t>
            </a:r>
            <a:endParaRPr lang="en-US" sz="1500" dirty="0"/>
          </a:p>
        </p:txBody>
      </p:sp>
      <p:sp>
        <p:nvSpPr>
          <p:cNvPr id="8" name="ring-71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9" name="text-72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73"/>
          <p:cNvSpPr txBox="1"/>
          <p:nvPr/>
        </p:nvSpPr>
        <p:spPr>
          <a:xfrm>
            <a:off x="128016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Vahid rəqəmsal əkiz</a:t>
            </a:r>
            <a:endParaRPr lang="en-US" sz="2000" dirty="0"/>
          </a:p>
        </p:txBody>
      </p:sp>
      <p:sp>
        <p:nvSpPr>
          <p:cNvPr id="11" name="text-74"/>
          <p:cNvSpPr txBox="1"/>
          <p:nvPr/>
        </p:nvSpPr>
        <p:spPr>
          <a:xfrm>
            <a:off x="1280160" y="3429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2D planlaşdırma, 3D əkiz, rəhbərlik paneli və Təklif → Təsdiq axını bir ekranda</a:t>
            </a:r>
            <a:endParaRPr lang="en-US" sz="1500" dirty="0"/>
          </a:p>
        </p:txBody>
      </p:sp>
      <p:sp>
        <p:nvSpPr>
          <p:cNvPr id="12" name="ring-75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3" name="text-76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-77"/>
          <p:cNvSpPr txBox="1"/>
          <p:nvPr/>
        </p:nvSpPr>
        <p:spPr>
          <a:xfrm>
            <a:off x="128016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Ölçülən təsir</a:t>
            </a:r>
            <a:endParaRPr lang="en-US" sz="2000" dirty="0"/>
          </a:p>
        </p:txBody>
      </p:sp>
      <p:sp>
        <p:nvSpPr>
          <p:cNvPr id="15" name="text-78"/>
          <p:cNvSpPr txBox="1"/>
          <p:nvPr/>
        </p:nvSpPr>
        <p:spPr>
          <a:xfrm>
            <a:off x="1280160" y="4754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Hər hub üçün yeni xidmət alan sakin, əlavə səfər və CO₂, mənbəli əmsallarla</a:t>
            </a:r>
            <a:endParaRPr lang="en-US" sz="1500" dirty="0"/>
          </a:p>
        </p:txBody>
      </p:sp>
      <p:pic>
        <p:nvPicPr>
          <p:cNvPr id="16" name="shot-79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600200"/>
            <a:ext cx="5806440" cy="3264408"/>
          </a:xfrm>
          <a:prstGeom prst="rect">
            <a:avLst/>
          </a:prstGeom>
        </p:spPr>
      </p:pic>
      <p:sp>
        <p:nvSpPr>
          <p:cNvPr id="17" name="text-80"/>
          <p:cNvSpPr txBox="1"/>
          <p:nvPr/>
        </p:nvSpPr>
        <p:spPr>
          <a:xfrm>
            <a:off x="5806440" y="495604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Xidmət olunmamış tələbatın istilik xəritəsi, top-20 hub və tikinti ardıcıllığı</a:t>
            </a:r>
            <a:endParaRPr lang="en-US" sz="1200" dirty="0"/>
          </a:p>
        </p:txBody>
      </p:sp>
      <p:sp>
        <p:nvSpPr>
          <p:cNvPr id="18" name="text-81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Hub-ların harada olduğunu göstərmirik, harada qurulmalı olduğunu sübut edirik.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NECƏ İŞLƏYİR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Xam datadan sıralanmış hub siyahısına: 6 addım</a:t>
            </a:r>
            <a:endParaRPr lang="en-US" sz="3400" dirty="0"/>
          </a:p>
        </p:txBody>
      </p:sp>
      <p:sp>
        <p:nvSpPr>
          <p:cNvPr id="4" name="rail-82"/>
          <p:cNvSpPr/>
          <p:nvPr/>
        </p:nvSpPr>
        <p:spPr>
          <a:xfrm>
            <a:off x="914400" y="2057400"/>
            <a:ext cx="10332720" cy="0"/>
          </a:xfrm>
          <a:prstGeom prst="line">
            <a:avLst/>
          </a:prstGeom>
          <a:noFill/>
          <a:ln w="25400">
            <a:solidFill>
              <a:srgbClr val="8FA6B2"/>
            </a:solidFill>
            <a:prstDash val="dash"/>
          </a:ln>
        </p:spPr>
      </p:sp>
      <p:sp>
        <p:nvSpPr>
          <p:cNvPr id="5" name="ring-83"/>
          <p:cNvSpPr/>
          <p:nvPr/>
        </p:nvSpPr>
        <p:spPr>
          <a:xfrm>
            <a:off x="658368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84"/>
          <p:cNvSpPr txBox="1"/>
          <p:nvPr/>
        </p:nvSpPr>
        <p:spPr>
          <a:xfrm>
            <a:off x="65836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85"/>
          <p:cNvSpPr txBox="1"/>
          <p:nvPr/>
        </p:nvSpPr>
        <p:spPr>
          <a:xfrm>
            <a:off x="5486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Data</a:t>
            </a:r>
            <a:endParaRPr lang="en-US" sz="1700" dirty="0"/>
          </a:p>
        </p:txBody>
      </p:sp>
      <p:sp>
        <p:nvSpPr>
          <p:cNvPr id="8" name="text-86"/>
          <p:cNvSpPr txBox="1"/>
          <p:nvPr/>
        </p:nvSpPr>
        <p:spPr>
          <a:xfrm>
            <a:off x="548640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Hakatonun 4 qatı + metro və BakuBus sərnişinləri, WorldPop 2026, OSM, Overture POI, AYNA API</a:t>
            </a:r>
            <a:endParaRPr lang="en-US" sz="1400" dirty="0"/>
          </a:p>
        </p:txBody>
      </p:sp>
      <p:sp>
        <p:nvSpPr>
          <p:cNvPr id="9" name="ring-87"/>
          <p:cNvSpPr/>
          <p:nvPr/>
        </p:nvSpPr>
        <p:spPr>
          <a:xfrm>
            <a:off x="2542032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0" name="text-88"/>
          <p:cNvSpPr txBox="1"/>
          <p:nvPr/>
        </p:nvSpPr>
        <p:spPr>
          <a:xfrm>
            <a:off x="254203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89"/>
          <p:cNvSpPr txBox="1"/>
          <p:nvPr/>
        </p:nvSpPr>
        <p:spPr>
          <a:xfrm>
            <a:off x="2432304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Tələbat</a:t>
            </a:r>
            <a:endParaRPr lang="en-US" sz="1700" dirty="0"/>
          </a:p>
        </p:txBody>
      </p:sp>
      <p:sp>
        <p:nvSpPr>
          <p:cNvPr id="12" name="text-90"/>
          <p:cNvSpPr txBox="1"/>
          <p:nvPr/>
        </p:nvSpPr>
        <p:spPr>
          <a:xfrm>
            <a:off x="2432304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H3 xanaları: nəqliyyat 45% · əhali 35% · cazibə 20%. 122 özəl marşrut üçün ML proqnozu</a:t>
            </a:r>
            <a:endParaRPr lang="en-US" sz="1400" dirty="0"/>
          </a:p>
        </p:txBody>
      </p:sp>
      <p:sp>
        <p:nvSpPr>
          <p:cNvPr id="13" name="ring-91"/>
          <p:cNvSpPr/>
          <p:nvPr/>
        </p:nvSpPr>
        <p:spPr>
          <a:xfrm>
            <a:off x="4425696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14" name="text-92"/>
          <p:cNvSpPr txBox="1"/>
          <p:nvPr/>
        </p:nvSpPr>
        <p:spPr>
          <a:xfrm>
            <a:off x="4425696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93"/>
          <p:cNvSpPr txBox="1"/>
          <p:nvPr/>
        </p:nvSpPr>
        <p:spPr>
          <a:xfrm>
            <a:off x="4315968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Boşluq</a:t>
            </a:r>
            <a:endParaRPr lang="en-US" sz="1700" dirty="0"/>
          </a:p>
        </p:txBody>
      </p:sp>
      <p:sp>
        <p:nvSpPr>
          <p:cNvPr id="16" name="text-94"/>
          <p:cNvSpPr txBox="1"/>
          <p:nvPr/>
        </p:nvSpPr>
        <p:spPr>
          <a:xfrm>
            <a:off x="4315968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Mövcud parkinqə real piyada məsafəsi: 150 m-də 0, 400 m-də tam boşluq</a:t>
            </a:r>
            <a:endParaRPr lang="en-US" sz="1400" dirty="0"/>
          </a:p>
        </p:txBody>
      </p:sp>
      <p:sp>
        <p:nvSpPr>
          <p:cNvPr id="17" name="ring-95"/>
          <p:cNvSpPr/>
          <p:nvPr/>
        </p:nvSpPr>
        <p:spPr>
          <a:xfrm>
            <a:off x="6309360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8" name="text-96"/>
          <p:cNvSpPr txBox="1"/>
          <p:nvPr/>
        </p:nvSpPr>
        <p:spPr>
          <a:xfrm>
            <a:off x="630936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-97"/>
          <p:cNvSpPr txBox="1"/>
          <p:nvPr/>
        </p:nvSpPr>
        <p:spPr>
          <a:xfrm>
            <a:off x="6199632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Optimallaşdırma</a:t>
            </a:r>
            <a:endParaRPr lang="en-US" sz="1700" dirty="0"/>
          </a:p>
        </p:txBody>
      </p:sp>
      <p:sp>
        <p:nvSpPr>
          <p:cNvPr id="20" name="text-98"/>
          <p:cNvSpPr txBox="1"/>
          <p:nvPr/>
        </p:nvSpPr>
        <p:spPr>
          <a:xfrm>
            <a:off x="6199632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2 986 nəqliyyat düyünü namizəddir. MCLP xidmətsiz tələbatın əhatəsini maksimuma çatdırır</a:t>
            </a:r>
            <a:endParaRPr lang="en-US" sz="1400" dirty="0"/>
          </a:p>
        </p:txBody>
      </p:sp>
      <p:sp>
        <p:nvSpPr>
          <p:cNvPr id="21" name="ring-99"/>
          <p:cNvSpPr/>
          <p:nvPr/>
        </p:nvSpPr>
        <p:spPr>
          <a:xfrm>
            <a:off x="8193024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22" name="text-100"/>
          <p:cNvSpPr txBox="1"/>
          <p:nvPr/>
        </p:nvSpPr>
        <p:spPr>
          <a:xfrm>
            <a:off x="8193024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-101"/>
          <p:cNvSpPr txBox="1"/>
          <p:nvPr/>
        </p:nvSpPr>
        <p:spPr>
          <a:xfrm>
            <a:off x="8083296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Yerləşdirmə</a:t>
            </a:r>
            <a:endParaRPr lang="en-US" sz="1700" dirty="0"/>
          </a:p>
        </p:txBody>
      </p:sp>
      <p:sp>
        <p:nvSpPr>
          <p:cNvPr id="24" name="text-102"/>
          <p:cNvSpPr txBox="1"/>
          <p:nvPr/>
        </p:nvSpPr>
        <p:spPr>
          <a:xfrm>
            <a:off x="8083296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Səki zolağı, bina, su, dəmir yolu maskaları və peyk QA. 504 namizəd rədd edilib</a:t>
            </a:r>
            <a:endParaRPr lang="en-US" sz="1400" dirty="0"/>
          </a:p>
        </p:txBody>
      </p:sp>
      <p:sp>
        <p:nvSpPr>
          <p:cNvPr id="25" name="ring-103"/>
          <p:cNvSpPr/>
          <p:nvPr/>
        </p:nvSpPr>
        <p:spPr>
          <a:xfrm>
            <a:off x="10076688" y="1801368"/>
            <a:ext cx="512064" cy="5120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26" name="text-104"/>
          <p:cNvSpPr txBox="1"/>
          <p:nvPr/>
        </p:nvSpPr>
        <p:spPr>
          <a:xfrm>
            <a:off x="1007668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-105"/>
          <p:cNvSpPr txBox="1"/>
          <p:nvPr/>
        </p:nvSpPr>
        <p:spPr>
          <a:xfrm>
            <a:off x="99669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Kalibrləmə</a:t>
            </a:r>
            <a:endParaRPr lang="en-US" sz="1700" dirty="0"/>
          </a:p>
        </p:txBody>
      </p:sp>
      <p:sp>
        <p:nvSpPr>
          <p:cNvPr id="28" name="text-106"/>
          <p:cNvSpPr txBox="1"/>
          <p:nvPr/>
        </p:nvSpPr>
        <p:spPr>
          <a:xfrm>
            <a:off x="9966960" y="29718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AYNA dövriyyəsi (12,2 səfər/nöqtə/gün) ilə yer sayı, səfər və CO₂</a:t>
            </a:r>
            <a:endParaRPr lang="en-US" sz="1400" dirty="0"/>
          </a:p>
        </p:txBody>
      </p:sp>
      <p:sp>
        <p:nvSpPr>
          <p:cNvPr id="29" name="card-107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0" name="text-108"/>
          <p:cNvSpPr txBox="1"/>
          <p:nvPr/>
        </p:nvSpPr>
        <p:spPr>
          <a:xfrm>
            <a:off x="86868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Hər rəqəmin statusu görünür: 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● ölçülmüş  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● model  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● ssenari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   Faydalar yalnız artım kimi sayılır.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MƏHSUL · CANLI DEMO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Hər hub üçün sübut kartı və 3D əkiz</a:t>
            </a:r>
            <a:endParaRPr lang="en-US" sz="3400" dirty="0"/>
          </a:p>
        </p:txBody>
      </p:sp>
      <p:pic>
        <p:nvPicPr>
          <p:cNvPr id="4" name="shot-109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355080" cy="3575304"/>
          </a:xfrm>
          <a:prstGeom prst="rect">
            <a:avLst/>
          </a:prstGeom>
        </p:spPr>
      </p:pic>
      <p:pic>
        <p:nvPicPr>
          <p:cNvPr id="5" name="shot-110" descr="AYAN tətbiqinin ekran görüntüsü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1600200"/>
            <a:ext cx="4526280" cy="3575304"/>
          </a:xfrm>
          <a:prstGeom prst="rect">
            <a:avLst/>
          </a:prstGeom>
        </p:spPr>
      </p:pic>
      <p:sp>
        <p:nvSpPr>
          <p:cNvPr id="6" name="text-111"/>
          <p:cNvSpPr txBox="1"/>
          <p:nvPr/>
        </p:nvSpPr>
        <p:spPr>
          <a:xfrm>
            <a:off x="548640" y="530352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Hub #1 · 20 Yanvar m/st., Çıxış 5</a:t>
            </a:r>
            <a:endParaRPr lang="en-US" sz="1600" dirty="0"/>
          </a:p>
        </p:txBody>
      </p:sp>
      <p:sp>
        <p:nvSpPr>
          <p:cNvPr id="7" name="text-112"/>
          <p:cNvSpPr txBox="1"/>
          <p:nvPr/>
        </p:nvSpPr>
        <p:spPr>
          <a:xfrm>
            <a:off x="548640" y="562356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Real 400 m piyada izoxronu, zonadakı əhali və miniklər, metro, 36 avtobus marşrutu, tip və yer sayı, CO₂. Hər sətirdə mənbə nişanı</a:t>
            </a:r>
            <a:endParaRPr lang="en-US" sz="1400" dirty="0"/>
          </a:p>
        </p:txBody>
      </p:sp>
      <p:sp>
        <p:nvSpPr>
          <p:cNvPr id="8" name="text-113"/>
          <p:cNvSpPr txBox="1"/>
          <p:nvPr/>
        </p:nvSpPr>
        <p:spPr>
          <a:xfrm>
            <a:off x="7086600" y="53035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3D rəqəmsal əkiz</a:t>
            </a:r>
            <a:endParaRPr lang="en-US" sz="1600" dirty="0"/>
          </a:p>
        </p:txBody>
      </p:sp>
      <p:sp>
        <p:nvSpPr>
          <p:cNvPr id="9" name="text-114"/>
          <p:cNvSpPr txBox="1"/>
          <p:nvPr/>
        </p:nvSpPr>
        <p:spPr>
          <a:xfrm>
            <a:off x="7086600" y="56235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Real AYNA marşrutları üzrə ~2 350 avtobusun simulyasiyası və canlı gəlişlər (AYNA SIRI)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MƏHSUL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Plandan qərara: rəhbərlik paneli və AI kopilot</a:t>
            </a:r>
            <a:endParaRPr lang="en-US" sz="3400" dirty="0"/>
          </a:p>
        </p:txBody>
      </p:sp>
      <p:pic>
        <p:nvPicPr>
          <p:cNvPr id="4" name="shot-115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766560" cy="3803904"/>
          </a:xfrm>
          <a:prstGeom prst="rect">
            <a:avLst/>
          </a:prstGeom>
        </p:spPr>
      </p:pic>
      <p:sp>
        <p:nvSpPr>
          <p:cNvPr id="5" name="ring-116"/>
          <p:cNvSpPr/>
          <p:nvPr/>
        </p:nvSpPr>
        <p:spPr>
          <a:xfrm>
            <a:off x="7635240" y="1645920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117"/>
          <p:cNvSpPr txBox="1"/>
          <p:nvPr/>
        </p:nvSpPr>
        <p:spPr>
          <a:xfrm>
            <a:off x="7635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-118"/>
          <p:cNvSpPr txBox="1"/>
          <p:nvPr/>
        </p:nvSpPr>
        <p:spPr>
          <a:xfrm>
            <a:off x="8183880" y="1600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Proqram ssenarisi</a:t>
            </a:r>
            <a:endParaRPr lang="en-US" sz="1600" dirty="0"/>
          </a:p>
        </p:txBody>
      </p:sp>
      <p:sp>
        <p:nvSpPr>
          <p:cNvPr id="8" name="text-119"/>
          <p:cNvSpPr txBox="1"/>
          <p:nvPr/>
        </p:nvSpPr>
        <p:spPr>
          <a:xfrm>
            <a:off x="8183880" y="193852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Hub sayı və əvəzetmə payı sürgüləri: əhatə, səfər, CO₂ dərhal yenilənir</a:t>
            </a:r>
            <a:endParaRPr lang="en-US" sz="1400" dirty="0"/>
          </a:p>
        </p:txBody>
      </p:sp>
      <p:sp>
        <p:nvSpPr>
          <p:cNvPr id="9" name="ring-120"/>
          <p:cNvSpPr/>
          <p:nvPr/>
        </p:nvSpPr>
        <p:spPr>
          <a:xfrm>
            <a:off x="7635240" y="2624328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0" name="text-121"/>
          <p:cNvSpPr txBox="1"/>
          <p:nvPr/>
        </p:nvSpPr>
        <p:spPr>
          <a:xfrm>
            <a:off x="76352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-122"/>
          <p:cNvSpPr txBox="1"/>
          <p:nvPr/>
        </p:nvSpPr>
        <p:spPr>
          <a:xfrm>
            <a:off x="8183880" y="2578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Təsdiq axını</a:t>
            </a:r>
            <a:endParaRPr lang="en-US" sz="1600" dirty="0"/>
          </a:p>
        </p:txBody>
      </p:sp>
      <p:sp>
        <p:nvSpPr>
          <p:cNvPr id="12" name="text-123"/>
          <p:cNvSpPr txBox="1"/>
          <p:nvPr/>
        </p:nvSpPr>
        <p:spPr>
          <a:xfrm>
            <a:off x="8183880" y="291693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Təklif → Təsdiq gözləyir → Təsdiqləndi, GeoJSON eksportu</a:t>
            </a:r>
            <a:endParaRPr lang="en-US" sz="1400" dirty="0"/>
          </a:p>
        </p:txBody>
      </p:sp>
      <p:sp>
        <p:nvSpPr>
          <p:cNvPr id="13" name="ring-124"/>
          <p:cNvSpPr/>
          <p:nvPr/>
        </p:nvSpPr>
        <p:spPr>
          <a:xfrm>
            <a:off x="7635240" y="3602736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4" name="text-125"/>
          <p:cNvSpPr txBox="1"/>
          <p:nvPr/>
        </p:nvSpPr>
        <p:spPr>
          <a:xfrm>
            <a:off x="76352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-126"/>
          <p:cNvSpPr txBox="1"/>
          <p:nvPr/>
        </p:nvSpPr>
        <p:spPr>
          <a:xfrm>
            <a:off x="8183880" y="35570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AYAN Kopilot (Claude)</a:t>
            </a:r>
            <a:endParaRPr lang="en-US" sz="1600" dirty="0"/>
          </a:p>
        </p:txBody>
      </p:sp>
      <p:sp>
        <p:nvSpPr>
          <p:cNvPr id="16" name="text-127"/>
          <p:cNvSpPr txBox="1"/>
          <p:nvPr/>
        </p:nvSpPr>
        <p:spPr>
          <a:xfrm>
            <a:off x="8183880" y="389534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Planlaşdırma sualına alətlərlə cavab verir, hub üçün əsaslandırma sənədi yazır</a:t>
            </a:r>
            <a:endParaRPr lang="en-US" sz="1400" dirty="0"/>
          </a:p>
        </p:txBody>
      </p:sp>
      <p:sp>
        <p:nvSpPr>
          <p:cNvPr id="17" name="ring-128"/>
          <p:cNvSpPr/>
          <p:nvPr/>
        </p:nvSpPr>
        <p:spPr>
          <a:xfrm>
            <a:off x="7635240" y="4581144"/>
            <a:ext cx="384048" cy="38404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8" name="text-129"/>
          <p:cNvSpPr txBox="1"/>
          <p:nvPr/>
        </p:nvSpPr>
        <p:spPr>
          <a:xfrm>
            <a:off x="763524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-130"/>
          <p:cNvSpPr txBox="1"/>
          <p:nvPr/>
        </p:nvSpPr>
        <p:spPr>
          <a:xfrm>
            <a:off x="8183880" y="45354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keyfiyyət mərkəzi</a:t>
            </a:r>
            <a:endParaRPr lang="en-US" sz="1600" dirty="0"/>
          </a:p>
        </p:txBody>
      </p:sp>
      <p:sp>
        <p:nvSpPr>
          <p:cNvPr id="20" name="text-131"/>
          <p:cNvSpPr txBox="1"/>
          <p:nvPr/>
        </p:nvSpPr>
        <p:spPr>
          <a:xfrm>
            <a:off x="8183880" y="487375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Çirkli faylı yoxlayır, avtomatik düzəldir, insan təsdiqi ilə təmiz GeoJSON verir</a:t>
            </a:r>
            <a:endParaRPr lang="en-US" sz="1400" dirty="0"/>
          </a:p>
        </p:txBody>
      </p:sp>
      <p:sp>
        <p:nvSpPr>
          <p:cNvPr id="21" name="text-132"/>
          <p:cNvSpPr txBox="1"/>
          <p:nvPr/>
        </p:nvSpPr>
        <p:spPr>
          <a:xfrm>
            <a:off x="548640" y="5532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Rəhbər üçün bir ekran: Bakının son kilometr vəziyyəti, fayda əyrisi, avtovağzal gəliş balı və qərar statusları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SÜBUT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Eyni büdcə, daha yaxşı yer: model təsadüfi deyil</a:t>
            </a:r>
            <a:endParaRPr lang="en-US" sz="3400" dirty="0"/>
          </a:p>
        </p:txBody>
      </p:sp>
      <p:sp>
        <p:nvSpPr>
          <p:cNvPr id="4" name="card-133"/>
          <p:cNvSpPr/>
          <p:nvPr/>
        </p:nvSpPr>
        <p:spPr>
          <a:xfrm>
            <a:off x="548640" y="1600200"/>
            <a:ext cx="6400800" cy="448056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/>
        </p:spPr>
      </p:sp>
      <p:sp>
        <p:nvSpPr>
          <p:cNvPr id="5" name="text-134"/>
          <p:cNvSpPr txBox="1"/>
          <p:nvPr/>
        </p:nvSpPr>
        <p:spPr>
          <a:xfrm>
            <a:off x="82296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 hub qurulsa: əlavə səfər/gün, seçim qaydasına görə</a:t>
            </a:r>
            <a:endParaRPr lang="en-US" sz="1500" dirty="0"/>
          </a:p>
        </p:txBody>
      </p:sp>
      <p:sp>
        <p:nvSpPr>
          <p:cNvPr id="6" name="text-135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AYAN (MCLP)</a:t>
            </a:r>
            <a:endParaRPr lang="en-US" sz="1500" dirty="0"/>
          </a:p>
        </p:txBody>
      </p:sp>
      <p:sp>
        <p:nvSpPr>
          <p:cNvPr id="7" name="bar-136"/>
          <p:cNvSpPr/>
          <p:nvPr/>
        </p:nvSpPr>
        <p:spPr>
          <a:xfrm>
            <a:off x="2971800" y="2450592"/>
            <a:ext cx="274320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-137"/>
          <p:cNvSpPr txBox="1"/>
          <p:nvPr/>
        </p:nvSpPr>
        <p:spPr>
          <a:xfrm>
            <a:off x="580644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223</a:t>
            </a:r>
            <a:endParaRPr lang="en-US" sz="1600" dirty="0"/>
          </a:p>
        </p:txBody>
      </p:sp>
      <p:sp>
        <p:nvSpPr>
          <p:cNvPr id="9" name="text-138"/>
          <p:cNvSpPr txBox="1"/>
          <p:nvPr/>
        </p:nvSpPr>
        <p:spPr>
          <a:xfrm>
            <a:off x="822960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Ən yüksək tələbat</a:t>
            </a:r>
            <a:endParaRPr lang="en-US" sz="1500" dirty="0"/>
          </a:p>
        </p:txBody>
      </p:sp>
      <p:sp>
        <p:nvSpPr>
          <p:cNvPr id="10" name="bar-139"/>
          <p:cNvSpPr/>
          <p:nvPr/>
        </p:nvSpPr>
        <p:spPr>
          <a:xfrm>
            <a:off x="2971800" y="3163824"/>
            <a:ext cx="1845202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-140"/>
          <p:cNvSpPr txBox="1"/>
          <p:nvPr/>
        </p:nvSpPr>
        <p:spPr>
          <a:xfrm>
            <a:off x="4908442" y="3090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150</a:t>
            </a:r>
            <a:endParaRPr lang="en-US" sz="1600" dirty="0"/>
          </a:p>
        </p:txBody>
      </p:sp>
      <p:sp>
        <p:nvSpPr>
          <p:cNvPr id="12" name="text-141"/>
          <p:cNvSpPr txBox="1"/>
          <p:nvPr/>
        </p:nvSpPr>
        <p:spPr>
          <a:xfrm>
            <a:off x="822960" y="38039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Təsadüfi seçim</a:t>
            </a:r>
            <a:endParaRPr lang="en-US" sz="1500" dirty="0"/>
          </a:p>
        </p:txBody>
      </p:sp>
      <p:sp>
        <p:nvSpPr>
          <p:cNvPr id="13" name="bar-142"/>
          <p:cNvSpPr/>
          <p:nvPr/>
        </p:nvSpPr>
        <p:spPr>
          <a:xfrm>
            <a:off x="2971800" y="3877056"/>
            <a:ext cx="369040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-143"/>
          <p:cNvSpPr txBox="1"/>
          <p:nvPr/>
        </p:nvSpPr>
        <p:spPr>
          <a:xfrm>
            <a:off x="3432280" y="3803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30</a:t>
            </a:r>
            <a:endParaRPr lang="en-US" sz="1600" dirty="0"/>
          </a:p>
        </p:txBody>
      </p:sp>
      <p:sp>
        <p:nvSpPr>
          <p:cNvPr id="15" name="text-144"/>
          <p:cNvSpPr txBox="1"/>
          <p:nvPr/>
        </p:nvSpPr>
        <p:spPr>
          <a:xfrm>
            <a:off x="822960" y="4517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Mərkəzə ən yaxın</a:t>
            </a:r>
            <a:endParaRPr lang="en-US" sz="1500" dirty="0"/>
          </a:p>
        </p:txBody>
      </p:sp>
      <p:sp>
        <p:nvSpPr>
          <p:cNvPr id="16" name="bar-145"/>
          <p:cNvSpPr/>
          <p:nvPr/>
        </p:nvSpPr>
        <p:spPr>
          <a:xfrm>
            <a:off x="2971800" y="4590288"/>
            <a:ext cx="1353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-146"/>
          <p:cNvSpPr txBox="1"/>
          <p:nvPr/>
        </p:nvSpPr>
        <p:spPr>
          <a:xfrm>
            <a:off x="3198555" y="45171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18" name="text-147"/>
          <p:cNvSpPr txBox="1"/>
          <p:nvPr/>
        </p:nvSpPr>
        <p:spPr>
          <a:xfrm>
            <a:off x="822960" y="5394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AYAN ×1,5 ən yüksək tələbatdan · ×7,5 təsadüfidən · ×20 mərkəzə yaxınlıqdan. Eyni piyada şəbəkəsi və səfər modeli; təsadüfi seçim 200 dəfə təkrarlanıb</a:t>
            </a:r>
            <a:endParaRPr lang="en-US" sz="1200" dirty="0"/>
          </a:p>
        </p:txBody>
      </p:sp>
      <p:sp>
        <p:nvSpPr>
          <p:cNvPr id="19" name="text-148"/>
          <p:cNvSpPr txBox="1"/>
          <p:nvPr/>
        </p:nvSpPr>
        <p:spPr>
          <a:xfrm>
            <a:off x="7269480" y="1600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0,952</a:t>
            </a:r>
            <a:endParaRPr lang="en-US" sz="4000" dirty="0"/>
          </a:p>
        </p:txBody>
      </p:sp>
      <p:sp>
        <p:nvSpPr>
          <p:cNvPr id="20" name="text-149"/>
          <p:cNvSpPr txBox="1"/>
          <p:nvPr/>
        </p:nvSpPr>
        <p:spPr>
          <a:xfrm>
            <a:off x="7269480" y="23317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AUC: tələbat indeksi AYNA-nın parkinq qoyduğu yerləri tanıyır (mərkəzə yaxınlıq baza xətti 0,922)</a:t>
            </a:r>
            <a:endParaRPr lang="en-US" sz="1400" dirty="0"/>
          </a:p>
        </p:txBody>
      </p:sp>
      <p:sp>
        <p:nvSpPr>
          <p:cNvPr id="21" name="text-150"/>
          <p:cNvSpPr txBox="1"/>
          <p:nvPr/>
        </p:nvSpPr>
        <p:spPr>
          <a:xfrm>
            <a:off x="7269480" y="31089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0,838</a:t>
            </a:r>
            <a:endParaRPr lang="en-US" sz="4000" dirty="0"/>
          </a:p>
        </p:txBody>
      </p:sp>
      <p:sp>
        <p:nvSpPr>
          <p:cNvPr id="22" name="text-151"/>
          <p:cNvSpPr txBox="1"/>
          <p:nvPr/>
        </p:nvSpPr>
        <p:spPr>
          <a:xfrm>
            <a:off x="7269480" y="38404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8 km halqada, mərkəz effekti olmadan (baza xətti 0,767)</a:t>
            </a:r>
            <a:endParaRPr lang="en-US" sz="1400" dirty="0"/>
          </a:p>
        </p:txBody>
      </p:sp>
      <p:sp>
        <p:nvSpPr>
          <p:cNvPr id="23" name="text-152"/>
          <p:cNvSpPr txBox="1"/>
          <p:nvPr/>
        </p:nvSpPr>
        <p:spPr>
          <a:xfrm>
            <a:off x="7269480" y="46177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 / 7</a:t>
            </a:r>
            <a:endParaRPr lang="en-US" sz="4000" dirty="0"/>
          </a:p>
        </p:txBody>
      </p:sp>
      <p:sp>
        <p:nvSpPr>
          <p:cNvPr id="24" name="text-153"/>
          <p:cNvSpPr txBox="1"/>
          <p:nvPr/>
        </p:nvSpPr>
        <p:spPr>
          <a:xfrm>
            <a:off x="7269480" y="5349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AYNA mübadilə mərkəzini model müstəqil tapdı (top-50; təsadüfi 17%)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TƏSİR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İlk 20 hub: ölçülə bilən, yalnız artım kimi sayılan fayda</a:t>
            </a:r>
            <a:endParaRPr lang="en-US" sz="3400" dirty="0"/>
          </a:p>
        </p:txBody>
      </p:sp>
      <p:sp>
        <p:nvSpPr>
          <p:cNvPr id="4" name="text-154"/>
          <p:cNvSpPr txBox="1"/>
          <p:nvPr/>
        </p:nvSpPr>
        <p:spPr>
          <a:xfrm>
            <a:off x="5486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12,1%</a:t>
            </a:r>
            <a:endParaRPr lang="en-US" sz="3600" dirty="0"/>
          </a:p>
        </p:txBody>
      </p:sp>
      <p:sp>
        <p:nvSpPr>
          <p:cNvPr id="5" name="text-155"/>
          <p:cNvSpPr txBox="1"/>
          <p:nvPr/>
        </p:nvSpPr>
        <p:spPr>
          <a:xfrm>
            <a:off x="54864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xidmətsiz tələbat bağlanır</a:t>
            </a:r>
            <a:endParaRPr lang="en-US" sz="1400" dirty="0"/>
          </a:p>
        </p:txBody>
      </p:sp>
      <p:sp>
        <p:nvSpPr>
          <p:cNvPr id="6" name="text-156"/>
          <p:cNvSpPr txBox="1"/>
          <p:nvPr/>
        </p:nvSpPr>
        <p:spPr>
          <a:xfrm>
            <a:off x="278892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≈12 300</a:t>
            </a:r>
            <a:endParaRPr lang="en-US" sz="3600" dirty="0"/>
          </a:p>
        </p:txBody>
      </p:sp>
      <p:sp>
        <p:nvSpPr>
          <p:cNvPr id="7" name="text-157"/>
          <p:cNvSpPr txBox="1"/>
          <p:nvPr/>
        </p:nvSpPr>
        <p:spPr>
          <a:xfrm>
            <a:off x="278892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sakin ilk dəfə 5 dəqiqəlik çıxış qazanır</a:t>
            </a:r>
            <a:endParaRPr lang="en-US" sz="1400" dirty="0"/>
          </a:p>
        </p:txBody>
      </p:sp>
      <p:sp>
        <p:nvSpPr>
          <p:cNvPr id="8" name="text-158"/>
          <p:cNvSpPr txBox="1"/>
          <p:nvPr/>
        </p:nvSpPr>
        <p:spPr>
          <a:xfrm>
            <a:off x="502920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≈328</a:t>
            </a:r>
            <a:endParaRPr lang="en-US" sz="3600" dirty="0"/>
          </a:p>
        </p:txBody>
      </p:sp>
      <p:sp>
        <p:nvSpPr>
          <p:cNvPr id="9" name="text-159"/>
          <p:cNvSpPr txBox="1"/>
          <p:nvPr/>
        </p:nvSpPr>
        <p:spPr>
          <a:xfrm>
            <a:off x="502920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əlavə səfər/gün</a:t>
            </a:r>
            <a:endParaRPr lang="en-US" sz="1400" dirty="0"/>
          </a:p>
        </p:txBody>
      </p:sp>
      <p:sp>
        <p:nvSpPr>
          <p:cNvPr id="10" name="text-160"/>
          <p:cNvSpPr txBox="1"/>
          <p:nvPr/>
        </p:nvSpPr>
        <p:spPr>
          <a:xfrm>
            <a:off x="726948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6,7 t</a:t>
            </a:r>
            <a:endParaRPr lang="en-US" sz="3600" dirty="0"/>
          </a:p>
        </p:txBody>
      </p:sp>
      <p:sp>
        <p:nvSpPr>
          <p:cNvPr id="11" name="text-161"/>
          <p:cNvSpPr txBox="1"/>
          <p:nvPr/>
        </p:nvSpPr>
        <p:spPr>
          <a:xfrm>
            <a:off x="726948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CO₂ qənaəti/il (20% əvəzetmə)</a:t>
            </a:r>
            <a:endParaRPr lang="en-US" sz="1400" dirty="0"/>
          </a:p>
        </p:txBody>
      </p:sp>
      <p:sp>
        <p:nvSpPr>
          <p:cNvPr id="12" name="text-162"/>
          <p:cNvSpPr txBox="1"/>
          <p:nvPr/>
        </p:nvSpPr>
        <p:spPr>
          <a:xfrm>
            <a:off x="950976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499</a:t>
            </a:r>
            <a:endParaRPr lang="en-US" sz="3600" dirty="0"/>
          </a:p>
        </p:txBody>
      </p:sp>
      <p:sp>
        <p:nvSpPr>
          <p:cNvPr id="13" name="text-163"/>
          <p:cNvSpPr txBox="1"/>
          <p:nvPr/>
        </p:nvSpPr>
        <p:spPr>
          <a:xfrm>
            <a:off x="950976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velo/scooter yeri</a:t>
            </a:r>
            <a:endParaRPr lang="en-US" sz="1400" dirty="0"/>
          </a:p>
        </p:txBody>
      </p:sp>
      <p:sp>
        <p:nvSpPr>
          <p:cNvPr id="14" name="card-164"/>
          <p:cNvSpPr/>
          <p:nvPr/>
        </p:nvSpPr>
        <p:spPr>
          <a:xfrm>
            <a:off x="548640" y="3108960"/>
            <a:ext cx="7498080" cy="297180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/>
        </p:spPr>
      </p:sp>
      <p:sp>
        <p:nvSpPr>
          <p:cNvPr id="15" name="text-165"/>
          <p:cNvSpPr txBox="1"/>
          <p:nvPr/>
        </p:nvSpPr>
        <p:spPr>
          <a:xfrm>
            <a:off x="822960" y="3246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Fayda əyrisi: xidmətsiz tələbatın bağlanan payı, hub-lar sıra ilə qurulduqca</a:t>
            </a:r>
            <a:endParaRPr lang="en-US" sz="1400" dirty="0"/>
          </a:p>
        </p:txBody>
      </p:sp>
      <p:sp>
        <p:nvSpPr>
          <p:cNvPr id="16" name="grid-166"/>
          <p:cNvSpPr/>
          <p:nvPr/>
        </p:nvSpPr>
        <p:spPr>
          <a:xfrm>
            <a:off x="1280160" y="55321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17" name="text-167"/>
          <p:cNvSpPr txBox="1"/>
          <p:nvPr/>
        </p:nvSpPr>
        <p:spPr>
          <a:xfrm>
            <a:off x="731520" y="5422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0%</a:t>
            </a:r>
            <a:endParaRPr lang="en-US" sz="1100" dirty="0"/>
          </a:p>
        </p:txBody>
      </p:sp>
      <p:sp>
        <p:nvSpPr>
          <p:cNvPr id="18" name="grid-168"/>
          <p:cNvSpPr/>
          <p:nvPr/>
        </p:nvSpPr>
        <p:spPr>
          <a:xfrm>
            <a:off x="1280160" y="50749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19" name="text-169"/>
          <p:cNvSpPr txBox="1"/>
          <p:nvPr/>
        </p:nvSpPr>
        <p:spPr>
          <a:xfrm>
            <a:off x="731520" y="4965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5%</a:t>
            </a:r>
            <a:endParaRPr lang="en-US" sz="1100" dirty="0"/>
          </a:p>
        </p:txBody>
      </p:sp>
      <p:sp>
        <p:nvSpPr>
          <p:cNvPr id="20" name="grid-170"/>
          <p:cNvSpPr/>
          <p:nvPr/>
        </p:nvSpPr>
        <p:spPr>
          <a:xfrm>
            <a:off x="1280160" y="46177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21" name="text-171"/>
          <p:cNvSpPr txBox="1"/>
          <p:nvPr/>
        </p:nvSpPr>
        <p:spPr>
          <a:xfrm>
            <a:off x="731520" y="4507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10%</a:t>
            </a:r>
            <a:endParaRPr lang="en-US" sz="1100" dirty="0"/>
          </a:p>
        </p:txBody>
      </p:sp>
      <p:sp>
        <p:nvSpPr>
          <p:cNvPr id="22" name="grid-172"/>
          <p:cNvSpPr/>
          <p:nvPr/>
        </p:nvSpPr>
        <p:spPr>
          <a:xfrm>
            <a:off x="1280160" y="41605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23" name="text-173"/>
          <p:cNvSpPr txBox="1"/>
          <p:nvPr/>
        </p:nvSpPr>
        <p:spPr>
          <a:xfrm>
            <a:off x="731520" y="40507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15%</a:t>
            </a:r>
            <a:endParaRPr lang="en-US" sz="1100" dirty="0"/>
          </a:p>
        </p:txBody>
      </p:sp>
      <p:sp>
        <p:nvSpPr>
          <p:cNvPr id="24" name="grid-174"/>
          <p:cNvSpPr/>
          <p:nvPr/>
        </p:nvSpPr>
        <p:spPr>
          <a:xfrm>
            <a:off x="1280160" y="3703320"/>
            <a:ext cx="6400800" cy="0"/>
          </a:xfrm>
          <a:prstGeom prst="line">
            <a:avLst/>
          </a:prstGeom>
          <a:noFill/>
          <a:ln w="9525">
            <a:solidFill>
              <a:srgbClr val="2A5163"/>
            </a:solidFill>
            <a:prstDash val="solid"/>
          </a:ln>
        </p:spPr>
      </p:sp>
      <p:sp>
        <p:nvSpPr>
          <p:cNvPr id="25" name="text-175"/>
          <p:cNvSpPr txBox="1"/>
          <p:nvPr/>
        </p:nvSpPr>
        <p:spPr>
          <a:xfrm>
            <a:off x="731520" y="3593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text-176"/>
          <p:cNvSpPr txBox="1"/>
          <p:nvPr/>
        </p:nvSpPr>
        <p:spPr>
          <a:xfrm>
            <a:off x="1051560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-177"/>
          <p:cNvSpPr txBox="1"/>
          <p:nvPr/>
        </p:nvSpPr>
        <p:spPr>
          <a:xfrm>
            <a:off x="2227217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10</a:t>
            </a:r>
            <a:endParaRPr lang="en-US" sz="1100" dirty="0"/>
          </a:p>
        </p:txBody>
      </p:sp>
      <p:sp>
        <p:nvSpPr>
          <p:cNvPr id="28" name="text-178"/>
          <p:cNvSpPr txBox="1"/>
          <p:nvPr/>
        </p:nvSpPr>
        <p:spPr>
          <a:xfrm>
            <a:off x="3533503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20</a:t>
            </a:r>
            <a:endParaRPr lang="en-US" sz="1100" dirty="0"/>
          </a:p>
        </p:txBody>
      </p:sp>
      <p:sp>
        <p:nvSpPr>
          <p:cNvPr id="29" name="text-179"/>
          <p:cNvSpPr txBox="1"/>
          <p:nvPr/>
        </p:nvSpPr>
        <p:spPr>
          <a:xfrm>
            <a:off x="4839789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30</a:t>
            </a:r>
            <a:endParaRPr lang="en-US" sz="1100" dirty="0"/>
          </a:p>
        </p:txBody>
      </p:sp>
      <p:sp>
        <p:nvSpPr>
          <p:cNvPr id="30" name="text-180"/>
          <p:cNvSpPr txBox="1"/>
          <p:nvPr/>
        </p:nvSpPr>
        <p:spPr>
          <a:xfrm>
            <a:off x="6146074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40</a:t>
            </a:r>
            <a:endParaRPr lang="en-US" sz="1100" dirty="0"/>
          </a:p>
        </p:txBody>
      </p:sp>
      <p:sp>
        <p:nvSpPr>
          <p:cNvPr id="31" name="text-181"/>
          <p:cNvSpPr txBox="1"/>
          <p:nvPr/>
        </p:nvSpPr>
        <p:spPr>
          <a:xfrm>
            <a:off x="7452360" y="5586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50</a:t>
            </a:r>
            <a:endParaRPr lang="en-US" sz="1100" dirty="0"/>
          </a:p>
        </p:txBody>
      </p:sp>
      <p:sp>
        <p:nvSpPr>
          <p:cNvPr id="32" name="text-182"/>
          <p:cNvSpPr txBox="1"/>
          <p:nvPr/>
        </p:nvSpPr>
        <p:spPr>
          <a:xfrm>
            <a:off x="6766560" y="5806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hub sayı</a:t>
            </a:r>
            <a:endParaRPr lang="en-US" sz="1100" dirty="0"/>
          </a:p>
        </p:txBody>
      </p:sp>
      <p:sp>
        <p:nvSpPr>
          <p:cNvPr id="33" name="curve-183"/>
          <p:cNvSpPr/>
          <p:nvPr/>
        </p:nvSpPr>
        <p:spPr>
          <a:xfrm>
            <a:off x="1280160" y="3703320"/>
            <a:ext cx="6400800" cy="1828800"/>
          </a:xfrm>
          <a:custGeom>
            <a:avLst/>
            <a:gdLst/>
            <a:ahLst/>
            <a:cxnLst/>
            <a:rect l="l" t="t" r="r" b="b"/>
            <a:pathLst>
              <a:path w="6400800" h="1828800">
                <a:moveTo>
                  <a:pt x="0" y="1670609"/>
                </a:moveTo>
                <a:lnTo>
                  <a:pt x="130629" y="1585570"/>
                </a:lnTo>
                <a:lnTo>
                  <a:pt x="261257" y="1512418"/>
                </a:lnTo>
                <a:lnTo>
                  <a:pt x="391886" y="1441094"/>
                </a:lnTo>
                <a:lnTo>
                  <a:pt x="522514" y="1369771"/>
                </a:lnTo>
                <a:lnTo>
                  <a:pt x="653143" y="1307592"/>
                </a:lnTo>
                <a:lnTo>
                  <a:pt x="783771" y="1247242"/>
                </a:lnTo>
                <a:lnTo>
                  <a:pt x="914400" y="1188720"/>
                </a:lnTo>
                <a:lnTo>
                  <a:pt x="1045029" y="1130198"/>
                </a:lnTo>
                <a:lnTo>
                  <a:pt x="1175657" y="1077163"/>
                </a:lnTo>
                <a:lnTo>
                  <a:pt x="1306286" y="1033272"/>
                </a:lnTo>
                <a:lnTo>
                  <a:pt x="1436914" y="988466"/>
                </a:lnTo>
                <a:lnTo>
                  <a:pt x="1567543" y="944575"/>
                </a:lnTo>
                <a:lnTo>
                  <a:pt x="1698171" y="904342"/>
                </a:lnTo>
                <a:lnTo>
                  <a:pt x="1828800" y="868680"/>
                </a:lnTo>
                <a:lnTo>
                  <a:pt x="1959429" y="834847"/>
                </a:lnTo>
                <a:lnTo>
                  <a:pt x="2090057" y="804672"/>
                </a:lnTo>
                <a:lnTo>
                  <a:pt x="2220686" y="774497"/>
                </a:lnTo>
                <a:lnTo>
                  <a:pt x="2351314" y="747065"/>
                </a:lnTo>
                <a:lnTo>
                  <a:pt x="2481943" y="719633"/>
                </a:lnTo>
                <a:lnTo>
                  <a:pt x="2612571" y="694030"/>
                </a:lnTo>
                <a:lnTo>
                  <a:pt x="2743200" y="669341"/>
                </a:lnTo>
                <a:lnTo>
                  <a:pt x="2873829" y="644652"/>
                </a:lnTo>
                <a:lnTo>
                  <a:pt x="3004457" y="621792"/>
                </a:lnTo>
                <a:lnTo>
                  <a:pt x="3135086" y="598018"/>
                </a:lnTo>
                <a:lnTo>
                  <a:pt x="3265714" y="575158"/>
                </a:lnTo>
                <a:lnTo>
                  <a:pt x="3396343" y="552298"/>
                </a:lnTo>
                <a:lnTo>
                  <a:pt x="3526971" y="529438"/>
                </a:lnTo>
                <a:lnTo>
                  <a:pt x="3657600" y="507492"/>
                </a:lnTo>
                <a:lnTo>
                  <a:pt x="3788229" y="485546"/>
                </a:lnTo>
                <a:lnTo>
                  <a:pt x="3918857" y="464515"/>
                </a:lnTo>
                <a:lnTo>
                  <a:pt x="4049486" y="442570"/>
                </a:lnTo>
                <a:lnTo>
                  <a:pt x="4180114" y="421538"/>
                </a:lnTo>
                <a:lnTo>
                  <a:pt x="4310743" y="400507"/>
                </a:lnTo>
                <a:lnTo>
                  <a:pt x="4441371" y="379476"/>
                </a:lnTo>
                <a:lnTo>
                  <a:pt x="4572000" y="359359"/>
                </a:lnTo>
                <a:lnTo>
                  <a:pt x="4702629" y="339242"/>
                </a:lnTo>
                <a:lnTo>
                  <a:pt x="4833257" y="319126"/>
                </a:lnTo>
                <a:lnTo>
                  <a:pt x="4963886" y="299009"/>
                </a:lnTo>
                <a:lnTo>
                  <a:pt x="5094514" y="279806"/>
                </a:lnTo>
                <a:lnTo>
                  <a:pt x="5225143" y="260604"/>
                </a:lnTo>
                <a:lnTo>
                  <a:pt x="5355771" y="241402"/>
                </a:lnTo>
                <a:lnTo>
                  <a:pt x="5486400" y="222199"/>
                </a:lnTo>
                <a:lnTo>
                  <a:pt x="5617029" y="202997"/>
                </a:lnTo>
                <a:lnTo>
                  <a:pt x="5747657" y="184709"/>
                </a:lnTo>
                <a:lnTo>
                  <a:pt x="5878286" y="166421"/>
                </a:lnTo>
                <a:lnTo>
                  <a:pt x="6008914" y="149047"/>
                </a:lnTo>
                <a:lnTo>
                  <a:pt x="6139543" y="130759"/>
                </a:lnTo>
                <a:lnTo>
                  <a:pt x="6270171" y="113386"/>
                </a:lnTo>
                <a:lnTo>
                  <a:pt x="6400800" y="95098"/>
                </a:lnTo>
              </a:path>
            </a:pathLst>
          </a:custGeom>
          <a:ln w="38100">
            <a:solidFill>
              <a:schemeClr val="accent1"/>
            </a:solidFill>
            <a:prstDash val="solid"/>
          </a:ln>
        </p:spPr>
      </p:sp>
      <p:sp>
        <p:nvSpPr>
          <p:cNvPr id="34" name="mark-184"/>
          <p:cNvSpPr/>
          <p:nvPr/>
        </p:nvSpPr>
        <p:spPr>
          <a:xfrm>
            <a:off x="3670663" y="4331513"/>
            <a:ext cx="182880" cy="18288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5" name="text-185"/>
          <p:cNvSpPr txBox="1"/>
          <p:nvPr/>
        </p:nvSpPr>
        <p:spPr>
          <a:xfrm>
            <a:off x="3122023" y="396575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20 hub: 12,1%</a:t>
            </a:r>
            <a:endParaRPr lang="en-US" sz="1300" dirty="0"/>
          </a:p>
        </p:txBody>
      </p:sp>
      <p:sp>
        <p:nvSpPr>
          <p:cNvPr id="36" name="text-186"/>
          <p:cNvSpPr txBox="1"/>
          <p:nvPr/>
        </p:nvSpPr>
        <p:spPr>
          <a:xfrm>
            <a:off x="836676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Niyə konservativ?</a:t>
            </a:r>
            <a:endParaRPr lang="en-US" sz="1800" dirty="0"/>
          </a:p>
        </p:txBody>
      </p:sp>
      <p:sp>
        <p:nvSpPr>
          <p:cNvPr id="37" name="text-187"/>
          <p:cNvSpPr txBox="1"/>
          <p:nvPr/>
        </p:nvSpPr>
        <p:spPr>
          <a:xfrm>
            <a:off x="8366760" y="36118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Yalnız əvvəl 400 m-də parkinqi olmayan sakinlər sayılır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Səfərlər AYNA-nın real dövriyyəsi ilə kalibrlənib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Boşluq tam bağlansa yuxarı hədd: 45 900 səfər/gün, ~939 t CO₂/il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NÖVBƏTİ ADDIM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AYNA ilə pilot: 3 ayda sübutdan tikintiyə</a:t>
            </a:r>
            <a:endParaRPr lang="en-US" sz="3400" dirty="0"/>
          </a:p>
        </p:txBody>
      </p:sp>
      <p:sp>
        <p:nvSpPr>
          <p:cNvPr id="4" name="ring-188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-189"/>
          <p:cNvSpPr txBox="1"/>
          <p:nvPr/>
        </p:nvSpPr>
        <p:spPr>
          <a:xfrm>
            <a:off x="54864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-190"/>
          <p:cNvSpPr txBox="1"/>
          <p:nvPr/>
        </p:nvSpPr>
        <p:spPr>
          <a:xfrm>
            <a:off x="118872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0–1 ay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Hazırlıq</a:t>
            </a:r>
            <a:endParaRPr lang="en-US" sz="1800" dirty="0"/>
          </a:p>
        </p:txBody>
      </p:sp>
      <p:sp>
        <p:nvSpPr>
          <p:cNvPr id="7" name="card-191"/>
          <p:cNvSpPr/>
          <p:nvPr/>
        </p:nvSpPr>
        <p:spPr>
          <a:xfrm>
            <a:off x="54864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8" name="text-192"/>
          <p:cNvSpPr txBox="1"/>
          <p:nvPr/>
        </p:nvSpPr>
        <p:spPr>
          <a:xfrm>
            <a:off x="82296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Top-10 hub üçün səki eni auditi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BakıKart və operator (Apar) datası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Tətbiqin AYNA serverində yerləşdirilməsi</a:t>
            </a:r>
            <a:endParaRPr lang="en-US" sz="1500" dirty="0"/>
          </a:p>
        </p:txBody>
      </p:sp>
      <p:sp>
        <p:nvSpPr>
          <p:cNvPr id="9" name="ring-193"/>
          <p:cNvSpPr/>
          <p:nvPr/>
        </p:nvSpPr>
        <p:spPr>
          <a:xfrm>
            <a:off x="4297680" y="1664208"/>
            <a:ext cx="475488" cy="4754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0" name="text-194"/>
          <p:cNvSpPr txBox="1"/>
          <p:nvPr/>
        </p:nvSpPr>
        <p:spPr>
          <a:xfrm>
            <a:off x="429768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-195"/>
          <p:cNvSpPr txBox="1"/>
          <p:nvPr/>
        </p:nvSpPr>
        <p:spPr>
          <a:xfrm>
            <a:off x="493776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1–3 ay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Pilot</a:t>
            </a:r>
            <a:endParaRPr lang="en-US" sz="1800" dirty="0"/>
          </a:p>
        </p:txBody>
      </p:sp>
      <p:sp>
        <p:nvSpPr>
          <p:cNvPr id="12" name="card-196"/>
          <p:cNvSpPr/>
          <p:nvPr/>
        </p:nvSpPr>
        <p:spPr>
          <a:xfrm>
            <a:off x="429768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3" name="text-197"/>
          <p:cNvSpPr txBox="1"/>
          <p:nvPr/>
        </p:nvSpPr>
        <p:spPr>
          <a:xfrm>
            <a:off x="457200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10 hub qurulur və ya parkinq hub-a çevrilir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Faktiki səfərlər proqnozla müqayisə olunur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Model yenidən kalibrlənir</a:t>
            </a:r>
            <a:endParaRPr lang="en-US" sz="1500" dirty="0"/>
          </a:p>
        </p:txBody>
      </p:sp>
      <p:sp>
        <p:nvSpPr>
          <p:cNvPr id="14" name="ring-198"/>
          <p:cNvSpPr/>
          <p:nvPr/>
        </p:nvSpPr>
        <p:spPr>
          <a:xfrm>
            <a:off x="8046720" y="1664208"/>
            <a:ext cx="475488" cy="4754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5" name="text-199"/>
          <p:cNvSpPr txBox="1"/>
          <p:nvPr/>
        </p:nvSpPr>
        <p:spPr>
          <a:xfrm>
            <a:off x="804672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-200"/>
          <p:cNvSpPr txBox="1"/>
          <p:nvPr/>
        </p:nvSpPr>
        <p:spPr>
          <a:xfrm>
            <a:off x="868680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3–12 ay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Miqyas</a:t>
            </a:r>
            <a:endParaRPr lang="en-US" sz="1800" dirty="0"/>
          </a:p>
        </p:txBody>
      </p:sp>
      <p:sp>
        <p:nvSpPr>
          <p:cNvPr id="17" name="card-201"/>
          <p:cNvSpPr/>
          <p:nvPr/>
        </p:nvSpPr>
        <p:spPr>
          <a:xfrm>
            <a:off x="8046720" y="237744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8" name="text-202"/>
          <p:cNvSpPr txBox="1"/>
          <p:nvPr/>
        </p:nvSpPr>
        <p:spPr>
          <a:xfrm>
            <a:off x="832104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Avtobus GPS axını (AVL) ilə real vaxt idarəetmə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50 hub-lıq proqram, CO₂ hesabatı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Gəncə və Sumqayıta genişlənmə</a:t>
            </a:r>
            <a:endParaRPr lang="en-US" sz="1500" dirty="0"/>
          </a:p>
        </p:txBody>
      </p:sp>
      <p:sp>
        <p:nvSpPr>
          <p:cNvPr id="19" name="card-203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20" name="text-204"/>
          <p:cNvSpPr txBox="1"/>
          <p:nvPr/>
        </p:nvSpPr>
        <p:spPr>
          <a:xfrm>
            <a:off x="86868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Biznes modeli</a:t>
            </a:r>
            <a:endParaRPr lang="en-US" sz="1500" dirty="0"/>
          </a:p>
        </p:txBody>
      </p:sp>
      <p:sp>
        <p:nvSpPr>
          <p:cNvPr id="21" name="text-205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Nəqliyyat agentlikləri və bələdiyyələr üçün B2G planlaşdırma platforması: illik lisenziya + şəhər üzrə data inteqrasiyası. AYNA ilk müştəri və birgə tərtibatçı; metodika istənilən şəhərin açıq datası ilə işləyir.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KOMANDA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Bir nəfər, 36 saat, uçdan-uca işləyən məhsul</a:t>
            </a:r>
            <a:endParaRPr lang="en-US" sz="3400" dirty="0"/>
          </a:p>
        </p:txBody>
      </p:sp>
      <p:sp>
        <p:nvSpPr>
          <p:cNvPr id="4" name="card-206"/>
          <p:cNvSpPr/>
          <p:nvPr/>
        </p:nvSpPr>
        <p:spPr>
          <a:xfrm>
            <a:off x="5486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5" name="ring-207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208"/>
          <p:cNvSpPr txBox="1"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IS</a:t>
            </a:r>
            <a:endParaRPr lang="en-US" sz="2000" dirty="0"/>
          </a:p>
        </p:txBody>
      </p:sp>
      <p:sp>
        <p:nvSpPr>
          <p:cNvPr id="7" name="text-209"/>
          <p:cNvSpPr txBox="1"/>
          <p:nvPr/>
        </p:nvSpPr>
        <p:spPr>
          <a:xfrm>
            <a:off x="86868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Ilham Suleymanov</a:t>
            </a:r>
            <a:endParaRPr lang="en-US" sz="2200" dirty="0"/>
          </a:p>
        </p:txBody>
      </p:sp>
      <p:sp>
        <p:nvSpPr>
          <p:cNvPr id="8" name="text-210"/>
          <p:cNvSpPr txBox="1"/>
          <p:nvPr/>
        </p:nvSpPr>
        <p:spPr>
          <a:xfrm>
            <a:off x="868680" y="3364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Data, model, backend, frontend, dizayn</a:t>
            </a:r>
            <a:endParaRPr lang="en-US" sz="1500" dirty="0"/>
          </a:p>
        </p:txBody>
      </p:sp>
      <p:sp>
        <p:nvSpPr>
          <p:cNvPr id="9" name="text-211"/>
          <p:cNvSpPr txBox="1"/>
          <p:nvPr/>
        </p:nvSpPr>
        <p:spPr>
          <a:xfrm>
            <a:off x="868680" y="3931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8 dəqiqlik testi keçən pipeline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15 müstəqil rəy tapıntısı düzəldilib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Real AYNA API, canlı gəlişlər</a:t>
            </a:r>
            <a:endParaRPr lang="en-US" sz="1500" dirty="0"/>
          </a:p>
        </p:txBody>
      </p:sp>
      <p:sp>
        <p:nvSpPr>
          <p:cNvPr id="10" name="card-212"/>
          <p:cNvSpPr/>
          <p:nvPr/>
        </p:nvSpPr>
        <p:spPr>
          <a:xfrm>
            <a:off x="4846320" y="1600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1" name="ring-213"/>
          <p:cNvSpPr/>
          <p:nvPr/>
        </p:nvSpPr>
        <p:spPr>
          <a:xfrm>
            <a:off x="5120640" y="1847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-214"/>
          <p:cNvSpPr txBox="1"/>
          <p:nvPr/>
        </p:nvSpPr>
        <p:spPr>
          <a:xfrm>
            <a:off x="51206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-215"/>
          <p:cNvSpPr txBox="1"/>
          <p:nvPr/>
        </p:nvSpPr>
        <p:spPr>
          <a:xfrm>
            <a:off x="5806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Pipeline</a:t>
            </a:r>
            <a:endParaRPr lang="en-US" sz="1600" dirty="0"/>
          </a:p>
        </p:txBody>
      </p:sp>
      <p:sp>
        <p:nvSpPr>
          <p:cNvPr id="14" name="text-216"/>
          <p:cNvSpPr txBox="1"/>
          <p:nvPr/>
        </p:nvSpPr>
        <p:spPr>
          <a:xfrm>
            <a:off x="5806440" y="2075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 · geopandas · H3 · OSM piyada qrafı · MCLP · gradient boosting</a:t>
            </a:r>
            <a:endParaRPr lang="en-US" sz="1400" dirty="0"/>
          </a:p>
        </p:txBody>
      </p:sp>
      <p:sp>
        <p:nvSpPr>
          <p:cNvPr id="15" name="card-217"/>
          <p:cNvSpPr/>
          <p:nvPr/>
        </p:nvSpPr>
        <p:spPr>
          <a:xfrm>
            <a:off x="4846320" y="2743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6" name="ring-218"/>
          <p:cNvSpPr/>
          <p:nvPr/>
        </p:nvSpPr>
        <p:spPr>
          <a:xfrm>
            <a:off x="5120640" y="2990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7" name="text-219"/>
          <p:cNvSpPr txBox="1"/>
          <p:nvPr/>
        </p:nvSpPr>
        <p:spPr>
          <a:xfrm>
            <a:off x="5120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-220"/>
          <p:cNvSpPr txBox="1"/>
          <p:nvPr/>
        </p:nvSpPr>
        <p:spPr>
          <a:xfrm>
            <a:off x="5806440" y="2871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Geo Engine</a:t>
            </a:r>
            <a:endParaRPr lang="en-US" sz="1600" dirty="0"/>
          </a:p>
        </p:txBody>
      </p:sp>
      <p:sp>
        <p:nvSpPr>
          <p:cNvPr id="19" name="text-221"/>
          <p:cNvSpPr txBox="1"/>
          <p:nvPr/>
        </p:nvSpPr>
        <p:spPr>
          <a:xfrm>
            <a:off x="5806440" y="3218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FastAPI · izoxron ~130–250 ms · optimallaşdırma ~20 ms · SQLite təsdiq axını</a:t>
            </a:r>
            <a:endParaRPr lang="en-US" sz="1400" dirty="0"/>
          </a:p>
        </p:txBody>
      </p:sp>
      <p:sp>
        <p:nvSpPr>
          <p:cNvPr id="20" name="card-222"/>
          <p:cNvSpPr/>
          <p:nvPr/>
        </p:nvSpPr>
        <p:spPr>
          <a:xfrm>
            <a:off x="4846320" y="3886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1" name="ring-223"/>
          <p:cNvSpPr/>
          <p:nvPr/>
        </p:nvSpPr>
        <p:spPr>
          <a:xfrm>
            <a:off x="5120640" y="4133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2" name="text-224"/>
          <p:cNvSpPr txBox="1"/>
          <p:nvPr/>
        </p:nvSpPr>
        <p:spPr>
          <a:xfrm>
            <a:off x="51206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-225"/>
          <p:cNvSpPr txBox="1"/>
          <p:nvPr/>
        </p:nvSpPr>
        <p:spPr>
          <a:xfrm>
            <a:off x="5806440" y="4014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Tətbiq</a:t>
            </a:r>
            <a:endParaRPr lang="en-US" sz="1600" dirty="0"/>
          </a:p>
        </p:txBody>
      </p:sp>
      <p:sp>
        <p:nvSpPr>
          <p:cNvPr id="24" name="text-226"/>
          <p:cNvSpPr txBox="1"/>
          <p:nvPr/>
        </p:nvSpPr>
        <p:spPr>
          <a:xfrm>
            <a:off x="5806440" y="4361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Next.js · MapLibre · deck.gl · 2D/3D əkiz · Recharts</a:t>
            </a:r>
            <a:endParaRPr lang="en-US" sz="1400" dirty="0"/>
          </a:p>
        </p:txBody>
      </p:sp>
      <p:sp>
        <p:nvSpPr>
          <p:cNvPr id="25" name="card-227"/>
          <p:cNvSpPr/>
          <p:nvPr/>
        </p:nvSpPr>
        <p:spPr>
          <a:xfrm>
            <a:off x="4846320" y="5029200"/>
            <a:ext cx="676656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6" name="ring-228"/>
          <p:cNvSpPr/>
          <p:nvPr/>
        </p:nvSpPr>
        <p:spPr>
          <a:xfrm>
            <a:off x="5120640" y="5276088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27" name="text-229"/>
          <p:cNvSpPr txBox="1"/>
          <p:nvPr/>
        </p:nvSpPr>
        <p:spPr>
          <a:xfrm>
            <a:off x="5120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-230"/>
          <p:cNvSpPr txBox="1"/>
          <p:nvPr/>
        </p:nvSpPr>
        <p:spPr>
          <a:xfrm>
            <a:off x="5806440" y="5157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</a:t>
            </a:r>
            <a:endParaRPr lang="en-US" sz="1600" dirty="0"/>
          </a:p>
        </p:txBody>
      </p:sp>
      <p:sp>
        <p:nvSpPr>
          <p:cNvPr id="29" name="text-231"/>
          <p:cNvSpPr txBox="1"/>
          <p:nvPr/>
        </p:nvSpPr>
        <p:spPr>
          <a:xfrm>
            <a:off x="5806440" y="5504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Claude tool use: planlaşdırma kopilotu və əsaslandırma sənədi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ot-232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Qərarı qurmazdan əvvəl sınayın</a:t>
            </a:r>
            <a:endParaRPr lang="en-US" sz="8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AYNA ilə 10 hub-lıq pilot: 3 ay, ölçülə bilən nəticə</a:t>
            </a:r>
            <a:endParaRPr lang="en-US" sz="2200" dirty="0"/>
          </a:p>
        </p:txBody>
      </p:sp>
      <p:sp>
        <p:nvSpPr>
          <p:cNvPr id="5" name="ring-233"/>
          <p:cNvSpPr/>
          <p:nvPr/>
        </p:nvSpPr>
        <p:spPr>
          <a:xfrm>
            <a:off x="64008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ext-234"/>
          <p:cNvSpPr txBox="1"/>
          <p:nvPr/>
        </p:nvSpPr>
        <p:spPr>
          <a:xfrm>
            <a:off x="64008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ring-235"/>
          <p:cNvSpPr/>
          <p:nvPr/>
        </p:nvSpPr>
        <p:spPr>
          <a:xfrm>
            <a:off x="114300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8" name="text-236"/>
          <p:cNvSpPr txBox="1"/>
          <p:nvPr/>
        </p:nvSpPr>
        <p:spPr>
          <a:xfrm>
            <a:off x="11430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ring-237"/>
          <p:cNvSpPr/>
          <p:nvPr/>
        </p:nvSpPr>
        <p:spPr>
          <a:xfrm>
            <a:off x="164592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0" name="text-238"/>
          <p:cNvSpPr txBox="1"/>
          <p:nvPr/>
        </p:nvSpPr>
        <p:spPr>
          <a:xfrm>
            <a:off x="164592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ring-239"/>
          <p:cNvSpPr/>
          <p:nvPr/>
        </p:nvSpPr>
        <p:spPr>
          <a:xfrm>
            <a:off x="2148840" y="1325880"/>
            <a:ext cx="329184" cy="329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2" name="text-240"/>
          <p:cNvSpPr txBox="1"/>
          <p:nvPr/>
        </p:nvSpPr>
        <p:spPr>
          <a:xfrm>
            <a:off x="21488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-241"/>
          <p:cNvSpPr txBox="1"/>
          <p:nvPr/>
        </p:nvSpPr>
        <p:spPr>
          <a:xfrm>
            <a:off x="640080" y="5468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AYAN · Mobility hub planlayıcısı · Bakının rəqəmsal əkizi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Əlavə: sual-cavab üçün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Metodologiya · Arxitektura · Data keyfiyyəti və data tələbləri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METODOLOGİYA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Rəqəmlər necə hesablanır</a:t>
            </a:r>
            <a:endParaRPr lang="en-US" sz="3400" dirty="0"/>
          </a:p>
        </p:txBody>
      </p:sp>
      <p:sp>
        <p:nvSpPr>
          <p:cNvPr id="4" name="card-242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5" name="text-243"/>
          <p:cNvSpPr txBox="1"/>
          <p:nvPr/>
        </p:nvSpPr>
        <p:spPr>
          <a:xfrm>
            <a:off x="82296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Tələbat (D)</a:t>
            </a:r>
            <a:endParaRPr lang="en-US" sz="1700" dirty="0"/>
          </a:p>
        </p:txBody>
      </p:sp>
      <p:sp>
        <p:nvSpPr>
          <p:cNvPr id="6" name="text-244"/>
          <p:cNvSpPr txBox="1"/>
          <p:nvPr/>
        </p:nvSpPr>
        <p:spPr>
          <a:xfrm>
            <a:off x="822960" y="2258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Hər komponent şəhər üzrə öz payına normallaşdırılır: nəqliyyat 45% · əhali 35% · cazibə 20%. Özəl marşrutlar: gradient boosting, leave-one-out median xəta 27%, AYNA-nın 1,38 mln/gün rəsmi cəminə kalibrlənib</a:t>
            </a:r>
            <a:endParaRPr lang="en-US" sz="1400" dirty="0"/>
          </a:p>
        </p:txBody>
      </p:sp>
      <p:sp>
        <p:nvSpPr>
          <p:cNvPr id="7" name="card-245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8" name="text-246"/>
          <p:cNvSpPr txBox="1"/>
          <p:nvPr/>
        </p:nvSpPr>
        <p:spPr>
          <a:xfrm>
            <a:off x="644652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Boşluq və MCLP</a:t>
            </a:r>
            <a:endParaRPr lang="en-US" sz="1700" dirty="0"/>
          </a:p>
        </p:txBody>
      </p:sp>
      <p:sp>
        <p:nvSpPr>
          <p:cNvPr id="9" name="text-247"/>
          <p:cNvSpPr txBox="1"/>
          <p:nvPr/>
        </p:nvSpPr>
        <p:spPr>
          <a:xfrm>
            <a:off x="6446520" y="2258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Boşluq = parkinqə real piyada məsafəsi (150 m → 0, 400 m → 1). MCLP: Σ D × boşluq maksimum; hər xana bir dəfə sayılır, hub-lar arası min 316 m</a:t>
            </a:r>
            <a:endParaRPr lang="en-US" sz="1400" dirty="0"/>
          </a:p>
        </p:txBody>
      </p:sp>
      <p:sp>
        <p:nvSpPr>
          <p:cNvPr id="10" name="card-248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1" name="text-249"/>
          <p:cNvSpPr txBox="1"/>
          <p:nvPr/>
        </p:nvSpPr>
        <p:spPr>
          <a:xfrm>
            <a:off x="822960" y="4114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Səfər və yer sayı</a:t>
            </a:r>
            <a:endParaRPr lang="en-US" sz="1700" dirty="0"/>
          </a:p>
        </p:txBody>
      </p:sp>
      <p:sp>
        <p:nvSpPr>
          <p:cNvPr id="12" name="text-250"/>
          <p:cNvSpPr txBox="1"/>
          <p:nvPr/>
        </p:nvSpPr>
        <p:spPr>
          <a:xfrm>
            <a:off x="822960" y="4544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Əlavə səfər = K × Σ(D × boşluq), yalnız əvvəlki hub-ların əhatə etmədiyi xanalar. K AYNA dövriyyəsindən: 12,2 səfər/nöqtə/gün</a:t>
            </a:r>
            <a:endParaRPr lang="en-US" sz="1400" dirty="0"/>
          </a:p>
        </p:txBody>
      </p:sp>
      <p:sp>
        <p:nvSpPr>
          <p:cNvPr id="13" name="card-251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4" name="text-252"/>
          <p:cNvSpPr txBox="1"/>
          <p:nvPr/>
        </p:nvSpPr>
        <p:spPr>
          <a:xfrm>
            <a:off x="6446520" y="4114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CO₂</a:t>
            </a:r>
            <a:endParaRPr lang="en-US" sz="1700" dirty="0"/>
          </a:p>
        </p:txBody>
      </p:sp>
      <p:sp>
        <p:nvSpPr>
          <p:cNvPr id="15" name="text-253"/>
          <p:cNvSpPr txBox="1"/>
          <p:nvPr/>
        </p:nvSpPr>
        <p:spPr>
          <a:xfrm>
            <a:off x="6446520" y="45445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Əlavə səfər × əvəzetmə payı (10/20/30%) × 2,14 km × (0,173 − 0,042 kq/km) × 365. Mənbə: AYNA 2026, DEFRA 2026, Chalmers 2025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ARXİTEKTURA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Offline beyin, canlı mühərrik, yüngül tətbiq</a:t>
            </a:r>
            <a:endParaRPr lang="en-US" sz="3400" dirty="0"/>
          </a:p>
        </p:txBody>
      </p:sp>
      <p:sp>
        <p:nvSpPr>
          <p:cNvPr id="4" name="card-254"/>
          <p:cNvSpPr/>
          <p:nvPr/>
        </p:nvSpPr>
        <p:spPr>
          <a:xfrm>
            <a:off x="54864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ring-255"/>
          <p:cNvSpPr/>
          <p:nvPr/>
        </p:nvSpPr>
        <p:spPr>
          <a:xfrm>
            <a:off x="77724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6" name="text-256"/>
          <p:cNvSpPr txBox="1"/>
          <p:nvPr/>
        </p:nvSpPr>
        <p:spPr>
          <a:xfrm>
            <a:off x="77724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257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8" name="text-258"/>
          <p:cNvSpPr txBox="1"/>
          <p:nvPr/>
        </p:nvSpPr>
        <p:spPr>
          <a:xfrm>
            <a:off x="77724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Hakaton qatları, AYNA API, metro, BakuBus, WorldPop, OSM, Overture</a:t>
            </a:r>
            <a:endParaRPr lang="en-US" sz="1300" dirty="0"/>
          </a:p>
        </p:txBody>
      </p:sp>
      <p:sp>
        <p:nvSpPr>
          <p:cNvPr id="9" name="arrow-259"/>
          <p:cNvSpPr/>
          <p:nvPr/>
        </p:nvSpPr>
        <p:spPr>
          <a:xfrm>
            <a:off x="3035808" y="2971800"/>
            <a:ext cx="384048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0" name="card-260"/>
          <p:cNvSpPr/>
          <p:nvPr/>
        </p:nvSpPr>
        <p:spPr>
          <a:xfrm>
            <a:off x="342900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1" name="ring-261"/>
          <p:cNvSpPr/>
          <p:nvPr/>
        </p:nvSpPr>
        <p:spPr>
          <a:xfrm>
            <a:off x="365760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text-262"/>
          <p:cNvSpPr txBox="1"/>
          <p:nvPr/>
        </p:nvSpPr>
        <p:spPr>
          <a:xfrm>
            <a:off x="365760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-263"/>
          <p:cNvSpPr txBox="1"/>
          <p:nvPr/>
        </p:nvSpPr>
        <p:spPr>
          <a:xfrm>
            <a:off x="36576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Pipeline</a:t>
            </a:r>
            <a:endParaRPr lang="en-US" sz="1600" dirty="0"/>
          </a:p>
        </p:txBody>
      </p:sp>
      <p:sp>
        <p:nvSpPr>
          <p:cNvPr id="14" name="text-264"/>
          <p:cNvSpPr txBox="1"/>
          <p:nvPr/>
        </p:nvSpPr>
        <p:spPr>
          <a:xfrm>
            <a:off x="365760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Python: təmizləmə, H3, tələbat, MCLP, yerləşdirmə, 8 dəqiqlik testi</a:t>
            </a:r>
            <a:endParaRPr lang="en-US" sz="1300" dirty="0"/>
          </a:p>
        </p:txBody>
      </p:sp>
      <p:sp>
        <p:nvSpPr>
          <p:cNvPr id="15" name="arrow-265"/>
          <p:cNvSpPr/>
          <p:nvPr/>
        </p:nvSpPr>
        <p:spPr>
          <a:xfrm>
            <a:off x="5916168" y="2971800"/>
            <a:ext cx="384048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6" name="card-266"/>
          <p:cNvSpPr/>
          <p:nvPr/>
        </p:nvSpPr>
        <p:spPr>
          <a:xfrm>
            <a:off x="630936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7" name="ring-267"/>
          <p:cNvSpPr/>
          <p:nvPr/>
        </p:nvSpPr>
        <p:spPr>
          <a:xfrm>
            <a:off x="653796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18" name="text-268"/>
          <p:cNvSpPr txBox="1"/>
          <p:nvPr/>
        </p:nvSpPr>
        <p:spPr>
          <a:xfrm>
            <a:off x="653796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-269"/>
          <p:cNvSpPr txBox="1"/>
          <p:nvPr/>
        </p:nvSpPr>
        <p:spPr>
          <a:xfrm>
            <a:off x="6537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Geo Engine</a:t>
            </a:r>
            <a:endParaRPr lang="en-US" sz="1600" dirty="0"/>
          </a:p>
        </p:txBody>
      </p:sp>
      <p:sp>
        <p:nvSpPr>
          <p:cNvPr id="20" name="text-270"/>
          <p:cNvSpPr txBox="1"/>
          <p:nvPr/>
        </p:nvSpPr>
        <p:spPr>
          <a:xfrm>
            <a:off x="653796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FastAPI: izoxron, optimallaşdırma, təsdiq axını (SQLite), canlı gəlişlər, kopilot</a:t>
            </a:r>
            <a:endParaRPr lang="en-US" sz="1300" dirty="0"/>
          </a:p>
        </p:txBody>
      </p:sp>
      <p:sp>
        <p:nvSpPr>
          <p:cNvPr id="21" name="arrow-271"/>
          <p:cNvSpPr/>
          <p:nvPr/>
        </p:nvSpPr>
        <p:spPr>
          <a:xfrm>
            <a:off x="8796528" y="2971800"/>
            <a:ext cx="384048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22" name="card-272"/>
          <p:cNvSpPr/>
          <p:nvPr/>
        </p:nvSpPr>
        <p:spPr>
          <a:xfrm>
            <a:off x="9189720" y="1920240"/>
            <a:ext cx="24231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23" name="ring-273"/>
          <p:cNvSpPr/>
          <p:nvPr/>
        </p:nvSpPr>
        <p:spPr>
          <a:xfrm>
            <a:off x="9418320" y="2148840"/>
            <a:ext cx="438912" cy="438912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24" name="text-274"/>
          <p:cNvSpPr txBox="1"/>
          <p:nvPr/>
        </p:nvSpPr>
        <p:spPr>
          <a:xfrm>
            <a:off x="941832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-275"/>
          <p:cNvSpPr txBox="1"/>
          <p:nvPr/>
        </p:nvSpPr>
        <p:spPr>
          <a:xfrm>
            <a:off x="94183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Tətbiq</a:t>
            </a:r>
            <a:endParaRPr lang="en-US" sz="1600" dirty="0"/>
          </a:p>
        </p:txBody>
      </p:sp>
      <p:sp>
        <p:nvSpPr>
          <p:cNvPr id="26" name="text-276"/>
          <p:cNvSpPr txBox="1"/>
          <p:nvPr/>
        </p:nvSpPr>
        <p:spPr>
          <a:xfrm>
            <a:off x="9418320" y="3154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Next.js: 2D/3D əkiz, rəhbərlik paneli, data keyfiyyəti. Engine olmasa da statik rejimdə işləyir</a:t>
            </a:r>
            <a:endParaRPr lang="en-US" sz="1300" dirty="0"/>
          </a:p>
        </p:txBody>
      </p:sp>
      <p:sp>
        <p:nvSpPr>
          <p:cNvPr id="27" name="card-277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8" name="text-278"/>
          <p:cNvSpPr txBox="1"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Etibarlılıq: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engine hər 15 s yoxlanılır, düşəndə tətbiq ehtiyat rejiminə keçir. Nəticələr əvvəlcədən hesablanıb və &lt; 5 MB statik JSON-dur, demo internetsiz də işləyir. Real vaxt üçün növbəti addım: AYNA AVL axını.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ƏLAVƏ · DATA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Açıq datada tapdıqlarımız və AYNA-dan 6 data tələbi</a:t>
            </a:r>
            <a:endParaRPr lang="en-US" sz="3400" dirty="0"/>
          </a:p>
        </p:txBody>
      </p:sp>
      <p:pic>
        <p:nvPicPr>
          <p:cNvPr id="4" name="shot-279" descr="AYAN tətbiqinin ekran görüntüs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669280" cy="3191256"/>
          </a:xfrm>
          <a:prstGeom prst="rect">
            <a:avLst/>
          </a:prstGeom>
        </p:spPr>
      </p:pic>
      <p:sp>
        <p:nvSpPr>
          <p:cNvPr id="5" name="text-280"/>
          <p:cNvSpPr txBox="1"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Tapılan problemlər</a:t>
            </a:r>
            <a:endParaRPr lang="en-US" sz="1600" dirty="0"/>
          </a:p>
        </p:txBody>
      </p:sp>
      <p:sp>
        <p:nvSpPr>
          <p:cNvPr id="6" name="text-281"/>
          <p:cNvSpPr txBox="1"/>
          <p:nvPr/>
        </p:nvSpPr>
        <p:spPr>
          <a:xfrm>
            <a:off x="6492240" y="1965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239 avtobus marşrutundan yalnız 63-ünün sərnişin datası var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Metro çıxış koordinatları tam ədəd formatında (÷10⁶)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Metro adları transliterasiyada (Koroghlu ↔ Koroğlu)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AYNA adlarında kiril 'ә' simvolu, dublikat parkinqlər</a:t>
            </a:r>
            <a:endParaRPr lang="en-US" sz="1400" dirty="0"/>
          </a:p>
        </p:txBody>
      </p:sp>
      <p:sp>
        <p:nvSpPr>
          <p:cNvPr id="7" name="text-282"/>
          <p:cNvSpPr txBox="1"/>
          <p:nvPr/>
        </p:nvSpPr>
        <p:spPr>
          <a:xfrm>
            <a:off x="649224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Ən böyük qazanclı data tələbləri</a:t>
            </a:r>
            <a:endParaRPr lang="en-US" sz="1600" dirty="0"/>
          </a:p>
        </p:txBody>
      </p:sp>
      <p:sp>
        <p:nvSpPr>
          <p:cNvPr id="8" name="text-283"/>
          <p:cNvSpPr txBox="1"/>
          <p:nvPr/>
        </p:nvSpPr>
        <p:spPr>
          <a:xfrm>
            <a:off x="6492240" y="4160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Özəl marşrut sərnişinləri → avtobus tələbatının 55%-i ölçülmüş olar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BakıKart validasiyaları → nəqliyyat tələbatının 73%-i dayanacaq səviyyəsində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Səfər məqsədi sorğusu → CO₂-nin ən böyük fərziyyəsi ölçülər</a:t>
            </a:r>
            <a:endParaRPr lang="en-US" sz="1400" dirty="0"/>
          </a:p>
        </p:txBody>
      </p:sp>
      <p:sp>
        <p:nvSpPr>
          <p:cNvPr id="9" name="text-284"/>
          <p:cNvSpPr txBox="1"/>
          <p:nvPr/>
        </p:nvSpPr>
        <p:spPr>
          <a:xfrm>
            <a:off x="548640" y="4892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Tətbiqdəki Data paneli: hər tələb üçün sahibi, indiki fərziyyə, qazanc və CSV şablonu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YAN">
  <a:themeElements>
    <a:clrScheme name="AYAN">
      <a:dk1>
        <a:srgbClr val="0F2430"/>
      </a:dk1>
      <a:lt1>
        <a:srgbClr val="E8EEF0"/>
      </a:lt1>
      <a:dk2>
        <a:srgbClr val="16313F"/>
      </a:dk2>
      <a:lt2>
        <a:srgbClr val="8FA6B2"/>
      </a:lt2>
      <a:accent1>
        <a:srgbClr val="F2A93B"/>
      </a:accent1>
      <a:accent2>
        <a:srgbClr val="3D8FD6"/>
      </a:accent2>
      <a:accent3>
        <a:srgbClr val="3CB37A"/>
      </a:accent3>
      <a:accent4>
        <a:srgbClr val="D6403A"/>
      </a:accent4>
      <a:accent5>
        <a:srgbClr val="C9A0FF"/>
      </a:accent5>
      <a:accent6>
        <a:srgbClr val="4FD2D9"/>
      </a:accent6>
      <a:hlink>
        <a:srgbClr val="4FD2D9"/>
      </a:hlink>
      <a:folHlink>
        <a:srgbClr val="C9A0FF"/>
      </a:folHlink>
    </a:clrScheme>
    <a:fontScheme name="AY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AYAN — Mobility hub planlayıcısı</dc:title>
  <dc:subject>PptxGenJS Presentation</dc:subject>
  <dc:creator>Ilham Suleymanov</dc:creator>
  <cp:lastModifiedBy>Ilham Suleymanov</cp:lastModifiedBy>
  <cp:revision>1</cp:revision>
  <dcterms:created xsi:type="dcterms:W3CDTF">2026-10-18T06:17:49Z</dcterms:created>
  <dcterms:modified xsi:type="dcterms:W3CDTF">2026-10-18T06:17:49Z</dcterms:modified>
</cp:coreProperties>
</file>